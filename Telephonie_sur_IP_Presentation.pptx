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E375B89-9B13-E043-B945-DDB646CE1701}">
          <p14:sldIdLst>
            <p14:sldId id="256"/>
            <p14:sldId id="257"/>
          </p14:sldIdLst>
        </p14:section>
        <p14:section name="Fondamentaux" id="{26C7E17F-94DD-CB96-2A1C-5E12FE8FCBFC}">
          <p14:sldIdLst>
            <p14:sldId id="258"/>
            <p14:sldId id="259"/>
            <p14:sldId id="260"/>
            <p14:sldId id="261"/>
            <p14:sldId id="262"/>
          </p14:sldIdLst>
        </p14:section>
        <p14:section name="Atouts, limites et qualité" id="{C9A2F5CF-B68A-8548-3F0F-F2BDC7ADE41A}">
          <p14:sldIdLst>
            <p14:sldId id="263"/>
            <p14:sldId id="264"/>
            <p14:sldId id="265"/>
          </p14:sldIdLst>
        </p14:section>
        <p14:section name="Sécurité et conclusion" id="{2BE3E719-C37B-E1EF-7F6A-F07028B4B64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62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de garde : présenter le thème de l'exposé, la téléphonie sur IP, et annoncer qu'on va parcourir le principe, les protocoles, les équipements, les avantages, les limites, la QoS et la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suit douze points : de la définition jusqu'à la conclusion. Les points 8 et 9 portent sur les avantages et les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Distinguer VoIP (la technologie de transport) et ToIP (le service téléphonique complet). L'idée centrale : la voix devient une donnée comme une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plans : le média (la voix numérisée, compressée et transportée en RTP) et la signalisation (SIP) qui établit l'appel : INVITE, sonnerie, décrochage, ACK, puis BYE pour raccrocher.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chemin d'un appel : poste → switch → routeur → IPBX → opérateur. L'IPBX est le cerveau du système : il gère enregistrements, routage et fonctions.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et SDP : signalisation et négociation. RTP et RTCP : transport et suivi du média. SRTP : sécurisation. Insister sur la répartition des rôles.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Distinguer le matériel (terminaux, réseau, IPBX) du logiciel (serveur d'appels, softphones). Les solutions open source comme Asterisk ou FreePBX sont courantes.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8, d'après le fichier de synthèse fourni : coûts, mobilité, fonctions et administration centralisée.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9, d'après le fichier de synthèse fourni : dépendance au réseau, qualité, électricité, sécurité. La note du bas annonce les solutions : QoS et sécurité, développées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Seuils usuels pour une bonne qualité (recommandations de type UIT-T G.114) : latence inférieure à 150 ms, gigue inférieure à 30 ms, pertes inférieures à 1 %. La QoS consiste à prioriser la voix sur le reste du trafic.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Sécuriser : chiffrer la signalisation et le média, protéger les accès, segmenter le réseau, surveiller les appels. La téléphonie IP est utilisée dans presque tous les secteurs.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Récapituler les trois idées clés, puis ouvrir la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TÉLÉPHONIE SUR IP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TÉLÉPHONIE SUR IP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 1"/>
          <p:cNvSpPr/>
          <p:nvPr/>
        </p:nvSpPr>
        <p:spPr>
          <a:xfrm>
            <a:off x="4572000" y="725714"/>
            <a:ext cx="5120639" cy="5035005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Onde 2"/>
          <p:cNvSpPr/>
          <p:nvPr/>
        </p:nvSpPr>
        <p:spPr>
          <a:xfrm>
            <a:off x="5239656" y="1342570"/>
            <a:ext cx="3721463" cy="3686629"/>
          </a:xfrm>
          <a:prstGeom prst="ellipse">
            <a:avLst/>
          </a:prstGeom>
          <a:solidFill>
            <a:schemeClr val="accent1">
              <a:alpha val="32000"/>
            </a:schemeClr>
          </a:solidFill>
          <a:ln/>
        </p:spPr>
      </p:sp>
      <p:sp>
        <p:nvSpPr>
          <p:cNvPr id="4" name="Onde 3"/>
          <p:cNvSpPr/>
          <p:nvPr/>
        </p:nvSpPr>
        <p:spPr>
          <a:xfrm>
            <a:off x="5946504" y="2017486"/>
            <a:ext cx="2283096" cy="2280194"/>
          </a:xfrm>
          <a:prstGeom prst="ellipse">
            <a:avLst/>
          </a:prstGeom>
          <a:solidFill>
            <a:schemeClr val="accent1">
              <a:alpha val="44000"/>
            </a:schemeClr>
          </a:solidFill>
          <a:ln/>
        </p:spPr>
      </p:sp>
      <p:sp>
        <p:nvSpPr>
          <p:cNvPr id="5" name="Pastille 4"/>
          <p:cNvSpPr/>
          <p:nvPr/>
        </p:nvSpPr>
        <p:spPr>
          <a:xfrm>
            <a:off x="6537960" y="26060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IP</a:t>
            </a:r>
            <a:endParaRPr lang="en-US" sz="3600" dirty="0"/>
          </a:p>
        </p:txBody>
      </p:sp>
      <p:sp>
        <p:nvSpPr>
          <p:cNvPr id="6" name="Texte 5"/>
          <p:cNvSpPr txBox="1"/>
          <p:nvPr/>
        </p:nvSpPr>
        <p:spPr>
          <a:xfrm>
            <a:off x="1288868" y="199209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EXPOSÉ  •  SERVICES A VALEURS AJOUTEES</a:t>
            </a:r>
            <a:endParaRPr lang="en-US" sz="1200" dirty="0"/>
          </a:p>
        </p:txBody>
      </p:sp>
      <p:sp>
        <p:nvSpPr>
          <p:cNvPr id="7" name="Texte 6"/>
          <p:cNvSpPr txBox="1"/>
          <p:nvPr/>
        </p:nvSpPr>
        <p:spPr>
          <a:xfrm>
            <a:off x="278674" y="761819"/>
            <a:ext cx="53601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téléphonie sur IP</a:t>
            </a:r>
            <a:endParaRPr lang="en-US" sz="4400" dirty="0"/>
          </a:p>
        </p:txBody>
      </p:sp>
      <p:sp>
        <p:nvSpPr>
          <p:cNvPr id="8" name="Texte 7"/>
          <p:cNvSpPr txBox="1"/>
          <p:nvPr/>
        </p:nvSpPr>
        <p:spPr>
          <a:xfrm>
            <a:off x="542832" y="169236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Principes, fonctionnement, protocoles, qualité de service et usages</a:t>
            </a:r>
            <a:endParaRPr lang="en-US" sz="1600" dirty="0"/>
          </a:p>
        </p:txBody>
      </p:sp>
      <p:sp>
        <p:nvSpPr>
          <p:cNvPr id="9" name="Texte 6">
            <a:extLst>
              <a:ext uri="{FF2B5EF4-FFF2-40B4-BE49-F238E27FC236}">
                <a16:creationId xmlns:a16="http://schemas.microsoft.com/office/drawing/2014/main" id="{53AB0B13-8B5A-29FF-2925-8399EF401EC9}"/>
              </a:ext>
            </a:extLst>
          </p:cNvPr>
          <p:cNvSpPr txBox="1"/>
          <p:nvPr/>
        </p:nvSpPr>
        <p:spPr>
          <a:xfrm>
            <a:off x="182881" y="2706913"/>
            <a:ext cx="3075576" cy="238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u="sng" dirty="0">
                <a:solidFill>
                  <a:schemeClr val="accent1"/>
                </a:solidFill>
              </a:rPr>
              <a:t>GROUPE 3</a:t>
            </a:r>
            <a:r>
              <a:rPr lang="en-US" b="1" dirty="0">
                <a:solidFill>
                  <a:schemeClr val="accent1"/>
                </a:solidFill>
              </a:rPr>
              <a:t> :</a:t>
            </a:r>
          </a:p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1EB014-BB6C-836F-8B1D-FFA29E68803C}"/>
              </a:ext>
            </a:extLst>
          </p:cNvPr>
          <p:cNvSpPr txBox="1"/>
          <p:nvPr/>
        </p:nvSpPr>
        <p:spPr>
          <a:xfrm>
            <a:off x="313507" y="3200400"/>
            <a:ext cx="3755573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Ndeye Mama SAKHO</a:t>
            </a:r>
            <a:endParaRPr lang="en-US" sz="1800" b="1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 Khadim GUEYE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 Fall MBENGUE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GASSAMA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Maimouna BADJI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Plan de la présentation</a:t>
            </a:r>
            <a:endParaRPr lang="en-US" sz="3200" dirty="0"/>
          </a:p>
        </p:txBody>
      </p:sp>
      <p:sp>
        <p:nvSpPr>
          <p:cNvPr id="3" name="Carte 8"/>
          <p:cNvSpPr/>
          <p:nvPr/>
        </p:nvSpPr>
        <p:spPr>
          <a:xfrm>
            <a:off x="457200" y="1188720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astille 9"/>
          <p:cNvSpPr/>
          <p:nvPr/>
        </p:nvSpPr>
        <p:spPr>
          <a:xfrm>
            <a:off x="530352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Carte 11"/>
          <p:cNvSpPr/>
          <p:nvPr/>
        </p:nvSpPr>
        <p:spPr>
          <a:xfrm>
            <a:off x="457200" y="1755648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Pastille 12"/>
          <p:cNvSpPr/>
          <p:nvPr/>
        </p:nvSpPr>
        <p:spPr>
          <a:xfrm>
            <a:off x="530352" y="18105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Carte 14"/>
          <p:cNvSpPr/>
          <p:nvPr/>
        </p:nvSpPr>
        <p:spPr>
          <a:xfrm>
            <a:off x="457200" y="2322576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Pastille 15"/>
          <p:cNvSpPr/>
          <p:nvPr/>
        </p:nvSpPr>
        <p:spPr>
          <a:xfrm>
            <a:off x="530352" y="2377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e 16"/>
          <p:cNvSpPr txBox="1"/>
          <p:nvPr/>
        </p:nvSpPr>
        <p:spPr>
          <a:xfrm>
            <a:off x="1024128" y="1190099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Définition de la téléphonie IP</a:t>
            </a:r>
            <a:endParaRPr lang="en-US" sz="1400" dirty="0"/>
          </a:p>
        </p:txBody>
      </p:sp>
      <p:sp>
        <p:nvSpPr>
          <p:cNvPr id="12" name="Carte 17"/>
          <p:cNvSpPr/>
          <p:nvPr/>
        </p:nvSpPr>
        <p:spPr>
          <a:xfrm>
            <a:off x="457200" y="2889504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Pastille 18"/>
          <p:cNvSpPr/>
          <p:nvPr/>
        </p:nvSpPr>
        <p:spPr>
          <a:xfrm>
            <a:off x="530352" y="29443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e 19"/>
          <p:cNvSpPr txBox="1"/>
          <p:nvPr/>
        </p:nvSpPr>
        <p:spPr>
          <a:xfrm>
            <a:off x="996696" y="17556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Fonctionnement d'un appel IP</a:t>
            </a:r>
            <a:endParaRPr lang="en-US" sz="1400" dirty="0"/>
          </a:p>
        </p:txBody>
      </p:sp>
      <p:sp>
        <p:nvSpPr>
          <p:cNvPr id="15" name="Carte 20"/>
          <p:cNvSpPr/>
          <p:nvPr/>
        </p:nvSpPr>
        <p:spPr>
          <a:xfrm>
            <a:off x="457200" y="3456432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Pastille 21"/>
          <p:cNvSpPr/>
          <p:nvPr/>
        </p:nvSpPr>
        <p:spPr>
          <a:xfrm>
            <a:off x="530352" y="351129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e 22"/>
          <p:cNvSpPr txBox="1"/>
          <p:nvPr/>
        </p:nvSpPr>
        <p:spPr>
          <a:xfrm>
            <a:off x="1133856" y="2321197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Architecture d'un système</a:t>
            </a:r>
            <a:endParaRPr lang="en-US" sz="1400" dirty="0"/>
          </a:p>
        </p:txBody>
      </p:sp>
      <p:sp>
        <p:nvSpPr>
          <p:cNvPr id="20" name="Texte 25"/>
          <p:cNvSpPr txBox="1"/>
          <p:nvPr/>
        </p:nvSpPr>
        <p:spPr>
          <a:xfrm>
            <a:off x="1024128" y="2870635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Protocoles : SIP, RTP, RTCP, SDP, SRTP</a:t>
            </a:r>
            <a:endParaRPr lang="en-US" sz="1400" dirty="0"/>
          </a:p>
        </p:txBody>
      </p:sp>
      <p:sp>
        <p:nvSpPr>
          <p:cNvPr id="21" name="Carte 26"/>
          <p:cNvSpPr/>
          <p:nvPr/>
        </p:nvSpPr>
        <p:spPr>
          <a:xfrm>
            <a:off x="4754880" y="1188720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Pastille 27"/>
          <p:cNvSpPr/>
          <p:nvPr/>
        </p:nvSpPr>
        <p:spPr>
          <a:xfrm>
            <a:off x="4828032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e 28"/>
          <p:cNvSpPr txBox="1"/>
          <p:nvPr/>
        </p:nvSpPr>
        <p:spPr>
          <a:xfrm>
            <a:off x="1024128" y="35112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Équipements et logiciels</a:t>
            </a:r>
            <a:endParaRPr lang="en-US" sz="1400" dirty="0"/>
          </a:p>
        </p:txBody>
      </p:sp>
      <p:sp>
        <p:nvSpPr>
          <p:cNvPr id="24" name="Carte 29"/>
          <p:cNvSpPr/>
          <p:nvPr/>
        </p:nvSpPr>
        <p:spPr>
          <a:xfrm>
            <a:off x="4754880" y="1755648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Pastille 30"/>
          <p:cNvSpPr/>
          <p:nvPr/>
        </p:nvSpPr>
        <p:spPr>
          <a:xfrm>
            <a:off x="4828032" y="18105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6" name="Texte 31"/>
          <p:cNvSpPr txBox="1"/>
          <p:nvPr/>
        </p:nvSpPr>
        <p:spPr>
          <a:xfrm>
            <a:off x="5394960" y="119677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Avantages de la téléphonie IP</a:t>
            </a:r>
            <a:endParaRPr lang="en-US" sz="1400" dirty="0"/>
          </a:p>
        </p:txBody>
      </p:sp>
      <p:sp>
        <p:nvSpPr>
          <p:cNvPr id="27" name="Carte 32"/>
          <p:cNvSpPr/>
          <p:nvPr/>
        </p:nvSpPr>
        <p:spPr>
          <a:xfrm>
            <a:off x="4754880" y="2322576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Pastille 33"/>
          <p:cNvSpPr/>
          <p:nvPr/>
        </p:nvSpPr>
        <p:spPr>
          <a:xfrm>
            <a:off x="4828032" y="23774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9" name="Texte 34"/>
          <p:cNvSpPr txBox="1"/>
          <p:nvPr/>
        </p:nvSpPr>
        <p:spPr>
          <a:xfrm>
            <a:off x="5394960" y="17099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Limites et difficultés</a:t>
            </a:r>
            <a:endParaRPr lang="en-US" sz="1400" dirty="0"/>
          </a:p>
        </p:txBody>
      </p:sp>
      <p:sp>
        <p:nvSpPr>
          <p:cNvPr id="30" name="Carte 35"/>
          <p:cNvSpPr/>
          <p:nvPr/>
        </p:nvSpPr>
        <p:spPr>
          <a:xfrm>
            <a:off x="4754880" y="2889504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Pastille 36"/>
          <p:cNvSpPr/>
          <p:nvPr/>
        </p:nvSpPr>
        <p:spPr>
          <a:xfrm>
            <a:off x="4828032" y="294436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2" name="Texte 37"/>
          <p:cNvSpPr txBox="1"/>
          <p:nvPr/>
        </p:nvSpPr>
        <p:spPr>
          <a:xfrm>
            <a:off x="5394960" y="23500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Qualité de service (QoS)</a:t>
            </a:r>
            <a:endParaRPr lang="en-US" sz="1400" dirty="0"/>
          </a:p>
        </p:txBody>
      </p:sp>
      <p:sp>
        <p:nvSpPr>
          <p:cNvPr id="33" name="Carte 38"/>
          <p:cNvSpPr/>
          <p:nvPr/>
        </p:nvSpPr>
        <p:spPr>
          <a:xfrm>
            <a:off x="4754880" y="3456432"/>
            <a:ext cx="39319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Pastille 39"/>
          <p:cNvSpPr/>
          <p:nvPr/>
        </p:nvSpPr>
        <p:spPr>
          <a:xfrm>
            <a:off x="4828032" y="351129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5" name="Texte 40"/>
          <p:cNvSpPr txBox="1"/>
          <p:nvPr/>
        </p:nvSpPr>
        <p:spPr>
          <a:xfrm>
            <a:off x="5394960" y="29169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Sécurité et domaines d'utilisation</a:t>
            </a:r>
            <a:endParaRPr lang="en-US" sz="1400" dirty="0"/>
          </a:p>
        </p:txBody>
      </p:sp>
      <p:sp>
        <p:nvSpPr>
          <p:cNvPr id="38" name="Texte 43"/>
          <p:cNvSpPr txBox="1"/>
          <p:nvPr/>
        </p:nvSpPr>
        <p:spPr>
          <a:xfrm>
            <a:off x="5576389" y="34838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Définition de la téléphonie IP</a:t>
            </a:r>
            <a:endParaRPr lang="en-US" sz="3200" dirty="0"/>
          </a:p>
        </p:txBody>
      </p:sp>
      <p:sp>
        <p:nvSpPr>
          <p:cNvPr id="3" name="Carte 44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e 45"/>
          <p:cNvSpPr txBox="1"/>
          <p:nvPr/>
        </p:nvSpPr>
        <p:spPr>
          <a:xfrm>
            <a:off x="68580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Qu'est-ce que c'est ?</a:t>
            </a:r>
            <a:endParaRPr lang="en-US" sz="1800" dirty="0"/>
          </a:p>
        </p:txBody>
      </p:sp>
      <p:sp>
        <p:nvSpPr>
          <p:cNvPr id="5" name="Texte 46"/>
          <p:cNvSpPr txBox="1"/>
          <p:nvPr/>
        </p:nvSpPr>
        <p:spPr>
          <a:xfrm>
            <a:off x="685800" y="173736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téléphonie sur IP (ToIP) transmet la voix sous forme de paquets de données à travers un réseau IP : réseau local d'entreprise ou Internet.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VoIP désigne la technologie de transport de la voix ; ToIP désigne le service téléphonique complet (numéros, extensions, fonctions) construit dessus.</a:t>
            </a:r>
            <a:endParaRPr lang="en-US" sz="1500" dirty="0"/>
          </a:p>
        </p:txBody>
      </p:sp>
      <p:sp>
        <p:nvSpPr>
          <p:cNvPr id="6" name="Carte 47"/>
          <p:cNvSpPr/>
          <p:nvPr/>
        </p:nvSpPr>
        <p:spPr>
          <a:xfrm>
            <a:off x="5486400" y="11887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Pastille 48"/>
          <p:cNvSpPr/>
          <p:nvPr/>
        </p:nvSpPr>
        <p:spPr>
          <a:xfrm>
            <a:off x="562356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e 49"/>
          <p:cNvSpPr txBox="1"/>
          <p:nvPr/>
        </p:nvSpPr>
        <p:spPr>
          <a:xfrm>
            <a:off x="612648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Voix → paquets</a:t>
            </a:r>
            <a:endParaRPr lang="en-US" sz="1600" dirty="0"/>
          </a:p>
        </p:txBody>
      </p:sp>
      <p:sp>
        <p:nvSpPr>
          <p:cNvPr id="9" name="Texte 50"/>
          <p:cNvSpPr txBox="1"/>
          <p:nvPr/>
        </p:nvSpPr>
        <p:spPr>
          <a:xfrm>
            <a:off x="612648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La parole est numérisée puis envoyée en paquets IP.</a:t>
            </a:r>
            <a:endParaRPr lang="en-US" sz="1400" dirty="0"/>
          </a:p>
        </p:txBody>
      </p:sp>
      <p:sp>
        <p:nvSpPr>
          <p:cNvPr id="10" name="Carte 51"/>
          <p:cNvSpPr/>
          <p:nvPr/>
        </p:nvSpPr>
        <p:spPr>
          <a:xfrm>
            <a:off x="5486400" y="2313432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Pastille 52"/>
          <p:cNvSpPr/>
          <p:nvPr/>
        </p:nvSpPr>
        <p:spPr>
          <a:xfrm>
            <a:off x="5623560" y="245059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e 53"/>
          <p:cNvSpPr txBox="1"/>
          <p:nvPr/>
        </p:nvSpPr>
        <p:spPr>
          <a:xfrm>
            <a:off x="612648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seul réseau</a:t>
            </a:r>
            <a:endParaRPr lang="en-US" sz="1600" dirty="0"/>
          </a:p>
        </p:txBody>
      </p:sp>
      <p:sp>
        <p:nvSpPr>
          <p:cNvPr id="13" name="Texte 54"/>
          <p:cNvSpPr txBox="1"/>
          <p:nvPr/>
        </p:nvSpPr>
        <p:spPr>
          <a:xfrm>
            <a:off x="6126480" y="27523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Voix, données et vidéo partagent la même infrastructure.</a:t>
            </a:r>
            <a:endParaRPr lang="en-US" sz="1400" dirty="0"/>
          </a:p>
        </p:txBody>
      </p:sp>
      <p:sp>
        <p:nvSpPr>
          <p:cNvPr id="14" name="Carte 55"/>
          <p:cNvSpPr/>
          <p:nvPr/>
        </p:nvSpPr>
        <p:spPr>
          <a:xfrm>
            <a:off x="5486400" y="3438144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Pastille 56"/>
          <p:cNvSpPr/>
          <p:nvPr/>
        </p:nvSpPr>
        <p:spPr>
          <a:xfrm>
            <a:off x="5623560" y="357530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e 57"/>
          <p:cNvSpPr txBox="1"/>
          <p:nvPr/>
        </p:nvSpPr>
        <p:spPr>
          <a:xfrm>
            <a:off x="6126480" y="3547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Tout appareil IP</a:t>
            </a:r>
            <a:endParaRPr lang="en-US" sz="1600" dirty="0"/>
          </a:p>
        </p:txBody>
      </p:sp>
      <p:sp>
        <p:nvSpPr>
          <p:cNvPr id="17" name="Texte 58"/>
          <p:cNvSpPr txBox="1"/>
          <p:nvPr/>
        </p:nvSpPr>
        <p:spPr>
          <a:xfrm>
            <a:off x="6126480" y="3877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Téléphone IP, ordinateur ou smartphone avec application.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Fonctionnement d'un appel IP</a:t>
            </a:r>
            <a:endParaRPr lang="en-US" sz="3200" dirty="0"/>
          </a:p>
        </p:txBody>
      </p:sp>
      <p:sp>
        <p:nvSpPr>
          <p:cNvPr id="3" name="Carte 59"/>
          <p:cNvSpPr/>
          <p:nvPr/>
        </p:nvSpPr>
        <p:spPr>
          <a:xfrm>
            <a:off x="457200" y="1188720"/>
            <a:ext cx="1554480" cy="2103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astille 60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e 61"/>
          <p:cNvSpPr txBox="1"/>
          <p:nvPr/>
        </p:nvSpPr>
        <p:spPr>
          <a:xfrm>
            <a:off x="59436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Numérisation</a:t>
            </a:r>
            <a:endParaRPr lang="en-US" sz="1500" dirty="0"/>
          </a:p>
        </p:txBody>
      </p:sp>
      <p:sp>
        <p:nvSpPr>
          <p:cNvPr id="6" name="Texte 62"/>
          <p:cNvSpPr txBox="1"/>
          <p:nvPr/>
        </p:nvSpPr>
        <p:spPr>
          <a:xfrm>
            <a:off x="59436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 micro capte la voix, convertie en signal numérique.</a:t>
            </a:r>
            <a:endParaRPr lang="en-US" sz="1400" dirty="0"/>
          </a:p>
        </p:txBody>
      </p:sp>
      <p:sp>
        <p:nvSpPr>
          <p:cNvPr id="7" name="Carte 63"/>
          <p:cNvSpPr/>
          <p:nvPr/>
        </p:nvSpPr>
        <p:spPr>
          <a:xfrm>
            <a:off x="2125980" y="1188720"/>
            <a:ext cx="1554480" cy="2103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Pastille 64"/>
          <p:cNvSpPr/>
          <p:nvPr/>
        </p:nvSpPr>
        <p:spPr>
          <a:xfrm>
            <a:off x="2263140" y="132588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e 65"/>
          <p:cNvSpPr txBox="1"/>
          <p:nvPr/>
        </p:nvSpPr>
        <p:spPr>
          <a:xfrm>
            <a:off x="226314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Compression</a:t>
            </a:r>
            <a:endParaRPr lang="en-US" sz="1500" dirty="0"/>
          </a:p>
        </p:txBody>
      </p:sp>
      <p:sp>
        <p:nvSpPr>
          <p:cNvPr id="10" name="Texte 66"/>
          <p:cNvSpPr txBox="1"/>
          <p:nvPr/>
        </p:nvSpPr>
        <p:spPr>
          <a:xfrm>
            <a:off x="226314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Un codec (G.711, G.729, Opus) réduit le débit.</a:t>
            </a:r>
            <a:endParaRPr lang="en-US" sz="1400" dirty="0"/>
          </a:p>
        </p:txBody>
      </p:sp>
      <p:sp>
        <p:nvSpPr>
          <p:cNvPr id="11" name="Carte 67"/>
          <p:cNvSpPr/>
          <p:nvPr/>
        </p:nvSpPr>
        <p:spPr>
          <a:xfrm>
            <a:off x="3794760" y="1188720"/>
            <a:ext cx="1554480" cy="2103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Pastille 68"/>
          <p:cNvSpPr/>
          <p:nvPr/>
        </p:nvSpPr>
        <p:spPr>
          <a:xfrm>
            <a:off x="3931920" y="132588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e 69"/>
          <p:cNvSpPr txBox="1"/>
          <p:nvPr/>
        </p:nvSpPr>
        <p:spPr>
          <a:xfrm>
            <a:off x="393192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Paquetisation</a:t>
            </a:r>
            <a:endParaRPr lang="en-US" sz="1500" dirty="0"/>
          </a:p>
        </p:txBody>
      </p:sp>
      <p:sp>
        <p:nvSpPr>
          <p:cNvPr id="14" name="Texte 70"/>
          <p:cNvSpPr txBox="1"/>
          <p:nvPr/>
        </p:nvSpPr>
        <p:spPr>
          <a:xfrm>
            <a:off x="393192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Données découpées en paquets RTP/UDP/IP.</a:t>
            </a:r>
            <a:endParaRPr lang="en-US" sz="1400" dirty="0"/>
          </a:p>
        </p:txBody>
      </p:sp>
      <p:sp>
        <p:nvSpPr>
          <p:cNvPr id="15" name="Carte 71"/>
          <p:cNvSpPr/>
          <p:nvPr/>
        </p:nvSpPr>
        <p:spPr>
          <a:xfrm>
            <a:off x="5463540" y="1188720"/>
            <a:ext cx="1554480" cy="2103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Pastille 72"/>
          <p:cNvSpPr/>
          <p:nvPr/>
        </p:nvSpPr>
        <p:spPr>
          <a:xfrm>
            <a:off x="5600700" y="1325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e 73"/>
          <p:cNvSpPr txBox="1"/>
          <p:nvPr/>
        </p:nvSpPr>
        <p:spPr>
          <a:xfrm>
            <a:off x="560070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Transmission</a:t>
            </a:r>
            <a:endParaRPr lang="en-US" sz="1500" dirty="0"/>
          </a:p>
        </p:txBody>
      </p:sp>
      <p:sp>
        <p:nvSpPr>
          <p:cNvPr id="18" name="Texte 74"/>
          <p:cNvSpPr txBox="1"/>
          <p:nvPr/>
        </p:nvSpPr>
        <p:spPr>
          <a:xfrm>
            <a:off x="560070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paquets traversent le réseau jusqu'au correspondant.</a:t>
            </a:r>
            <a:endParaRPr lang="en-US" sz="1400" dirty="0"/>
          </a:p>
        </p:txBody>
      </p:sp>
      <p:sp>
        <p:nvSpPr>
          <p:cNvPr id="19" name="Carte 75"/>
          <p:cNvSpPr/>
          <p:nvPr/>
        </p:nvSpPr>
        <p:spPr>
          <a:xfrm>
            <a:off x="7132320" y="1188720"/>
            <a:ext cx="1554480" cy="21031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Pastille 76"/>
          <p:cNvSpPr/>
          <p:nvPr/>
        </p:nvSpPr>
        <p:spPr>
          <a:xfrm>
            <a:off x="7269480" y="132588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e 77"/>
          <p:cNvSpPr txBox="1"/>
          <p:nvPr/>
        </p:nvSpPr>
        <p:spPr>
          <a:xfrm>
            <a:off x="726948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Restitution</a:t>
            </a:r>
            <a:endParaRPr lang="en-US" sz="1500" dirty="0"/>
          </a:p>
        </p:txBody>
      </p:sp>
      <p:sp>
        <p:nvSpPr>
          <p:cNvPr id="22" name="Texte 78"/>
          <p:cNvSpPr txBox="1"/>
          <p:nvPr/>
        </p:nvSpPr>
        <p:spPr>
          <a:xfrm>
            <a:off x="726948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Réassemblage, décodage et lecture de la voix.</a:t>
            </a:r>
            <a:endParaRPr lang="en-US" sz="1400" dirty="0"/>
          </a:p>
        </p:txBody>
      </p:sp>
      <p:sp>
        <p:nvSpPr>
          <p:cNvPr id="23" name="Texte 79"/>
          <p:cNvSpPr txBox="1"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Côté signalisation (SIP) : l'échange qui précède et termine la conversation</a:t>
            </a:r>
            <a:endParaRPr lang="en-US" sz="1600" dirty="0"/>
          </a:p>
        </p:txBody>
      </p:sp>
      <p:sp>
        <p:nvSpPr>
          <p:cNvPr id="24" name="Etape SIP 80"/>
          <p:cNvSpPr/>
          <p:nvPr/>
        </p:nvSpPr>
        <p:spPr>
          <a:xfrm>
            <a:off x="45720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INVITE</a:t>
            </a:r>
            <a:endParaRPr lang="en-US" sz="1400" dirty="0"/>
          </a:p>
        </p:txBody>
      </p:sp>
      <p:sp>
        <p:nvSpPr>
          <p:cNvPr id="25" name="Etape SIP 81"/>
          <p:cNvSpPr/>
          <p:nvPr/>
        </p:nvSpPr>
        <p:spPr>
          <a:xfrm>
            <a:off x="1856232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180 Ringing</a:t>
            </a:r>
            <a:endParaRPr lang="en-US" sz="1400" dirty="0"/>
          </a:p>
        </p:txBody>
      </p:sp>
      <p:sp>
        <p:nvSpPr>
          <p:cNvPr id="26" name="Etape SIP 82"/>
          <p:cNvSpPr/>
          <p:nvPr/>
        </p:nvSpPr>
        <p:spPr>
          <a:xfrm>
            <a:off x="3255264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200 OK</a:t>
            </a:r>
            <a:endParaRPr lang="en-US" sz="1400" dirty="0"/>
          </a:p>
        </p:txBody>
      </p:sp>
      <p:sp>
        <p:nvSpPr>
          <p:cNvPr id="27" name="Etape SIP 83"/>
          <p:cNvSpPr/>
          <p:nvPr/>
        </p:nvSpPr>
        <p:spPr>
          <a:xfrm>
            <a:off x="4654296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ACK</a:t>
            </a:r>
            <a:endParaRPr lang="en-US" sz="1400" dirty="0"/>
          </a:p>
        </p:txBody>
      </p:sp>
      <p:sp>
        <p:nvSpPr>
          <p:cNvPr id="28" name="Etape SIP 84"/>
          <p:cNvSpPr/>
          <p:nvPr/>
        </p:nvSpPr>
        <p:spPr>
          <a:xfrm>
            <a:off x="6053328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Flux RTP</a:t>
            </a:r>
            <a:endParaRPr lang="en-US" sz="1400" dirty="0"/>
          </a:p>
        </p:txBody>
      </p:sp>
      <p:sp>
        <p:nvSpPr>
          <p:cNvPr id="29" name="Etape SIP 85"/>
          <p:cNvSpPr/>
          <p:nvPr/>
        </p:nvSpPr>
        <p:spPr>
          <a:xfrm>
            <a:off x="745236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BYE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 d'un système de téléphonie IP</a:t>
            </a:r>
            <a:endParaRPr lang="en-US" sz="3200" dirty="0"/>
          </a:p>
        </p:txBody>
      </p:sp>
      <p:sp>
        <p:nvSpPr>
          <p:cNvPr id="3" name="Noeud 86"/>
          <p:cNvSpPr/>
          <p:nvPr/>
        </p:nvSpPr>
        <p:spPr>
          <a:xfrm>
            <a:off x="457200" y="118872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Téléphones IP et softphones</a:t>
            </a:r>
            <a:endParaRPr lang="en-US" sz="1400" dirty="0"/>
          </a:p>
        </p:txBody>
      </p:sp>
      <p:sp>
        <p:nvSpPr>
          <p:cNvPr id="4" name="Fleche 87"/>
          <p:cNvSpPr/>
          <p:nvPr/>
        </p:nvSpPr>
        <p:spPr>
          <a:xfrm>
            <a:off x="1892808" y="1668780"/>
            <a:ext cx="25603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" name="Noeud 88"/>
          <p:cNvSpPr/>
          <p:nvPr/>
        </p:nvSpPr>
        <p:spPr>
          <a:xfrm>
            <a:off x="2160270" y="118872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Switch PoE</a:t>
            </a:r>
            <a:endParaRPr lang="en-US" sz="1400" dirty="0"/>
          </a:p>
        </p:txBody>
      </p:sp>
      <p:sp>
        <p:nvSpPr>
          <p:cNvPr id="6" name="Fleche 89"/>
          <p:cNvSpPr/>
          <p:nvPr/>
        </p:nvSpPr>
        <p:spPr>
          <a:xfrm>
            <a:off x="3595878" y="1668780"/>
            <a:ext cx="25603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Noeud 90"/>
          <p:cNvSpPr/>
          <p:nvPr/>
        </p:nvSpPr>
        <p:spPr>
          <a:xfrm>
            <a:off x="3863340" y="118872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Routeur et pare-feu</a:t>
            </a:r>
            <a:endParaRPr lang="en-US" sz="1400" dirty="0"/>
          </a:p>
        </p:txBody>
      </p:sp>
      <p:sp>
        <p:nvSpPr>
          <p:cNvPr id="8" name="Fleche 91"/>
          <p:cNvSpPr/>
          <p:nvPr/>
        </p:nvSpPr>
        <p:spPr>
          <a:xfrm>
            <a:off x="5298948" y="1668780"/>
            <a:ext cx="25603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Noeud 92"/>
          <p:cNvSpPr/>
          <p:nvPr/>
        </p:nvSpPr>
        <p:spPr>
          <a:xfrm>
            <a:off x="5566410" y="118872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IPBX (serveur d'appels)</a:t>
            </a:r>
            <a:endParaRPr lang="en-US" sz="1400" dirty="0"/>
          </a:p>
        </p:txBody>
      </p:sp>
      <p:sp>
        <p:nvSpPr>
          <p:cNvPr id="10" name="Fleche 93"/>
          <p:cNvSpPr/>
          <p:nvPr/>
        </p:nvSpPr>
        <p:spPr>
          <a:xfrm>
            <a:off x="7002018" y="1668780"/>
            <a:ext cx="25603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Noeud 94"/>
          <p:cNvSpPr/>
          <p:nvPr/>
        </p:nvSpPr>
        <p:spPr>
          <a:xfrm>
            <a:off x="7269480" y="118872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Opérateur (trunk SIP) / RTC</a:t>
            </a:r>
            <a:endParaRPr lang="en-US" sz="1400" dirty="0"/>
          </a:p>
        </p:txBody>
      </p:sp>
      <p:sp>
        <p:nvSpPr>
          <p:cNvPr id="12" name="Carte 95"/>
          <p:cNvSpPr/>
          <p:nvPr/>
        </p:nvSpPr>
        <p:spPr>
          <a:xfrm>
            <a:off x="457200" y="2468880"/>
            <a:ext cx="3977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e 96"/>
          <p:cNvSpPr txBox="1"/>
          <p:nvPr/>
        </p:nvSpPr>
        <p:spPr>
          <a:xfrm>
            <a:off x="640080" y="2560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Terminaux : </a:t>
            </a:r>
            <a:r>
              <a:rPr lang="en-US" sz="1400" dirty="0">
                <a:solidFill>
                  <a:schemeClr val="tx1"/>
                </a:solidFill>
              </a:rPr>
              <a:t>téléphones IP, softphones et mobiles se connectent au réseau local.</a:t>
            </a:r>
            <a:endParaRPr lang="en-US" sz="1400" dirty="0"/>
          </a:p>
        </p:txBody>
      </p:sp>
      <p:sp>
        <p:nvSpPr>
          <p:cNvPr id="14" name="Carte 97"/>
          <p:cNvSpPr/>
          <p:nvPr/>
        </p:nvSpPr>
        <p:spPr>
          <a:xfrm>
            <a:off x="4709160" y="2468880"/>
            <a:ext cx="3977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e 98"/>
          <p:cNvSpPr txBox="1"/>
          <p:nvPr/>
        </p:nvSpPr>
        <p:spPr>
          <a:xfrm>
            <a:off x="4892040" y="2560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IPBX : </a:t>
            </a:r>
            <a:r>
              <a:rPr lang="en-US" sz="1400" dirty="0">
                <a:solidFill>
                  <a:schemeClr val="tx1"/>
                </a:solidFill>
              </a:rPr>
              <a:t>enregistre les postes, établit les appels et fournit les fonctions avancées.</a:t>
            </a:r>
            <a:endParaRPr lang="en-US" sz="1400" dirty="0"/>
          </a:p>
        </p:txBody>
      </p:sp>
      <p:sp>
        <p:nvSpPr>
          <p:cNvPr id="16" name="Carte 99"/>
          <p:cNvSpPr/>
          <p:nvPr/>
        </p:nvSpPr>
        <p:spPr>
          <a:xfrm>
            <a:off x="457200" y="3520440"/>
            <a:ext cx="3977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e 100"/>
          <p:cNvSpPr txBox="1"/>
          <p:nvPr/>
        </p:nvSpPr>
        <p:spPr>
          <a:xfrm>
            <a:off x="640080" y="36118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Réseau : </a:t>
            </a:r>
            <a:r>
              <a:rPr lang="en-US" sz="1400" dirty="0">
                <a:solidFill>
                  <a:schemeClr val="tx1"/>
                </a:solidFill>
              </a:rPr>
              <a:t>switch PoE (alimentation par câble), VLAN voix et routeur assurent le transport.</a:t>
            </a:r>
            <a:endParaRPr lang="en-US" sz="1400" dirty="0"/>
          </a:p>
        </p:txBody>
      </p:sp>
      <p:sp>
        <p:nvSpPr>
          <p:cNvPr id="18" name="Carte 101"/>
          <p:cNvSpPr/>
          <p:nvPr/>
        </p:nvSpPr>
        <p:spPr>
          <a:xfrm>
            <a:off x="4709160" y="3520440"/>
            <a:ext cx="3977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e 102"/>
          <p:cNvSpPr txBox="1"/>
          <p:nvPr/>
        </p:nvSpPr>
        <p:spPr>
          <a:xfrm>
            <a:off x="4892040" y="36118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Liaison externe : </a:t>
            </a:r>
            <a:r>
              <a:rPr lang="en-US" sz="1400" dirty="0">
                <a:solidFill>
                  <a:schemeClr val="tx1"/>
                </a:solidFill>
              </a:rPr>
              <a:t>un trunk SIP ou une passerelle relie l'entreprise au réseau téléphonique public.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Protocoles : SIP, SDP, RTP, RTCP, SRTP</a:t>
            </a:r>
            <a:endParaRPr lang="en-US" sz="3200" dirty="0"/>
          </a:p>
        </p:txBody>
      </p:sp>
      <p:sp>
        <p:nvSpPr>
          <p:cNvPr id="3" name="Carte 103"/>
          <p:cNvSpPr/>
          <p:nvPr/>
        </p:nvSpPr>
        <p:spPr>
          <a:xfrm>
            <a:off x="457200" y="114300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rotocole 104"/>
          <p:cNvSpPr/>
          <p:nvPr/>
        </p:nvSpPr>
        <p:spPr>
          <a:xfrm>
            <a:off x="548640" y="1216152"/>
            <a:ext cx="10972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SIP</a:t>
            </a:r>
            <a:endParaRPr lang="en-US" sz="1800" dirty="0"/>
          </a:p>
        </p:txBody>
      </p:sp>
      <p:sp>
        <p:nvSpPr>
          <p:cNvPr id="5" name="Texte 105"/>
          <p:cNvSpPr txBox="1"/>
          <p:nvPr/>
        </p:nvSpPr>
        <p:spPr>
          <a:xfrm>
            <a:off x="1828800" y="114300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Signalisation : établit, modifie et termine les appels (port 5060, ou 5061 en TLS).</a:t>
            </a:r>
            <a:endParaRPr lang="en-US" sz="1400" dirty="0"/>
          </a:p>
        </p:txBody>
      </p:sp>
      <p:sp>
        <p:nvSpPr>
          <p:cNvPr id="6" name="Carte 106"/>
          <p:cNvSpPr/>
          <p:nvPr/>
        </p:nvSpPr>
        <p:spPr>
          <a:xfrm>
            <a:off x="457200" y="1819656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Protocole 107"/>
          <p:cNvSpPr/>
          <p:nvPr/>
        </p:nvSpPr>
        <p:spPr>
          <a:xfrm>
            <a:off x="548640" y="1892808"/>
            <a:ext cx="109728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SDP</a:t>
            </a:r>
            <a:endParaRPr lang="en-US" sz="1800" dirty="0"/>
          </a:p>
        </p:txBody>
      </p:sp>
      <p:sp>
        <p:nvSpPr>
          <p:cNvPr id="8" name="Texte 108"/>
          <p:cNvSpPr txBox="1"/>
          <p:nvPr/>
        </p:nvSpPr>
        <p:spPr>
          <a:xfrm>
            <a:off x="1828800" y="181965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Décrit la session : codecs proposés, adresses IP et ports des flux média, négociés à l'appel.</a:t>
            </a:r>
            <a:endParaRPr lang="en-US" sz="1400" dirty="0"/>
          </a:p>
        </p:txBody>
      </p:sp>
      <p:sp>
        <p:nvSpPr>
          <p:cNvPr id="9" name="Carte 109"/>
          <p:cNvSpPr/>
          <p:nvPr/>
        </p:nvSpPr>
        <p:spPr>
          <a:xfrm>
            <a:off x="457200" y="2496312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Protocole 110"/>
          <p:cNvSpPr/>
          <p:nvPr/>
        </p:nvSpPr>
        <p:spPr>
          <a:xfrm>
            <a:off x="548640" y="2569464"/>
            <a:ext cx="109728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RTP</a:t>
            </a:r>
            <a:endParaRPr lang="en-US" sz="1800" dirty="0"/>
          </a:p>
        </p:txBody>
      </p:sp>
      <p:sp>
        <p:nvSpPr>
          <p:cNvPr id="11" name="Texte 111"/>
          <p:cNvSpPr txBox="1"/>
          <p:nvPr/>
        </p:nvSpPr>
        <p:spPr>
          <a:xfrm>
            <a:off x="1828800" y="249631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Transporte la voix (et la vidéo) en temps réel sur UDP, avec numéros de séquence et horodatage.</a:t>
            </a:r>
            <a:endParaRPr lang="en-US" sz="1400" dirty="0"/>
          </a:p>
        </p:txBody>
      </p:sp>
      <p:sp>
        <p:nvSpPr>
          <p:cNvPr id="12" name="Carte 112"/>
          <p:cNvSpPr/>
          <p:nvPr/>
        </p:nvSpPr>
        <p:spPr>
          <a:xfrm>
            <a:off x="457200" y="3172968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Protocole 113"/>
          <p:cNvSpPr/>
          <p:nvPr/>
        </p:nvSpPr>
        <p:spPr>
          <a:xfrm>
            <a:off x="548640" y="3246120"/>
            <a:ext cx="10972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RTCP</a:t>
            </a:r>
            <a:endParaRPr lang="en-US" sz="1800" dirty="0"/>
          </a:p>
        </p:txBody>
      </p:sp>
      <p:sp>
        <p:nvSpPr>
          <p:cNvPr id="14" name="Texte 114"/>
          <p:cNvSpPr txBox="1"/>
          <p:nvPr/>
        </p:nvSpPr>
        <p:spPr>
          <a:xfrm>
            <a:off x="1828800" y="317296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Accompagne RTP : remonte des statistiques (pertes, gigue, délai) pour surveiller la qualité.</a:t>
            </a:r>
            <a:endParaRPr lang="en-US" sz="1400" dirty="0"/>
          </a:p>
        </p:txBody>
      </p:sp>
      <p:sp>
        <p:nvSpPr>
          <p:cNvPr id="15" name="Carte 115"/>
          <p:cNvSpPr/>
          <p:nvPr/>
        </p:nvSpPr>
        <p:spPr>
          <a:xfrm>
            <a:off x="457200" y="384962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Protocole 116"/>
          <p:cNvSpPr/>
          <p:nvPr/>
        </p:nvSpPr>
        <p:spPr>
          <a:xfrm>
            <a:off x="548640" y="3922776"/>
            <a:ext cx="109728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SRTP</a:t>
            </a:r>
            <a:endParaRPr lang="en-US" sz="1800" dirty="0"/>
          </a:p>
        </p:txBody>
      </p:sp>
      <p:sp>
        <p:nvSpPr>
          <p:cNvPr id="17" name="Texte 117"/>
          <p:cNvSpPr txBox="1"/>
          <p:nvPr/>
        </p:nvSpPr>
        <p:spPr>
          <a:xfrm>
            <a:off x="1828800" y="384962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Version sécurisée de RTP : chiffre et authentifie la voix contre l'écoute et l'altération.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Équipements et logiciels nécessaires</a:t>
            </a:r>
            <a:endParaRPr lang="en-US" sz="3200" dirty="0"/>
          </a:p>
        </p:txBody>
      </p:sp>
      <p:sp>
        <p:nvSpPr>
          <p:cNvPr id="3" name="Carte 118"/>
          <p:cNvSpPr/>
          <p:nvPr/>
        </p:nvSpPr>
        <p:spPr>
          <a:xfrm>
            <a:off x="457200" y="1188720"/>
            <a:ext cx="39776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astille 119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</a:t>
            </a:r>
            <a:endParaRPr lang="en-US" sz="1600" dirty="0"/>
          </a:p>
        </p:txBody>
      </p:sp>
      <p:sp>
        <p:nvSpPr>
          <p:cNvPr id="5" name="Texte 120"/>
          <p:cNvSpPr txBox="1"/>
          <p:nvPr/>
        </p:nvSpPr>
        <p:spPr>
          <a:xfrm>
            <a:off x="11430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Matériel</a:t>
            </a:r>
            <a:endParaRPr lang="en-US" sz="1800" dirty="0"/>
          </a:p>
        </p:txBody>
      </p:sp>
      <p:sp>
        <p:nvSpPr>
          <p:cNvPr id="6" name="Texte 121"/>
          <p:cNvSpPr txBox="1"/>
          <p:nvPr/>
        </p:nvSpPr>
        <p:spPr>
          <a:xfrm>
            <a:off x="685800" y="187452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Téléphones IP (fixes, DECT IP)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IPBX physique ou virtuel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Switch PoE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Routeur et pare-feu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Passerelle VoIP / adaptateur 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Casques et terminaux de conférence</a:t>
            </a:r>
            <a:endParaRPr lang="en-US" sz="1400" dirty="0"/>
          </a:p>
        </p:txBody>
      </p:sp>
      <p:sp>
        <p:nvSpPr>
          <p:cNvPr id="7" name="Carte 122"/>
          <p:cNvSpPr/>
          <p:nvPr/>
        </p:nvSpPr>
        <p:spPr>
          <a:xfrm>
            <a:off x="4709160" y="1188720"/>
            <a:ext cx="39776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Pastille 123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</a:t>
            </a:r>
            <a:endParaRPr lang="en-US" sz="1600" dirty="0"/>
          </a:p>
        </p:txBody>
      </p:sp>
      <p:sp>
        <p:nvSpPr>
          <p:cNvPr id="9" name="Texte 124"/>
          <p:cNvSpPr txBox="1"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Logiciels</a:t>
            </a:r>
            <a:endParaRPr lang="en-US" sz="1800" dirty="0"/>
          </a:p>
        </p:txBody>
      </p:sp>
      <p:sp>
        <p:nvSpPr>
          <p:cNvPr id="10" name="Texte 125"/>
          <p:cNvSpPr txBox="1"/>
          <p:nvPr/>
        </p:nvSpPr>
        <p:spPr>
          <a:xfrm>
            <a:off x="4937760" y="187452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Serveurs IPBX : Asterisk, FreePBX, 3CX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Softphones : Linphone, Zoiper, MicroSIP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Applications mobiles et clients de communication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Solutions hébergées dans le cloud (UCaaS)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Outils de supervision et d'enregistrement</a:t>
            </a:r>
            <a:endParaRPr lang="en-US" sz="1400" dirty="0"/>
          </a:p>
        </p:txBody>
      </p:sp>
      <p:sp>
        <p:nvSpPr>
          <p:cNvPr id="11" name="Carte 126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e 127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 choix : solution sur site, hébergée dans le cloud ou hybride.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Les avantages de la téléphonie IP</a:t>
            </a:r>
            <a:endParaRPr lang="en-US" sz="3200" dirty="0"/>
          </a:p>
        </p:txBody>
      </p:sp>
      <p:sp>
        <p:nvSpPr>
          <p:cNvPr id="3" name="Texte 128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Elle permet de passer des appels via Internet ou le réseau informatique.</a:t>
            </a:r>
            <a:endParaRPr lang="en-US" sz="1400" dirty="0"/>
          </a:p>
        </p:txBody>
      </p:sp>
      <p:sp>
        <p:nvSpPr>
          <p:cNvPr id="4" name="Carte 129"/>
          <p:cNvSpPr/>
          <p:nvPr/>
        </p:nvSpPr>
        <p:spPr>
          <a:xfrm>
            <a:off x="457200" y="12984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Pastille 130"/>
          <p:cNvSpPr/>
          <p:nvPr/>
        </p:nvSpPr>
        <p:spPr>
          <a:xfrm>
            <a:off x="640080" y="14081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e 131"/>
          <p:cNvSpPr txBox="1"/>
          <p:nvPr/>
        </p:nvSpPr>
        <p:spPr>
          <a:xfrm>
            <a:off x="1115568" y="1408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Réduction des coûts</a:t>
            </a:r>
            <a:endParaRPr lang="en-US" sz="1600" dirty="0"/>
          </a:p>
        </p:txBody>
      </p:sp>
      <p:sp>
        <p:nvSpPr>
          <p:cNvPr id="7" name="Texte 132"/>
          <p:cNvSpPr txBox="1"/>
          <p:nvPr/>
        </p:nvSpPr>
        <p:spPr>
          <a:xfrm>
            <a:off x="640080" y="18288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appels entre sites peuvent coûter moins cher et le réseau voix/données est mutualisé.</a:t>
            </a:r>
            <a:endParaRPr lang="en-US" sz="1400" dirty="0"/>
          </a:p>
        </p:txBody>
      </p:sp>
      <p:sp>
        <p:nvSpPr>
          <p:cNvPr id="8" name="Carte 133"/>
          <p:cNvSpPr/>
          <p:nvPr/>
        </p:nvSpPr>
        <p:spPr>
          <a:xfrm>
            <a:off x="4709160" y="12984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Pastille 134"/>
          <p:cNvSpPr/>
          <p:nvPr/>
        </p:nvSpPr>
        <p:spPr>
          <a:xfrm>
            <a:off x="4892040" y="1408176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e 135"/>
          <p:cNvSpPr txBox="1"/>
          <p:nvPr/>
        </p:nvSpPr>
        <p:spPr>
          <a:xfrm>
            <a:off x="5367528" y="1408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Mobilité et flexibilité</a:t>
            </a:r>
            <a:endParaRPr lang="en-US" sz="1600" dirty="0"/>
          </a:p>
        </p:txBody>
      </p:sp>
      <p:sp>
        <p:nvSpPr>
          <p:cNvPr id="11" name="Texte 136"/>
          <p:cNvSpPr txBox="1"/>
          <p:nvPr/>
        </p:nvSpPr>
        <p:spPr>
          <a:xfrm>
            <a:off x="4892040" y="18288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L'utilisateur peut utiliser sa ligne depuis différents postes ou applications compatibles.</a:t>
            </a:r>
            <a:endParaRPr lang="en-US" sz="1400" dirty="0"/>
          </a:p>
        </p:txBody>
      </p:sp>
      <p:sp>
        <p:nvSpPr>
          <p:cNvPr id="12" name="Carte 137"/>
          <p:cNvSpPr/>
          <p:nvPr/>
        </p:nvSpPr>
        <p:spPr>
          <a:xfrm>
            <a:off x="457200" y="26700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Pastille 138"/>
          <p:cNvSpPr/>
          <p:nvPr/>
        </p:nvSpPr>
        <p:spPr>
          <a:xfrm>
            <a:off x="640080" y="2779776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e 139"/>
          <p:cNvSpPr txBox="1"/>
          <p:nvPr/>
        </p:nvSpPr>
        <p:spPr>
          <a:xfrm>
            <a:off x="1115568" y="2779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Fonctions pratiques</a:t>
            </a:r>
            <a:endParaRPr lang="en-US" sz="1600" dirty="0"/>
          </a:p>
        </p:txBody>
      </p:sp>
      <p:sp>
        <p:nvSpPr>
          <p:cNvPr id="15" name="Texte 140"/>
          <p:cNvSpPr txBox="1"/>
          <p:nvPr/>
        </p:nvSpPr>
        <p:spPr>
          <a:xfrm>
            <a:off x="640080" y="3200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Transfert d'appel, conférence, messagerie vocale et visioconférence selon la solution.</a:t>
            </a:r>
            <a:endParaRPr lang="en-US" sz="1400" dirty="0"/>
          </a:p>
        </p:txBody>
      </p:sp>
      <p:sp>
        <p:nvSpPr>
          <p:cNvPr id="16" name="Carte 141"/>
          <p:cNvSpPr/>
          <p:nvPr/>
        </p:nvSpPr>
        <p:spPr>
          <a:xfrm>
            <a:off x="4709160" y="26700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Pastille 142"/>
          <p:cNvSpPr/>
          <p:nvPr/>
        </p:nvSpPr>
        <p:spPr>
          <a:xfrm>
            <a:off x="4892040" y="2779776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e 143"/>
          <p:cNvSpPr txBox="1"/>
          <p:nvPr/>
        </p:nvSpPr>
        <p:spPr>
          <a:xfrm>
            <a:off x="5367528" y="2779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Gestion simplifiée</a:t>
            </a:r>
            <a:endParaRPr lang="en-US" sz="1600" dirty="0"/>
          </a:p>
        </p:txBody>
      </p:sp>
      <p:sp>
        <p:nvSpPr>
          <p:cNvPr id="19" name="Texte 144"/>
          <p:cNvSpPr txBox="1"/>
          <p:nvPr/>
        </p:nvSpPr>
        <p:spPr>
          <a:xfrm>
            <a:off x="4892040" y="3200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téléphones et les extensions peuvent être administrés depuis une plateforme centrale.</a:t>
            </a:r>
            <a:endParaRPr lang="en-US" sz="1400" dirty="0"/>
          </a:p>
        </p:txBody>
      </p:sp>
      <p:sp>
        <p:nvSpPr>
          <p:cNvPr id="20" name="Carte 145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e 146"/>
          <p:cNvSpPr txBox="1"/>
          <p:nvPr/>
        </p:nvSpPr>
        <p:spPr>
          <a:xfrm>
            <a:off x="640080" y="41148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À retenir : elle facilite les communications et peut réduire les dépenses de l'entreprise.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Les limites de la téléphonie IP</a:t>
            </a:r>
            <a:endParaRPr lang="en-US" sz="3200" dirty="0"/>
          </a:p>
        </p:txBody>
      </p:sp>
      <p:sp>
        <p:nvSpPr>
          <p:cNvPr id="3" name="Texte 147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Son bon fonctionnement dépend de la qualité du réseau et de l'alimentation électrique.</a:t>
            </a:r>
            <a:endParaRPr lang="en-US" sz="1400" dirty="0"/>
          </a:p>
        </p:txBody>
      </p:sp>
      <p:sp>
        <p:nvSpPr>
          <p:cNvPr id="4" name="Carte 148"/>
          <p:cNvSpPr/>
          <p:nvPr/>
        </p:nvSpPr>
        <p:spPr>
          <a:xfrm>
            <a:off x="457200" y="12984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Pastille 149"/>
          <p:cNvSpPr/>
          <p:nvPr/>
        </p:nvSpPr>
        <p:spPr>
          <a:xfrm>
            <a:off x="640080" y="14081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e 150"/>
          <p:cNvSpPr txBox="1"/>
          <p:nvPr/>
        </p:nvSpPr>
        <p:spPr>
          <a:xfrm>
            <a:off x="1115568" y="1408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Dépendance au réseau</a:t>
            </a:r>
            <a:endParaRPr lang="en-US" sz="1600" dirty="0"/>
          </a:p>
        </p:txBody>
      </p:sp>
      <p:sp>
        <p:nvSpPr>
          <p:cNvPr id="7" name="Texte 151"/>
          <p:cNvSpPr txBox="1"/>
          <p:nvPr/>
        </p:nvSpPr>
        <p:spPr>
          <a:xfrm>
            <a:off x="640080" y="18288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Une panne du réseau ou d'Internet peut interrompre les appels.</a:t>
            </a:r>
            <a:endParaRPr lang="en-US" sz="1400" dirty="0"/>
          </a:p>
        </p:txBody>
      </p:sp>
      <p:sp>
        <p:nvSpPr>
          <p:cNvPr id="8" name="Carte 152"/>
          <p:cNvSpPr/>
          <p:nvPr/>
        </p:nvSpPr>
        <p:spPr>
          <a:xfrm>
            <a:off x="4709160" y="12984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Pastille 153"/>
          <p:cNvSpPr/>
          <p:nvPr/>
        </p:nvSpPr>
        <p:spPr>
          <a:xfrm>
            <a:off x="4892040" y="1408176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e 154"/>
          <p:cNvSpPr txBox="1"/>
          <p:nvPr/>
        </p:nvSpPr>
        <p:spPr>
          <a:xfrm>
            <a:off x="5367528" y="1408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Qualité des appels</a:t>
            </a:r>
            <a:endParaRPr lang="en-US" sz="1600" dirty="0"/>
          </a:p>
        </p:txBody>
      </p:sp>
      <p:sp>
        <p:nvSpPr>
          <p:cNvPr id="11" name="Texte 155"/>
          <p:cNvSpPr txBox="1"/>
          <p:nvPr/>
        </p:nvSpPr>
        <p:spPr>
          <a:xfrm>
            <a:off x="4892040" y="18288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Une connexion lente ou saturée peut provoquer retards, coupures ou sons déformés.</a:t>
            </a:r>
            <a:endParaRPr lang="en-US" sz="1400" dirty="0"/>
          </a:p>
        </p:txBody>
      </p:sp>
      <p:sp>
        <p:nvSpPr>
          <p:cNvPr id="12" name="Carte 156"/>
          <p:cNvSpPr/>
          <p:nvPr/>
        </p:nvSpPr>
        <p:spPr>
          <a:xfrm>
            <a:off x="457200" y="26700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Pastille 157"/>
          <p:cNvSpPr/>
          <p:nvPr/>
        </p:nvSpPr>
        <p:spPr>
          <a:xfrm>
            <a:off x="640080" y="2779776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e 158"/>
          <p:cNvSpPr txBox="1"/>
          <p:nvPr/>
        </p:nvSpPr>
        <p:spPr>
          <a:xfrm>
            <a:off x="1115568" y="2779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Électricité nécessaire</a:t>
            </a:r>
            <a:endParaRPr lang="en-US" sz="1600" dirty="0"/>
          </a:p>
        </p:txBody>
      </p:sp>
      <p:sp>
        <p:nvSpPr>
          <p:cNvPr id="15" name="Texte 159"/>
          <p:cNvSpPr txBox="1"/>
          <p:nvPr/>
        </p:nvSpPr>
        <p:spPr>
          <a:xfrm>
            <a:off x="640080" y="3200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téléphones IP et les équipements réseau ont besoin d'être alimentés.</a:t>
            </a:r>
            <a:endParaRPr lang="en-US" sz="1400" dirty="0"/>
          </a:p>
        </p:txBody>
      </p:sp>
      <p:sp>
        <p:nvSpPr>
          <p:cNvPr id="16" name="Carte 160"/>
          <p:cNvSpPr/>
          <p:nvPr/>
        </p:nvSpPr>
        <p:spPr>
          <a:xfrm>
            <a:off x="4709160" y="2670048"/>
            <a:ext cx="397764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Pastille 161"/>
          <p:cNvSpPr/>
          <p:nvPr/>
        </p:nvSpPr>
        <p:spPr>
          <a:xfrm>
            <a:off x="4892040" y="2779776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e 162"/>
          <p:cNvSpPr txBox="1"/>
          <p:nvPr/>
        </p:nvSpPr>
        <p:spPr>
          <a:xfrm>
            <a:off x="5367528" y="2779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Risques de sécurité</a:t>
            </a:r>
            <a:endParaRPr lang="en-US" sz="1600" dirty="0"/>
          </a:p>
        </p:txBody>
      </p:sp>
      <p:sp>
        <p:nvSpPr>
          <p:cNvPr id="19" name="Texte 163"/>
          <p:cNvSpPr txBox="1"/>
          <p:nvPr/>
        </p:nvSpPr>
        <p:spPr>
          <a:xfrm>
            <a:off x="4892040" y="3200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Des attaques ou des fraudes sont possibles si le système est mal protégé.</a:t>
            </a:r>
            <a:endParaRPr lang="en-US" sz="1400" dirty="0"/>
          </a:p>
        </p:txBody>
      </p:sp>
      <p:sp>
        <p:nvSpPr>
          <p:cNvPr id="20" name="Carte 164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e 165"/>
          <p:cNvSpPr txBox="1"/>
          <p:nvPr/>
        </p:nvSpPr>
        <p:spPr>
          <a:xfrm>
            <a:off x="640080" y="41148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Solutions : réseau fiable, alimentation de secours, priorisation de la voix (QoS), mots de passe robustes.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Qualité de service (QoS)</a:t>
            </a:r>
            <a:endParaRPr lang="en-US" sz="3200" dirty="0"/>
          </a:p>
        </p:txBody>
      </p:sp>
      <p:sp>
        <p:nvSpPr>
          <p:cNvPr id="3" name="Carte 166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e 167"/>
          <p:cNvSpPr txBox="1"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150 ms</a:t>
            </a:r>
            <a:endParaRPr lang="en-US" sz="3600" dirty="0"/>
          </a:p>
        </p:txBody>
      </p:sp>
      <p:sp>
        <p:nvSpPr>
          <p:cNvPr id="5" name="Texte 168"/>
          <p:cNvSpPr txBox="1"/>
          <p:nvPr/>
        </p:nvSpPr>
        <p:spPr>
          <a:xfrm>
            <a:off x="54864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Latence (délai aller simple)</a:t>
            </a:r>
            <a:endParaRPr lang="en-US" sz="1400" dirty="0"/>
          </a:p>
        </p:txBody>
      </p:sp>
      <p:sp>
        <p:nvSpPr>
          <p:cNvPr id="6" name="Carte 169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e 170"/>
          <p:cNvSpPr txBox="1"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 ms</a:t>
            </a:r>
            <a:endParaRPr lang="en-US" sz="3600" dirty="0"/>
          </a:p>
        </p:txBody>
      </p:sp>
      <p:sp>
        <p:nvSpPr>
          <p:cNvPr id="8" name="Texte 171"/>
          <p:cNvSpPr txBox="1"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Gigue (variation du délai)</a:t>
            </a:r>
            <a:endParaRPr lang="en-US" sz="1400" dirty="0"/>
          </a:p>
        </p:txBody>
      </p:sp>
      <p:sp>
        <p:nvSpPr>
          <p:cNvPr id="9" name="Carte 172"/>
          <p:cNvSpPr/>
          <p:nvPr/>
        </p:nvSpPr>
        <p:spPr>
          <a:xfrm>
            <a:off x="612648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e 173"/>
          <p:cNvSpPr txBox="1"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1 %</a:t>
            </a:r>
            <a:endParaRPr lang="en-US" sz="3600" dirty="0"/>
          </a:p>
        </p:txBody>
      </p:sp>
      <p:sp>
        <p:nvSpPr>
          <p:cNvPr id="11" name="Texte 174"/>
          <p:cNvSpPr txBox="1"/>
          <p:nvPr/>
        </p:nvSpPr>
        <p:spPr>
          <a:xfrm>
            <a:off x="62179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Perte de paquets</a:t>
            </a:r>
            <a:endParaRPr lang="en-US" sz="1400" dirty="0"/>
          </a:p>
        </p:txBody>
      </p:sp>
      <p:sp>
        <p:nvSpPr>
          <p:cNvPr id="12" name="Carte 175"/>
          <p:cNvSpPr/>
          <p:nvPr/>
        </p:nvSpPr>
        <p:spPr>
          <a:xfrm>
            <a:off x="457200" y="2743200"/>
            <a:ext cx="39776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e 176"/>
          <p:cNvSpPr txBox="1"/>
          <p:nvPr/>
        </p:nvSpPr>
        <p:spPr>
          <a:xfrm>
            <a:off x="640080" y="2834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Moyens de garantir la QoS</a:t>
            </a:r>
            <a:endParaRPr lang="en-US" sz="1600" dirty="0"/>
          </a:p>
        </p:txBody>
      </p:sp>
      <p:sp>
        <p:nvSpPr>
          <p:cNvPr id="14" name="Texte 177"/>
          <p:cNvSpPr txBox="1"/>
          <p:nvPr/>
        </p:nvSpPr>
        <p:spPr>
          <a:xfrm>
            <a:off x="640080" y="32004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Priorité à la voix (DiffServ, DSCP 46)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VLAN dédié à la voix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Bande passante réservée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Codec adapté au débit disponible</a:t>
            </a:r>
            <a:endParaRPr lang="en-US" sz="1400" dirty="0"/>
          </a:p>
        </p:txBody>
      </p:sp>
      <p:sp>
        <p:nvSpPr>
          <p:cNvPr id="15" name="Carte 178"/>
          <p:cNvSpPr/>
          <p:nvPr/>
        </p:nvSpPr>
        <p:spPr>
          <a:xfrm>
            <a:off x="4709160" y="2743200"/>
            <a:ext cx="39776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e 179"/>
          <p:cNvSpPr txBox="1"/>
          <p:nvPr/>
        </p:nvSpPr>
        <p:spPr>
          <a:xfrm>
            <a:off x="4892040" y="2834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Bon à savoir</a:t>
            </a:r>
            <a:endParaRPr lang="en-US" sz="1600" dirty="0"/>
          </a:p>
        </p:txBody>
      </p:sp>
      <p:sp>
        <p:nvSpPr>
          <p:cNvPr id="17" name="Texte 180"/>
          <p:cNvSpPr txBox="1"/>
          <p:nvPr/>
        </p:nvSpPr>
        <p:spPr>
          <a:xfrm>
            <a:off x="4892040" y="32004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 appel en G.711 consomme environ 87 kbit/s avec les en-têtes, contre environ 31 kbit/s en G.729. Le choix du codec dépend donc du débit disponible.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Sécurité et domaines d'utilisation</a:t>
            </a:r>
            <a:endParaRPr lang="en-US" sz="3200" dirty="0"/>
          </a:p>
        </p:txBody>
      </p:sp>
      <p:sp>
        <p:nvSpPr>
          <p:cNvPr id="3" name="Carte 181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astille 182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US" sz="1600" dirty="0"/>
          </a:p>
        </p:txBody>
      </p:sp>
      <p:sp>
        <p:nvSpPr>
          <p:cNvPr id="5" name="Texte 183"/>
          <p:cNvSpPr txBox="1"/>
          <p:nvPr/>
        </p:nvSpPr>
        <p:spPr>
          <a:xfrm>
            <a:off x="11430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Sécurité</a:t>
            </a:r>
            <a:endParaRPr lang="en-US" sz="1800" dirty="0"/>
          </a:p>
        </p:txBody>
      </p:sp>
      <p:sp>
        <p:nvSpPr>
          <p:cNvPr id="6" name="Texte 184"/>
          <p:cNvSpPr txBox="1"/>
          <p:nvPr/>
        </p:nvSpPr>
        <p:spPr>
          <a:xfrm>
            <a:off x="685800" y="187452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Chiffrement : TLS pour SIP, SRTP pour la voix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Mots de passe robustes (postes et IPBX)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Pare-feu, SBC et séparation par VLAN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Mises à jour régulières des équipements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Limitation des appels internationaux (anti-fraude)</a:t>
            </a:r>
            <a:endParaRPr lang="en-US" sz="1400" dirty="0"/>
          </a:p>
        </p:txBody>
      </p:sp>
      <p:sp>
        <p:nvSpPr>
          <p:cNvPr id="7" name="Carte 185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Pastille 186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9" name="Texte 187"/>
          <p:cNvSpPr txBox="1"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Domaines d'utilisation</a:t>
            </a:r>
            <a:endParaRPr lang="en-US" sz="1800" dirty="0"/>
          </a:p>
        </p:txBody>
      </p:sp>
      <p:sp>
        <p:nvSpPr>
          <p:cNvPr id="10" name="Texte 188"/>
          <p:cNvSpPr txBox="1"/>
          <p:nvPr/>
        </p:nvSpPr>
        <p:spPr>
          <a:xfrm>
            <a:off x="4937760" y="187452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Entreprises et PME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Centres d'appels et services clients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Administrations et établissements d'enseignement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Santé : cliniques et hôpitaux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Particuliers : box Internet et applications d'appel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5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</a:t>
            </a:r>
            <a:endParaRPr lang="en-US" sz="3200" dirty="0"/>
          </a:p>
        </p:txBody>
      </p:sp>
      <p:sp>
        <p:nvSpPr>
          <p:cNvPr id="3" name="Carte 189"/>
          <p:cNvSpPr/>
          <p:nvPr/>
        </p:nvSpPr>
        <p:spPr>
          <a:xfrm>
            <a:off x="45720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4" name="Pastille 190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e 191"/>
          <p:cNvSpPr txBox="1"/>
          <p:nvPr/>
        </p:nvSpPr>
        <p:spPr>
          <a:xfrm>
            <a:off x="64008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Une téléphonie moderne</a:t>
            </a:r>
            <a:endParaRPr lang="en-US" sz="1600" dirty="0"/>
          </a:p>
        </p:txBody>
      </p:sp>
      <p:sp>
        <p:nvSpPr>
          <p:cNvPr id="6" name="Texte 192"/>
          <p:cNvSpPr txBox="1"/>
          <p:nvPr/>
        </p:nvSpPr>
        <p:spPr>
          <a:xfrm>
            <a:off x="640080" y="2176272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La voix circule comme une donnée sur un réseau IP unique, avec plus de souplesse et de fonctions.</a:t>
            </a:r>
            <a:endParaRPr lang="en-US" sz="1400" dirty="0"/>
          </a:p>
        </p:txBody>
      </p:sp>
      <p:sp>
        <p:nvSpPr>
          <p:cNvPr id="7" name="Carte 193"/>
          <p:cNvSpPr/>
          <p:nvPr/>
        </p:nvSpPr>
        <p:spPr>
          <a:xfrm>
            <a:off x="329184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8" name="Pastille 194"/>
          <p:cNvSpPr/>
          <p:nvPr/>
        </p:nvSpPr>
        <p:spPr>
          <a:xfrm>
            <a:off x="3474720" y="132588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e 195"/>
          <p:cNvSpPr txBox="1"/>
          <p:nvPr/>
        </p:nvSpPr>
        <p:spPr>
          <a:xfrm>
            <a:off x="347472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Des protocoles standard</a:t>
            </a:r>
            <a:endParaRPr lang="en-US" sz="1600" dirty="0"/>
          </a:p>
        </p:txBody>
      </p:sp>
      <p:sp>
        <p:nvSpPr>
          <p:cNvPr id="10" name="Texte 196"/>
          <p:cNvSpPr txBox="1"/>
          <p:nvPr/>
        </p:nvSpPr>
        <p:spPr>
          <a:xfrm>
            <a:off x="3474720" y="2176272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SIP, SDP, RTP, RTCP et SRTP se répartissent signalisation, transport et sécurité.</a:t>
            </a:r>
            <a:endParaRPr lang="en-US" sz="1400" dirty="0"/>
          </a:p>
        </p:txBody>
      </p:sp>
      <p:sp>
        <p:nvSpPr>
          <p:cNvPr id="11" name="Carte 197"/>
          <p:cNvSpPr/>
          <p:nvPr/>
        </p:nvSpPr>
        <p:spPr>
          <a:xfrm>
            <a:off x="612648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12" name="Pastille 198"/>
          <p:cNvSpPr/>
          <p:nvPr/>
        </p:nvSpPr>
        <p:spPr>
          <a:xfrm>
            <a:off x="6309360" y="1325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e 199"/>
          <p:cNvSpPr txBox="1"/>
          <p:nvPr/>
        </p:nvSpPr>
        <p:spPr>
          <a:xfrm>
            <a:off x="630936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Une qualité à maîtriser</a:t>
            </a:r>
            <a:endParaRPr lang="en-US" sz="1600" dirty="0"/>
          </a:p>
        </p:txBody>
      </p:sp>
      <p:sp>
        <p:nvSpPr>
          <p:cNvPr id="14" name="Texte 200"/>
          <p:cNvSpPr txBox="1"/>
          <p:nvPr/>
        </p:nvSpPr>
        <p:spPr>
          <a:xfrm>
            <a:off x="6309360" y="2176272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QoS, réseau fiable, alimentation de secours et sécurité conditionnent la réussite.</a:t>
            </a:r>
            <a:endParaRPr lang="en-US" sz="1400" dirty="0"/>
          </a:p>
        </p:txBody>
      </p:sp>
      <p:sp>
        <p:nvSpPr>
          <p:cNvPr id="15" name="Merci 201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Merci de votre attention. Des questions 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lephonie IP">
  <a:themeElements>
    <a:clrScheme name="Telephonie IP">
      <a:dk1>
        <a:srgbClr val="14213D"/>
      </a:dk1>
      <a:lt1>
        <a:srgbClr val="FFFFFF"/>
      </a:lt1>
      <a:dk2>
        <a:srgbClr val="0B4F6C"/>
      </a:dk2>
      <a:lt2>
        <a:srgbClr val="EEF5F8"/>
      </a:lt2>
      <a:accent1>
        <a:srgbClr val="0E8FA3"/>
      </a:accent1>
      <a:accent2>
        <a:srgbClr val="D97706"/>
      </a:accent2>
      <a:accent3>
        <a:srgbClr val="2E6FBA"/>
      </a:accent3>
      <a:accent4>
        <a:srgbClr val="C23B4E"/>
      </a:accent4>
      <a:accent5>
        <a:srgbClr val="2F9E8F"/>
      </a:accent5>
      <a:accent6>
        <a:srgbClr val="5B6B80"/>
      </a:accent6>
      <a:hlink>
        <a:srgbClr val="2E6FBA"/>
      </a:hlink>
      <a:folHlink>
        <a:srgbClr val="5B6B80"/>
      </a:folHlink>
    </a:clrScheme>
    <a:fontScheme name="Telephonie I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1412</Words>
  <Application>Microsoft Office PowerPoint</Application>
  <PresentationFormat>Affichage à l'écran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Telephonie IP</vt:lpstr>
      <vt:lpstr>Présentation PowerPoint</vt:lpstr>
      <vt:lpstr>Plan de la présentation</vt:lpstr>
      <vt:lpstr>Définition de la téléphonie IP</vt:lpstr>
      <vt:lpstr>Fonctionnement d'un appel IP</vt:lpstr>
      <vt:lpstr>Architecture d'un système de téléphonie IP</vt:lpstr>
      <vt:lpstr>Protocoles : SIP, SDP, RTP, RTCP, SRTP</vt:lpstr>
      <vt:lpstr>Équipements et logiciels nécessaires</vt:lpstr>
      <vt:lpstr>Les avantages de la téléphonie IP</vt:lpstr>
      <vt:lpstr>Les limites de la téléphonie IP</vt:lpstr>
      <vt:lpstr>Qualité de service (QoS)</vt:lpstr>
      <vt:lpstr>Sécurité et domaines d'utilisation</vt:lpstr>
      <vt:lpstr>Conclusion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téléphonie sur IP</dc:title>
  <dc:subject>Téléphonie sur IP</dc:subject>
  <dc:creator>PptxGenJS</dc:creator>
  <cp:lastModifiedBy>ndeye mama</cp:lastModifiedBy>
  <cp:revision>5</cp:revision>
  <dcterms:created xsi:type="dcterms:W3CDTF">2026-10-13T23:54:33Z</dcterms:created>
  <dcterms:modified xsi:type="dcterms:W3CDTF">2026-10-21T09:06:05Z</dcterms:modified>
</cp:coreProperties>
</file>