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5" r:id="rId19"/>
    <p:sldId id="277" r:id="rId20"/>
    <p:sldId id="278"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2318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Présentez-vous brièvement : établissement, formation, module Services à Valeur Ajoutée. Annoncez le fil conducteur : on part d’un problème concret (des outils dispersés), on définit la communication unifiée, on explique son fonctionnement technique (SIP, RTP, WebRTC), puis on compare les modèles de déploiement et on termine par la sécurité, les limites et une proposition pour l’UASZ. Durée visée : environ 25 à 30 minutes. Transition : commençons par une situation que tout le monde connaît.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Racontez la scène comme une histoire : il est 8 h, le conseil de département commence à 10 h, l’enseignant a besoin d’une information de la scolarité. Il appelle : occupé. Il écrit un e-mail : pas de réponse, il ne sait pas si la personne est présente. Il tente le groupe de messagerie : le message se perd parmi d’autres. Chaque outil fonctionne, mais il n’existe aucun lien entre eux : pas de présence commune, pas d’annuaire commun, pas de passage fluide d’un média à l’autre. Insistez : ce scénario est illustratif, il ne décrit pas un cas réel de l’UASZ. Question possible du public : « Mais on a WhatsApp, ça ne suffit pas ? » Réponse : un outil grand public ne gère ni annuaire d’entreprise, ni intégration à la téléphonie, ni contrôle d’accès centralisé. Transition : comment en est-on arrivé là, et comment a-t-on cherché à résoudre ce problème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frise est une simplification : dans la pratique, les étapes coexistent et les organisations avancent à des rythmes différents. Étape 1 : la téléphonie classique utilisait un réseau dédié à la voix, avec un autocommutateur (PBX) ; elle ne parlait pas avec la messagerie ou l’informatique. Étape 2 : la voix migre sur le réseau IP, c’est la VoIP ; SIP gère les appels, RTP transporte la voix. Étape 3 : on ajoute messagerie instantanée, présence et visioconférence, mais souvent avec des produits séparés. Étape 4 : les plateformes intégrées regroupent ces services avec un compte unique, souvent en cloud et accessibles depuis un navigateur. Les cinq objectifs en bas sont la réponse aux limites vues sur la diapositive précédente. Question possible : « La téléphonie classique a-t-elle disparu ? » Non, elle reste présente (réseau téléphonique public), d’où les passerelles que nous verrons dans l’architecture. Transition : maintenant que le contexte est posé, définissons précisément le terme.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Donnez la définition en une phrase, puis décomposez. L’idée centrale n’est pas « beaucoup de fonctions », mais « des fonctions reliées ». Trois critères pratiques pour dire qu’une solution est réellement unifiée : une identité commune (même compte et même annuaire), une présence partagée (si je suis en appel, le chat l’indique), et la possibilité de changer de média au cours d’une même conversation (d’un message à un appel, puis à un partage d’écran). Exemple concret : depuis une conversation écrite avec un collègue, on clique pour l’appeler, puis on partage un document, sans quitter l’interface. Contre-exemple : cinq applications installées côte à côte sans lien entre elles, ce n’est pas de la communication unifiée, c’est de l’intégration légère. Cette nuance est développée sur la diapositive suivante. Transition : quelle différence entre UC, UCC, UCaaS et simples outils intégrés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évite une confusion fréquente. UC décrit le niveau d’intégration. UCC ajoute la dimension collaboration, comme les espaces d’équipe ou le travail sur des documents ; dans le marché, les deux termes se recouvrent souvent. UCaaS décrit autre chose : le mode de livraison. On peut avoir de l’UC sur site (une solution installée dans ses propres locaux) ou en UCaaS (hébergée chez un prestataire). Les « outils simplement intégrés » sont le cas à éviter de prendre pour de l’UC : ils partagent peut-être un lien ou une notification, mais pas l’identité, l’annuaire ni la présence. Question possible : « Teams, c’est UC ou UCaaS ? » Réponse : Teams est une plateforme qui relève de l’UCC et qui est délivrée en service cloud, donc les deux notions se superposent. Transition : de quels composants se compose une solution UC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Passez les neuf briques sans les réciter une à une : regroupez-les en trois familles. Les médias : téléphonie IP, messagerie instantanée, visioconférence, messagerie vocale, partage d’écran et de fichiers. Le contexte : présence et annuaire, qui permettent de savoir qui est qui et qui est disponible. L’accès : la mobilité, c’est-à-dire retrouver le même environnement sur ordinateur, téléphone ou navigateur. Insistez sur le fait que l’annuaire et la présence sont les deux briques qui transforment une pile d’outils en solution unifiée. Exemple concret : la présence indique « en réunion » dans le chat, et l’appel est automatiquement orienté vers la messagerie vocale. Question possible : « Une messagerie vocale est-elle indispensable ? » Pas toujours, mais elle reste utile pour les appels manqués, et dans une solution UC elle peut être transcrite et envoyée par e-mail. Transition : voyons maintenant comment ces briques sont organisées techniquement.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Lisez le schéma de gauche à droite. À gauche, les terminaux : un ordinateur avec client UC, un téléphone IP, un mobile ou un navigateur utilisant WebRTC. Au centre, la plateforme UC avec trois fonctions : la signalisation (le proxy et registrar SIP qui enregistre les utilisateurs et établit les appels), le serveur de médias (conférence, mixage, éventuellement enregistrement) et la messagerie avec présence. À droite : l’annuaire pour l’authentification (LDAP ou Active Directory selon la solution), la passerelle vers le réseau téléphonique public (RTC) pour appeler des numéros classiques, et les services cloud lorsque le modèle les prévoit. Point essentiel à expliquer : le plan de signalisation (qui appelle qui, avec quels paramètres) est séparé du plan média (la voix et la vidéo elles-mêmes). Selon l’architecture, les médias peuvent aller directement d’un terminal à l’autre ou passer par un serveur de médias. Ce schéma est une architecture générique de référence, pas celle d’un produit précis. Question possible : « Pourquoi séparer les deux plans ? » Parce que la signalisation est légère et sensible à la sécurité, alors que le média est volumineux et sensible au délai ; on les traite différemment (priorité QoS, chiffrement, pare-feu). Transition : déroulons maintenant un appel pas à pas.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Déroulez la scène : Alice appelle Bob. Avant tout, les deux terminaux se sont enregistrés auprès du serveur SIP (message REGISTER), ce qui permet au serveur de savoir où joindre chaque utilisateur. Étape 1 : le terminal A envoie un INVITE contenant une description de session SDP : « voici les codecs et le port où je peux recevoir l’audio ». Étape 2 : le serveur relaie l’INVITE vers B. Étape 3 : B sonne (180 Ringing), puis décroche (200 OK) avec sa propre réponse SDP : les deux terminaux se sont mis d’accord sur un codec. Étape 4 : A confirme avec ACK. Alors seulement le média circule en RTP, ou en SRTP s’il est chiffré, directement entre les terminaux ou via un serveur de médias selon l’architecture. À la fin, BYE termine la session. Chiffre à retenir seulement si on vous le demande : SIP définit la création, la modification et la fin des sessions (RFC 3261) ; il n’est pas le transport de la voix. Question possible : « Que se passe-t-il derrière un NAT ? » Réponse : c’est le rôle d’ICE, STUN et TURN, présentés plus loin. Transition : ce que nous venons de voir peut être déployé de plusieurs manières.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quatre modèles répondent à la même question : où s’exécute la plateforme et qui en a la charge ? Sur site : l’organisation possède et administre tout, y compris les mises à jour et la sauvegarde ; c’est le plus grand contrôle, mais aussi la plus grande responsabilité. Hébergé : un prestataire exploite une plateforme pour vous, souvent dédiée à votre organisation. Cloud ou UCaaS : le service est mutualisé et facturé par abonnement ; on se connecte avec une application ou un navigateur. Hybride : on garde certains éléments sur site (par exemple la téléphonie ou l’annuaire) et on utilise le cloud pour d’autres (par exemple la visioconférence). Les solutions comme Asterisk ou 3CX peuvent être installées sur ses propres serveurs ; 3CX peut aussi être hébergé par l’éditeur ou chez un fournisseur cloud, selon sa documentation commerciale. Rappelez que le bon choix dépend du contexte : compétences internes, budget, contraintes sur les données, qualité de la connexion Internet. Question possible : « Quel modèle conviendrait à une université sénégalaise ? » Réponse prudente : cela dépend de la fiabilité de la connexion Internet et des compétences disponibles ; un hybride ou un déploiement progressif limite le risque. Transition : comparons-les sur des critères précis.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donne des tendances générales, pas des valeurs : un déploiement sur site peut coûter moins cher à long terme pour une grande organisation qui a déjà les compétences, alors qu’un cloud peut être plus économique pour une petite structure. Parcourez les lignes : le contrôle est maximal sur site, mais la maintenance (mises à jour, sauvegardes, supervision) revient à l’équipe interne. Le cloud réduit la maintenance et accélère le déploiement, au prix d’une dépendance au fournisseur et à la connexion Internet. L’hybride cherche un compromis, mais ajoute de la complexité d’intégration. Sur la sécurité, il faut éviter la fausse idée « cloud = moins sûr » ou « sur site = plus sûr » : la sécurité dépend de la qualité de l’administration et de la répartition des responsabilités. Question possible : « Lequel est le moins cher ? » Réponse : cela dépend du nombre d’utilisateurs, de la durée d’utilisation et des coûts de personnel ; il faut comparer le coût total sur plusieurs années, pas seulement le prix d’entrée. Transition : passons aux protocoles qui rendent tout cela possible.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classe les technologies par rôle, ce qui aide à ne pas les confondre. Signalisation : SIP établit, modifie et termine les sessions ; SDP décrit les paramètres de la session (codecs, adresse, port) et voyage dans les messages SIP ; TLS peut chiffrer la signalisation, mais seulement lorsqu’il est activé. Transport média : RTP transporte la voix et la vidéo en temps réel ; SRTP est la variante protégée, avec chiffrement, authentification des messages et protection contre le rejeu (RFC 3711). Les codecs (Opus, G.711, H.264) compressent et décompressent les flux ; leur disponibilité dépend des plateformes et des terminaux, et deux terminaux négocient un codec commun grâce à SDP. Services réseau : DNS retrouve les serveurs ; DHCP configure les terminaux ; NTP synchronise les horloges, utile pour les journaux et les certificats ; LDAP ou Active Directory fournissent l’annuaire ; la QoS donne la priorité au trafic temps réel. Question possible : « Quelle différence entre RTP et SIP ? » Réponse : SIP organise l’appel, RTP porte le contenu de l’appel. Transition : voyons ces protocoles à l’œuvre dans un message réel.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 exemple est volontairement simplifié : un vrai INVITE contient d’autres en-têtes (Via, Call-ID, CSeq, Contact) que nous avons omis pour la lisibilité. Les adresses et noms sont fictifs. En orange, la partie SIP : elle dit qui appelle qui, et indique que le corps du message est du SDP. En vert, la partie SDP, qui est l’offre : « je peux recevoir de l’audio à cette adresse IP, sur ce port, en G.711 µ-law (PCMU) ou en Opus ». La ligne m= décrit le média : audio, port 49170, profil RTP, et deux formats numérotés 0 et 111 ; les lignes a=rtpmap associent ces numéros à des codecs. Le destinataire répondra avec un SDP qui retient un codec commun. Ensuite, les paquets RTP circuleront vers l’adresse et le port annoncés. Si on vous demande : « Pourquoi 111 pour Opus ? » Réponse : G.711 µ-law a un numéro statique (0), alors qu’Opus utilise un numéro dynamique annoncé par la ligne rtpmap. Si le chiffrement du média est utilisé, le profil indiqué dans la ligne m= change et SRTP remplace RTP. Transition : et dans le navigateur, sans téléphone IP ni client installé ? C’est le rôle de WebRTC.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Problème de départ : un navigateur situé derrière un routeur NAT ne connaît que son adresse privée, que l’autre participant ne peut pas joindre depuis Internet. WebRTC permet des communications audio et vidéo en temps réel directement depuis un navigateur, sans plugin, et s’appuie sur ICE pour trouver un chemin. ICE rassemble des « candidats » (adresses possibles) et les teste. Trois types, du plus direct au moins direct : les candidats host (adresse locale), les candidats server reflexive (adresse publique vue de l’extérieur, découverte par un serveur STUN) et les candidats relay (passage par un serveur TURN). TURN consomme de la bande passante sur le serveur, c’est donc le dernier recours. Remarque importante : WebRTC ne normalise pas la signalisation ; l’application choisit comment échanger les descriptions SDP et les candidats (par exemple via WebSocket). Exemple concret : une visioconférence dans le navigateur entre deux étudiants sur des réseaux différents ; si les deux sont derrière des pare-feu stricts, le flux passera par TURN. Question possible : « WebRTC est-il chiffré ? » Réponse : oui, WebRTC impose le chiffrement des médias (SRTP) ; ne pas entrer dans le détail du mécanisme sauf si on vous le demande. Transition : quels produits utilisent ces briques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répond à la consigne « ne pas se contenter d’énumérer des acronymes » : on suit une visioconférence de bout en bout. Étape 1 : le poste obtient une adresse (DHCP) et résout le nom du serveur (DNS). Étape 2 : l’utilisateur s’authentifie ; selon la solution, l’annuaire est LDAP ou Active Directory. Étape 3 : le client s’enregistre en SIP, éventuellement protégé par TLS, puis envoie l’invitation. Étape 4 : SDP permet de négocier les codecs. Étape 5 : ICE, avec STUN et TURN, trouve un chemin à travers les NAT. Étape 6 : le média circule en SRTP, et la QoS donne la priorité à ce trafic. Codecs : Opus et G.711 pour l’audio, H.264 pour la vidéo ; la disponibilité dépend des plateformes et des terminaux, c’est pourquoi la négociation existe. Dans une plateforme web, plusieurs étapes sont automatiques et invisibles pour l’utilisateur ; c’est la force de la communication unifiée. Question possible : « Tout se passe-t-il toujours dans cet ordre ? » Non : l’ordre exact varie selon la plateforme, et les solutions propriétaires utilisent parfois leurs propres mécanismes. Transition : voyons les plateformes qui mettent ces briques en œuvre.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ne compare pas des prix ni ne fait de publicité : elle distingue deux familles. À gauche, les plateformes collaboratives cloud : Microsoft Teams (réunions, messagerie et appels, dans l’écosystème Microsoft 365), Cisco Webex (suite d’appels, réunions et messagerie) et Zoom Workplace (réunions, téléphonie et chat réunis). Dans ce modèle, c’est le fournisseur qui exploite l’infrastructure. À droite, la téléphonie que l’on peut héberger et administrer soi-même : Asterisk est un PBX logiciel open source, fonctionne sur Linux, BSD, Windows et macOS, et s’appuie sur le pilote SIP PJSIP (l’ancien module chan_sip n’est plus compilé par défaut depuis Asterisk 20). 3CX est un PBX et une plateforme de communications unifiées logicielle, qui peut être installée sur Windows ou Linux, hébergée dans un cloud choisi par l’organisation ou hébergée par l’éditeur, selon sa documentation commerciale. Précisez que les descriptions sont générales et que les fonctions évoluent ; il faut consulter la documentation officielle de chaque produit avant un choix. Question possible : « Laquelle choisir ? » Réponse : cela dépend des besoins, des compétences et du budget ; pour apprendre, Asterisk est un excellent terrain d’expérimentation. Transition : où utilise-t-on ces solutions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montre que le même principe s’adapte à des contextes différents. Entreprises : un standard téléphonique unique, un annuaire commun et la possibilité d’appeler les clients depuis l’outil de travail. Universités et écoles : cours à distance, annonces, échanges entre enseignants et étudiants. Télétravail : la même identité et la même présence, quel que soit le lieu. Centres de contact : files d’attente, transferts d’appel et historique des échanges avec un client. Administrations publiques : échanges entre services avec des exigences fortes sur l’accès et la protection des données. Équipes techniques : dans une salle de supervision, une alerte peut déclencher une discussion, un appel et un partage d’écran sans changer d’outil. Chaque contexte a ses contraintes : une université a besoin de grandes réunions et d’un annuaire d’étudiants, un centre de contact de statistiques et d’enregistrement. Question possible : « Un exemple dans un contexte comme le nôtre ? » C’est la diapositive suivante. Transition : appliquons l’idée à l’UASZ, sous forme de proposition.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idées structurent la diapositive : des mesures de protection (à gauche) et les risques qu’elles réduisent (à droite). Identité et accès : une authentification multifacteur protège les comptes ; le principe du moindre privilège limite les dégâts d’un compte compromis ; les comptes d’administration sont distincts des comptes courants. Chiffrement : TLS peut protéger la signalisation et SRTP protège les médias avec chiffrement et authentification des messages (RFC 3711) ; un flux RTP non protégé peut être écouté par quiconque capture le trafic. Serveurs et équipements : appliquer les mises à jour, désactiver ce qui est inutile, filtrer avec un pare-feu et limiter l’accès à l’administration. Données et continuité : sauvegardes, journaux pour comprendre un incident, procédure de réponse en cas de problème, et respect de la vie privée (qui peut écouter, enregistrer ou conserver quoi). Risques : mauvaise configuration (par exemple un serveur de téléphonie exposé avec des mots de passe faibles), interception, indisponibilité. Nous ne donnons pas de statistiques d’attaques, faute de source vérifiée. Question possible : « Le cloud est-il moins sûr ? » Réponse : pas nécessairement ; la sécurité dépend de la répartition des responsabilités et de la qualité de l’administration. Transition : après les mesures, un bilan honnête des avantages et des limites.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bilan honnête évite de présenter la communication unifiée comme une solution miracle. Avantages : on centralise les outils, on simplifie les échanges (un seul endroit pour joindre quelqu’un), on gagne en mobilité et en travail à distance, l’administration est plus cohérente (un annuaire, des règles communes) et l’intégration avec d’autres systèmes devient possible, par exemple un outil de gestion ou un système de tickets. Limites : tout dépend du réseau et, pour les services distants, d’Internet ; une coupure de lien peut paralyser la communication. La migration et les abonnements ont un coût ; l’intégration avec l’existant (annuaire, anciens téléphones) peut être complexe ; certains modèles créent une dépendance à un fournisseur ; les enjeux de confidentialité sont réels ; et les utilisateurs doivent être formés, avec une maintenance et une supervision continues. Message clé : l’unification déplace une partie de la complexité vers l’architecture et l’exploitation, il faut la prévoir. Question possible : « Quel est le plus grand risque ? » Réponse : sous-estimer la préparation, c’est-à-dire l’audit du réseau et la formation, plus que la technologie elle-même. Transition : quelles évolutions se dessinent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six étapes forment une démarche, pas une liste de courses. Un : analyser les besoins : qui communique avec qui, par quels moyens, avec quelles contraintes de sécurité. Deux : auditer le réseau avant d’acheter quoi que ce soit : bande passante, latence, gigue, perte, possibilités de QoS, règles de pare-feu. Trois : choisir le modèle de déploiement (sur site, hébergé, cloud, hybride) en fonction des compétences internes, du budget et des contraintes sur les données. Quatre : prévoir la sécurité dès la conception : identités, chiffrement, sauvegardes. Cinq : expérimenter avec un groupe pilote, par exemple un département, pour détecter les problèmes avant le déploiement général. Six : former les utilisateurs et superviser la plateforme (qualité des appels, disponibilité), puis améliorer en continu. Exemple : un pilote de quelques semaines peut révéler qu’un pare-feu bloque certains ports média, ce qu’on préfère découvrir avant le déploiement complet. Question possible : « Par où commencer concrètement ? » Réponse : par l’analyse des besoins et l’audit du réseau, car ils conditionnent tout le reste. Transition : synthèse et réponse à la question posée en introduction.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Répondez directement à la question de départ : pourquoi la communication unifiée est-elle devenue un enjeu important dans les infrastructures informatiques modernes ? Trois raisons. Premièrement, les usages : des équipes mobiles, parfois à distance, perdent du temps avec des outils dispersés. Deuxièmement, la technique : la voix, la vidéo et la messagerie circulent désormais sur le réseau IP avec des protocoles ouverts (SIP, RTP, WebRTC), ce qui permet de les intégrer dans une même expérience. Troisièmement, l’exploitation : la communication devient un service d’infrastructure à part entière, qu’il faut dimensionner (réseau, QoS), sécuriser (identités, chiffrement) et superviser. Rappelez aussi les limites : dépendance au réseau, coûts, complexité, confidentialité. Terminez par un remerciement, puis passez les diapositives de glossaire et de références si le jury les demande. Chacun des membres du groupe peut répondre sur la partie qu’il a préparée. Transition : ouvrez la discussion.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6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58"/>
            <a:ext cx="10566400" cy="391160"/>
          </a:xfrm>
          <a:prstGeom prst="rect">
            <a:avLst/>
          </a:prstGeom>
          <a:noFill/>
          <a:ln/>
        </p:spPr>
        <p:txBody>
          <a:bodyPr wrap="square" lIns="0" tIns="0" rIns="0" bIns="0" rtlCol="0" anchor="t"/>
          <a:lstStyle>
            <a:lvl1pPr marL="0" indent="0" algn="l">
              <a:lnSpc>
                <a:spcPct val="115000"/>
              </a:lnSpc>
              <a:buNone/>
              <a:defRPr lang="en-US" sz="2800" dirty="0">
                <a:solidFill>
                  <a:srgbClr val="0B1F3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925318"/>
            <a:ext cx="10566400" cy="4119882"/>
          </a:xfrm>
          <a:prstGeom prst="rect">
            <a:avLst/>
          </a:prstGeom>
          <a:noFill/>
          <a:ln/>
        </p:spPr>
        <p:txBody>
          <a:bodyPr wrap="square" lIns="0" tIns="0" rIns="0" bIns="0" rtlCol="0" anchor="t"/>
          <a:lstStyle>
            <a:lvl1pPr marL="0" indent="0" algn="l">
              <a:lnSpc>
                <a:spcPct val="140000"/>
              </a:lnSpc>
              <a:buNone/>
              <a:defRPr lang="en-US" sz="1600" dirty="0">
                <a:solidFill>
                  <a:srgbClr val="0B1F3A"/>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58"/>
            <a:ext cx="10566400" cy="391160"/>
          </a:xfrm>
          <a:prstGeom prst="rect">
            <a:avLst/>
          </a:prstGeom>
          <a:noFill/>
          <a:ln/>
        </p:spPr>
        <p:txBody>
          <a:bodyPr wrap="square" lIns="0" tIns="0" rIns="0" bIns="0" rtlCol="0" anchor="t"/>
          <a:lstStyle>
            <a:lvl1pPr marL="0" indent="0" algn="l">
              <a:lnSpc>
                <a:spcPct val="115000"/>
              </a:lnSpc>
              <a:buNone/>
              <a:defRPr lang="en-US" sz="2800" dirty="0">
                <a:solidFill>
                  <a:srgbClr val="0B1F3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925318"/>
            <a:ext cx="10566400" cy="4119882"/>
          </a:xfrm>
          <a:prstGeom prst="rect">
            <a:avLst/>
          </a:prstGeom>
          <a:noFill/>
          <a:ln/>
        </p:spPr>
        <p:txBody>
          <a:bodyPr wrap="square" lIns="0" tIns="0" rIns="0" bIns="0" rtlCol="0" anchor="t"/>
          <a:lstStyle>
            <a:lvl1pPr marL="0" indent="0" algn="l">
              <a:lnSpc>
                <a:spcPct val="140000"/>
              </a:lnSpc>
              <a:buNone/>
              <a:defRPr lang="en-US" sz="1600" dirty="0">
                <a:solidFill>
                  <a:srgbClr val="0B1F3A"/>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812800" y="812800"/>
            <a:ext cx="6592824" cy="4876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FF7A1A"/>
                </a:solidFill>
                <a:latin typeface="JetBrains Mono" pitchFamily="49" charset="0"/>
                <a:ea typeface="JetBrains Mono" pitchFamily="49" charset="-122"/>
                <a:cs typeface="JetBrains Mono" pitchFamily="49" charset="-120"/>
              </a:rPr>
              <a:t>SERVICES À VALEUR AJOUTÉE · LICENCE 3 INGÉNIERIE INFORMATIQUE</a:t>
            </a:r>
            <a:endParaRPr lang="en-US" sz="1300" dirty="0"/>
          </a:p>
        </p:txBody>
      </p:sp>
      <p:sp>
        <p:nvSpPr>
          <p:cNvPr id="3" name="Text 1"/>
          <p:cNvSpPr>
            <a:spLocks noGrp="1"/>
          </p:cNvSpPr>
          <p:nvPr>
            <p:ph type="title"/>
          </p:nvPr>
        </p:nvSpPr>
        <p:spPr>
          <a:xfrm>
            <a:off x="812800" y="2224405"/>
            <a:ext cx="6592824" cy="15189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3F6FA"/>
                </a:solidFill>
                <a:latin typeface="Space Grotesk" pitchFamily="34" charset="0"/>
                <a:ea typeface="Space Grotesk" pitchFamily="34" charset="-122"/>
                <a:cs typeface="Space Grotesk" pitchFamily="34" charset="-120"/>
              </a:rPr>
              <a:t>La communication unifiée</a:t>
            </a:r>
            <a:endParaRPr lang="en-US" sz="5600" dirty="0"/>
          </a:p>
        </p:txBody>
      </p:sp>
      <p:sp>
        <p:nvSpPr>
          <p:cNvPr id="4" name="Text 2"/>
          <p:cNvSpPr/>
          <p:nvPr/>
        </p:nvSpPr>
        <p:spPr>
          <a:xfrm>
            <a:off x="812800" y="3921125"/>
            <a:ext cx="6592824" cy="95123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7C4D6"/>
                </a:solidFill>
                <a:latin typeface="Inter" pitchFamily="34" charset="0"/>
                <a:ea typeface="Inter" pitchFamily="34" charset="-122"/>
                <a:cs typeface="Inter" pitchFamily="34" charset="-120"/>
              </a:rPr>
              <a:t>Voix, vidéo, messagerie et présence dans une même plateforme : architectures, protocoles et modèles de déploiement.</a:t>
            </a:r>
            <a:endParaRPr lang="en-US" sz="1800" dirty="0"/>
          </a:p>
        </p:txBody>
      </p:sp>
      <p:sp>
        <p:nvSpPr>
          <p:cNvPr id="5" name="Text 3"/>
          <p:cNvSpPr/>
          <p:nvPr/>
        </p:nvSpPr>
        <p:spPr>
          <a:xfrm>
            <a:off x="812800" y="5796280"/>
            <a:ext cx="659282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7C4D6"/>
                </a:solidFill>
                <a:latin typeface="Inter" pitchFamily="34" charset="0"/>
                <a:ea typeface="Inter" pitchFamily="34" charset="-122"/>
                <a:cs typeface="Inter" pitchFamily="34" charset="-120"/>
              </a:rPr>
              <a:t>Université Assane Seck de Ziguinchor (UASZ)</a:t>
            </a:r>
            <a:endParaRPr lang="en-US" sz="1400" dirty="0"/>
          </a:p>
        </p:txBody>
      </p:sp>
      <p:sp>
        <p:nvSpPr>
          <p:cNvPr id="6" name="Shape 4"/>
          <p:cNvSpPr/>
          <p:nvPr/>
        </p:nvSpPr>
        <p:spPr>
          <a:xfrm>
            <a:off x="7823200" y="1722120"/>
            <a:ext cx="3556000" cy="3413760"/>
          </a:xfrm>
          <a:prstGeom prst="roundRect">
            <a:avLst>
              <a:gd name="adj" fmla="val 4464"/>
            </a:avLst>
          </a:prstGeom>
          <a:solidFill>
            <a:srgbClr val="12305A"/>
          </a:solidFill>
          <a:ln/>
        </p:spPr>
        <p:txBody>
          <a:bodyPr/>
          <a:lstStyle/>
          <a:p>
            <a:endParaRPr lang="fr-FR"/>
          </a:p>
        </p:txBody>
      </p:sp>
      <p:sp>
        <p:nvSpPr>
          <p:cNvPr id="7" name="Shape 5"/>
          <p:cNvSpPr/>
          <p:nvPr/>
        </p:nvSpPr>
        <p:spPr>
          <a:xfrm>
            <a:off x="7823200" y="1722120"/>
            <a:ext cx="3556000" cy="3413760"/>
          </a:xfrm>
          <a:custGeom>
            <a:avLst/>
            <a:gdLst/>
            <a:ahLst/>
            <a:cxnLst/>
            <a:rect l="l" t="t" r="r" b="b"/>
            <a:pathLst>
              <a:path w="3556000" h="3413760">
                <a:moveTo>
                  <a:pt x="152400" y="3413760"/>
                </a:moveTo>
                <a:lnTo>
                  <a:pt x="152400" y="3413760"/>
                </a:lnTo>
                <a:arcTo wR="152400" hR="152400" stAng="5400000" swAng="5400000"/>
                <a:lnTo>
                  <a:pt x="0" y="152400"/>
                </a:lnTo>
                <a:arcTo wR="152400" hR="152400" stAng="10800000" swAng="5400000"/>
                <a:lnTo>
                  <a:pt x="152400" y="0"/>
                </a:lnTo>
                <a:arcTo wR="101600" hR="152400" stAng="16200000" swAng="-5400000"/>
                <a:lnTo>
                  <a:pt x="50800" y="3261360"/>
                </a:lnTo>
                <a:arcTo wR="101600" hR="152400" stAng="10800000" swAng="-5400000"/>
                <a:close/>
              </a:path>
            </a:pathLst>
          </a:custGeom>
          <a:solidFill>
            <a:srgbClr val="FF7A1A"/>
          </a:solidFill>
          <a:ln/>
        </p:spPr>
        <p:txBody>
          <a:bodyPr/>
          <a:lstStyle/>
          <a:p>
            <a:endParaRPr lang="fr-FR"/>
          </a:p>
        </p:txBody>
      </p:sp>
      <p:sp>
        <p:nvSpPr>
          <p:cNvPr id="8" name="Text 6"/>
          <p:cNvSpPr/>
          <p:nvPr/>
        </p:nvSpPr>
        <p:spPr>
          <a:xfrm>
            <a:off x="8229600" y="2077720"/>
            <a:ext cx="28778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17A398"/>
                </a:solidFill>
                <a:latin typeface="JetBrains Mono" pitchFamily="49" charset="0"/>
                <a:ea typeface="JetBrains Mono" pitchFamily="49" charset="-122"/>
                <a:cs typeface="JetBrains Mono" pitchFamily="49" charset="-120"/>
              </a:rPr>
              <a:t>PRÉSENTÉ PAR</a:t>
            </a:r>
            <a:endParaRPr lang="en-US" sz="1200" dirty="0"/>
          </a:p>
        </p:txBody>
      </p:sp>
      <p:sp>
        <p:nvSpPr>
          <p:cNvPr id="9" name="Text 7"/>
          <p:cNvSpPr/>
          <p:nvPr/>
        </p:nvSpPr>
        <p:spPr>
          <a:xfrm>
            <a:off x="8229600" y="2468880"/>
            <a:ext cx="287782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3F6FA"/>
                </a:solidFill>
                <a:latin typeface="Space Grotesk" pitchFamily="34" charset="0"/>
                <a:ea typeface="Space Grotesk" pitchFamily="34" charset="-122"/>
                <a:cs typeface="Space Grotesk" pitchFamily="34" charset="-120"/>
              </a:rPr>
              <a:t>Mouhammad DIALLO</a:t>
            </a:r>
            <a:endParaRPr lang="en-US" sz="1800" dirty="0"/>
          </a:p>
        </p:txBody>
      </p:sp>
      <p:sp>
        <p:nvSpPr>
          <p:cNvPr id="10" name="Text 8"/>
          <p:cNvSpPr/>
          <p:nvPr/>
        </p:nvSpPr>
        <p:spPr>
          <a:xfrm>
            <a:off x="8229600" y="2966720"/>
            <a:ext cx="287782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3F6FA"/>
                </a:solidFill>
                <a:latin typeface="Space Grotesk" pitchFamily="34" charset="0"/>
                <a:ea typeface="Space Grotesk" pitchFamily="34" charset="-122"/>
                <a:cs typeface="Space Grotesk" pitchFamily="34" charset="-120"/>
              </a:rPr>
              <a:t>Eric Manga</a:t>
            </a:r>
            <a:endParaRPr lang="en-US" sz="1800" dirty="0"/>
          </a:p>
        </p:txBody>
      </p:sp>
      <p:sp>
        <p:nvSpPr>
          <p:cNvPr id="11" name="Text 9"/>
          <p:cNvSpPr/>
          <p:nvPr/>
        </p:nvSpPr>
        <p:spPr>
          <a:xfrm>
            <a:off x="8229600" y="3464560"/>
            <a:ext cx="287782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3F6FA"/>
                </a:solidFill>
                <a:latin typeface="Space Grotesk" pitchFamily="34" charset="0"/>
                <a:ea typeface="Space Grotesk" pitchFamily="34" charset="-122"/>
                <a:cs typeface="Space Grotesk" pitchFamily="34" charset="-120"/>
              </a:rPr>
              <a:t>Mouhamed Ngom</a:t>
            </a:r>
            <a:endParaRPr lang="en-US" sz="1800" dirty="0"/>
          </a:p>
        </p:txBody>
      </p:sp>
      <p:sp>
        <p:nvSpPr>
          <p:cNvPr id="12" name="Text 10"/>
          <p:cNvSpPr/>
          <p:nvPr/>
        </p:nvSpPr>
        <p:spPr>
          <a:xfrm>
            <a:off x="8229600" y="3962400"/>
            <a:ext cx="287782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3F6FA"/>
                </a:solidFill>
                <a:latin typeface="Space Grotesk" pitchFamily="34" charset="0"/>
                <a:ea typeface="Space Grotesk" pitchFamily="34" charset="-122"/>
                <a:cs typeface="Space Grotesk" pitchFamily="34" charset="-120"/>
              </a:rPr>
              <a:t>Aminata BA</a:t>
            </a:r>
            <a:endParaRPr lang="en-US" sz="1800" dirty="0"/>
          </a:p>
        </p:txBody>
      </p:sp>
      <p:sp>
        <p:nvSpPr>
          <p:cNvPr id="13" name="Text 11"/>
          <p:cNvSpPr/>
          <p:nvPr/>
        </p:nvSpPr>
        <p:spPr>
          <a:xfrm>
            <a:off x="8229600" y="4460240"/>
            <a:ext cx="287782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3F6FA"/>
                </a:solidFill>
                <a:latin typeface="Space Grotesk" pitchFamily="34" charset="0"/>
                <a:ea typeface="Space Grotesk" pitchFamily="34" charset="-122"/>
                <a:cs typeface="Space Grotesk" pitchFamily="34" charset="-120"/>
              </a:rPr>
              <a:t>Fatou Alarba BA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838200" y="812800"/>
            <a:ext cx="0" cy="213360"/>
          </a:xfrm>
          <a:prstGeom prst="line">
            <a:avLst/>
          </a:prstGeom>
          <a:noFill/>
          <a:ln w="50800">
            <a:solidFill>
              <a:srgbClr val="FF7A1A"/>
            </a:solidFill>
            <a:prstDash val="solid"/>
          </a:ln>
        </p:spPr>
        <p:txBody>
          <a:bodyPr/>
          <a:lstStyle/>
          <a:p>
            <a:endParaRPr lang="fr-FR"/>
          </a:p>
        </p:txBody>
      </p:sp>
      <p:sp>
        <p:nvSpPr>
          <p:cNvPr id="3" name="Text 1"/>
          <p:cNvSpPr/>
          <p:nvPr/>
        </p:nvSpPr>
        <p:spPr>
          <a:xfrm>
            <a:off x="965200" y="812800"/>
            <a:ext cx="107264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MISE EN SITUATION</a:t>
            </a:r>
            <a:endParaRPr lang="en-US" sz="1200" dirty="0"/>
          </a:p>
        </p:txBody>
      </p:sp>
      <p:sp>
        <p:nvSpPr>
          <p:cNvPr id="4" name="Text 2"/>
          <p:cNvSpPr>
            <a:spLocks noGrp="1"/>
          </p:cNvSpPr>
          <p:nvPr>
            <p:ph type="title"/>
          </p:nvPr>
        </p:nvSpPr>
        <p:spPr>
          <a:xfrm>
            <a:off x="812800" y="12801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B1F3A"/>
                </a:solidFill>
                <a:latin typeface="Space Grotesk" pitchFamily="34" charset="0"/>
                <a:ea typeface="Space Grotesk" pitchFamily="34" charset="-122"/>
                <a:cs typeface="Space Grotesk" pitchFamily="34" charset="-120"/>
              </a:rPr>
              <a:t>Une urgence, cinq outils distincts</a:t>
            </a:r>
            <a:endParaRPr lang="en-US" sz="3200" dirty="0"/>
          </a:p>
        </p:txBody>
      </p:sp>
      <p:sp>
        <p:nvSpPr>
          <p:cNvPr id="5" name="Text 3"/>
          <p:cNvSpPr/>
          <p:nvPr/>
        </p:nvSpPr>
        <p:spPr>
          <a:xfrm>
            <a:off x="812800" y="19812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34155"/>
                </a:solidFill>
                <a:latin typeface="Inter" pitchFamily="34" charset="0"/>
                <a:ea typeface="Inter" pitchFamily="34" charset="-122"/>
                <a:cs typeface="Inter" pitchFamily="34" charset="-120"/>
              </a:rPr>
              <a:t>Scénario illustratif : un enseignant doit joindre la scolarité avant un conseil de département.</a:t>
            </a:r>
            <a:endParaRPr lang="en-US" sz="1500" dirty="0"/>
          </a:p>
        </p:txBody>
      </p:sp>
      <p:sp>
        <p:nvSpPr>
          <p:cNvPr id="6" name="Shape 4"/>
          <p:cNvSpPr/>
          <p:nvPr/>
        </p:nvSpPr>
        <p:spPr>
          <a:xfrm>
            <a:off x="815975" y="2505075"/>
            <a:ext cx="1985010" cy="1586865"/>
          </a:xfrm>
          <a:prstGeom prst="roundRect">
            <a:avLst>
              <a:gd name="adj" fmla="val 6202"/>
            </a:avLst>
          </a:prstGeom>
          <a:solidFill>
            <a:srgbClr val="FBFDFF"/>
          </a:solidFill>
          <a:ln w="6350">
            <a:solidFill>
              <a:srgbClr val="D5DEE9"/>
            </a:solidFill>
            <a:prstDash val="solid"/>
          </a:ln>
        </p:spPr>
        <p:txBody>
          <a:bodyPr/>
          <a:lstStyle/>
          <a:p>
            <a:endParaRPr lang="fr-FR"/>
          </a:p>
        </p:txBody>
      </p:sp>
      <p:sp>
        <p:nvSpPr>
          <p:cNvPr id="7" name="Text 5"/>
          <p:cNvSpPr/>
          <p:nvPr/>
        </p:nvSpPr>
        <p:spPr>
          <a:xfrm>
            <a:off x="995680" y="2684780"/>
            <a:ext cx="16764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Téléphone fixe</a:t>
            </a:r>
            <a:endParaRPr lang="en-US" sz="1500" dirty="0"/>
          </a:p>
        </p:txBody>
      </p:sp>
      <p:sp>
        <p:nvSpPr>
          <p:cNvPr id="8" name="Text 6"/>
          <p:cNvSpPr/>
          <p:nvPr/>
        </p:nvSpPr>
        <p:spPr>
          <a:xfrm>
            <a:off x="995680" y="3014980"/>
            <a:ext cx="1676400"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34155"/>
                </a:solidFill>
                <a:latin typeface="Inter" pitchFamily="34" charset="0"/>
                <a:ea typeface="Inter" pitchFamily="34" charset="-122"/>
                <a:cs typeface="Inter" pitchFamily="34" charset="-120"/>
              </a:rPr>
              <a:t>Ligne occupée, aucun renvoi vers le portable.</a:t>
            </a:r>
            <a:endParaRPr lang="en-US" sz="1300" dirty="0"/>
          </a:p>
        </p:txBody>
      </p:sp>
      <p:sp>
        <p:nvSpPr>
          <p:cNvPr id="9" name="Shape 7"/>
          <p:cNvSpPr/>
          <p:nvPr/>
        </p:nvSpPr>
        <p:spPr>
          <a:xfrm>
            <a:off x="2959735" y="2505075"/>
            <a:ext cx="1985010" cy="1586865"/>
          </a:xfrm>
          <a:prstGeom prst="roundRect">
            <a:avLst>
              <a:gd name="adj" fmla="val 6202"/>
            </a:avLst>
          </a:prstGeom>
          <a:solidFill>
            <a:srgbClr val="FBFDFF"/>
          </a:solidFill>
          <a:ln w="6350">
            <a:solidFill>
              <a:srgbClr val="D5DEE9"/>
            </a:solidFill>
            <a:prstDash val="solid"/>
          </a:ln>
        </p:spPr>
        <p:txBody>
          <a:bodyPr/>
          <a:lstStyle/>
          <a:p>
            <a:endParaRPr lang="fr-FR"/>
          </a:p>
        </p:txBody>
      </p:sp>
      <p:sp>
        <p:nvSpPr>
          <p:cNvPr id="10" name="Text 8"/>
          <p:cNvSpPr/>
          <p:nvPr/>
        </p:nvSpPr>
        <p:spPr>
          <a:xfrm>
            <a:off x="3139440" y="2684780"/>
            <a:ext cx="16764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E-mail</a:t>
            </a:r>
            <a:endParaRPr lang="en-US" sz="1500" dirty="0"/>
          </a:p>
        </p:txBody>
      </p:sp>
      <p:sp>
        <p:nvSpPr>
          <p:cNvPr id="11" name="Text 9"/>
          <p:cNvSpPr/>
          <p:nvPr/>
        </p:nvSpPr>
        <p:spPr>
          <a:xfrm>
            <a:off x="3139440" y="3014980"/>
            <a:ext cx="1676400"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34155"/>
                </a:solidFill>
                <a:latin typeface="Inter" pitchFamily="34" charset="0"/>
                <a:ea typeface="Inter" pitchFamily="34" charset="-122"/>
                <a:cs typeface="Inter" pitchFamily="34" charset="-120"/>
              </a:rPr>
              <a:t>Réponse attendue, mais absence non visible.</a:t>
            </a:r>
            <a:endParaRPr lang="en-US" sz="1300" dirty="0"/>
          </a:p>
        </p:txBody>
      </p:sp>
      <p:sp>
        <p:nvSpPr>
          <p:cNvPr id="12" name="Shape 10"/>
          <p:cNvSpPr/>
          <p:nvPr/>
        </p:nvSpPr>
        <p:spPr>
          <a:xfrm>
            <a:off x="5103495" y="2505075"/>
            <a:ext cx="1985010" cy="1586865"/>
          </a:xfrm>
          <a:prstGeom prst="roundRect">
            <a:avLst>
              <a:gd name="adj" fmla="val 6202"/>
            </a:avLst>
          </a:prstGeom>
          <a:solidFill>
            <a:srgbClr val="FBFDFF"/>
          </a:solidFill>
          <a:ln w="6350">
            <a:solidFill>
              <a:srgbClr val="D5DEE9"/>
            </a:solidFill>
            <a:prstDash val="solid"/>
          </a:ln>
        </p:spPr>
        <p:txBody>
          <a:bodyPr/>
          <a:lstStyle/>
          <a:p>
            <a:endParaRPr lang="fr-FR"/>
          </a:p>
        </p:txBody>
      </p:sp>
      <p:sp>
        <p:nvSpPr>
          <p:cNvPr id="13" name="Text 11"/>
          <p:cNvSpPr/>
          <p:nvPr/>
        </p:nvSpPr>
        <p:spPr>
          <a:xfrm>
            <a:off x="5283200" y="2684780"/>
            <a:ext cx="16764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Visio isolée</a:t>
            </a:r>
            <a:endParaRPr lang="en-US" sz="1500" dirty="0"/>
          </a:p>
        </p:txBody>
      </p:sp>
      <p:sp>
        <p:nvSpPr>
          <p:cNvPr id="14" name="Text 12"/>
          <p:cNvSpPr/>
          <p:nvPr/>
        </p:nvSpPr>
        <p:spPr>
          <a:xfrm>
            <a:off x="5283200" y="3014980"/>
            <a:ext cx="1676400"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34155"/>
                </a:solidFill>
                <a:latin typeface="Inter" pitchFamily="34" charset="0"/>
                <a:ea typeface="Inter" pitchFamily="34" charset="-122"/>
                <a:cs typeface="Inter" pitchFamily="34" charset="-120"/>
              </a:rPr>
              <a:t>Lien à créer à part, hors annuaire.</a:t>
            </a:r>
            <a:endParaRPr lang="en-US" sz="1300" dirty="0"/>
          </a:p>
        </p:txBody>
      </p:sp>
      <p:sp>
        <p:nvSpPr>
          <p:cNvPr id="15" name="Shape 13"/>
          <p:cNvSpPr/>
          <p:nvPr/>
        </p:nvSpPr>
        <p:spPr>
          <a:xfrm>
            <a:off x="7247255" y="2505075"/>
            <a:ext cx="1985010" cy="1586865"/>
          </a:xfrm>
          <a:prstGeom prst="roundRect">
            <a:avLst>
              <a:gd name="adj" fmla="val 6202"/>
            </a:avLst>
          </a:prstGeom>
          <a:solidFill>
            <a:srgbClr val="FBFDFF"/>
          </a:solidFill>
          <a:ln w="6350">
            <a:solidFill>
              <a:srgbClr val="D5DEE9"/>
            </a:solidFill>
            <a:prstDash val="solid"/>
          </a:ln>
        </p:spPr>
        <p:txBody>
          <a:bodyPr/>
          <a:lstStyle/>
          <a:p>
            <a:endParaRPr lang="fr-FR"/>
          </a:p>
        </p:txBody>
      </p:sp>
      <p:sp>
        <p:nvSpPr>
          <p:cNvPr id="16" name="Text 14"/>
          <p:cNvSpPr/>
          <p:nvPr/>
        </p:nvSpPr>
        <p:spPr>
          <a:xfrm>
            <a:off x="7426960" y="2684780"/>
            <a:ext cx="16764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Chat de groupe</a:t>
            </a:r>
            <a:endParaRPr lang="en-US" sz="1500" dirty="0"/>
          </a:p>
        </p:txBody>
      </p:sp>
      <p:sp>
        <p:nvSpPr>
          <p:cNvPr id="17" name="Text 15"/>
          <p:cNvSpPr/>
          <p:nvPr/>
        </p:nvSpPr>
        <p:spPr>
          <a:xfrm>
            <a:off x="7426960" y="3014980"/>
            <a:ext cx="1676400"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34155"/>
                </a:solidFill>
                <a:latin typeface="Inter" pitchFamily="34" charset="0"/>
                <a:ea typeface="Inter" pitchFamily="34" charset="-122"/>
                <a:cs typeface="Inter" pitchFamily="34" charset="-120"/>
              </a:rPr>
              <a:t>Messages dispersés entre plusieurs groupes.</a:t>
            </a:r>
            <a:endParaRPr lang="en-US" sz="1300" dirty="0"/>
          </a:p>
        </p:txBody>
      </p:sp>
      <p:sp>
        <p:nvSpPr>
          <p:cNvPr id="18" name="Shape 16"/>
          <p:cNvSpPr/>
          <p:nvPr/>
        </p:nvSpPr>
        <p:spPr>
          <a:xfrm>
            <a:off x="9391015" y="2505075"/>
            <a:ext cx="1985010" cy="1586865"/>
          </a:xfrm>
          <a:prstGeom prst="roundRect">
            <a:avLst>
              <a:gd name="adj" fmla="val 6202"/>
            </a:avLst>
          </a:prstGeom>
          <a:solidFill>
            <a:srgbClr val="FBFDFF"/>
          </a:solidFill>
          <a:ln w="6350">
            <a:solidFill>
              <a:srgbClr val="D5DEE9"/>
            </a:solidFill>
            <a:prstDash val="solid"/>
          </a:ln>
        </p:spPr>
        <p:txBody>
          <a:bodyPr/>
          <a:lstStyle/>
          <a:p>
            <a:endParaRPr lang="fr-FR"/>
          </a:p>
        </p:txBody>
      </p:sp>
      <p:sp>
        <p:nvSpPr>
          <p:cNvPr id="19" name="Text 17"/>
          <p:cNvSpPr/>
          <p:nvPr/>
        </p:nvSpPr>
        <p:spPr>
          <a:xfrm>
            <a:off x="9570720" y="2684780"/>
            <a:ext cx="1676400"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Dossiers partagés</a:t>
            </a:r>
            <a:endParaRPr lang="en-US" sz="1500" dirty="0"/>
          </a:p>
        </p:txBody>
      </p:sp>
      <p:sp>
        <p:nvSpPr>
          <p:cNvPr id="20" name="Text 18"/>
          <p:cNvSpPr/>
          <p:nvPr/>
        </p:nvSpPr>
        <p:spPr>
          <a:xfrm>
            <a:off x="9570720" y="3243580"/>
            <a:ext cx="1676400"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34155"/>
                </a:solidFill>
                <a:latin typeface="Inter" pitchFamily="34" charset="0"/>
                <a:ea typeface="Inter" pitchFamily="34" charset="-122"/>
                <a:cs typeface="Inter" pitchFamily="34" charset="-120"/>
              </a:rPr>
              <a:t>Version du document incertaine.</a:t>
            </a:r>
            <a:endParaRPr lang="en-US" sz="1300" dirty="0"/>
          </a:p>
        </p:txBody>
      </p:sp>
      <p:sp>
        <p:nvSpPr>
          <p:cNvPr id="21" name="Text 19"/>
          <p:cNvSpPr/>
          <p:nvPr/>
        </p:nvSpPr>
        <p:spPr>
          <a:xfrm>
            <a:off x="812800" y="4349115"/>
            <a:ext cx="10566400" cy="967740"/>
          </a:xfrm>
          <a:prstGeom prst="roundRect">
            <a:avLst>
              <a:gd name="adj" fmla="val 10499"/>
            </a:avLst>
          </a:prstGeom>
          <a:solidFill>
            <a:srgbClr val="0B1F3A"/>
          </a:solidFill>
          <a:ln/>
        </p:spPr>
        <p:txBody>
          <a:bodyPr wrap="square" lIns="275042" tIns="173442" rIns="0" bIns="148042" rtlCol="0" anchor="t">
            <a:normAutofit/>
          </a:bodyPr>
          <a:lstStyle/>
          <a:p>
            <a:pPr marL="0" indent="0" algn="l">
              <a:lnSpc>
                <a:spcPts val="2210"/>
              </a:lnSpc>
              <a:buNone/>
            </a:pPr>
            <a:r>
              <a:rPr lang="en-US" sz="1700" dirty="0">
                <a:solidFill>
                  <a:srgbClr val="F3F6FA"/>
                </a:solidFill>
                <a:latin typeface="Space Grotesk" pitchFamily="34" charset="0"/>
                <a:ea typeface="Space Grotesk" pitchFamily="34" charset="-122"/>
                <a:cs typeface="Space Grotesk" pitchFamily="34" charset="-120"/>
              </a:rPr>
              <a:t>Chaque outil fonctionne bien seul. Ensemble, ils font perdre du temps : où, comment et avec quoi joindre la bonne personne ?</a:t>
            </a:r>
            <a:endParaRPr lang="en-US" sz="1700" dirty="0"/>
          </a:p>
        </p:txBody>
      </p:sp>
      <p:sp>
        <p:nvSpPr>
          <p:cNvPr id="22" name="Shape 20"/>
          <p:cNvSpPr/>
          <p:nvPr/>
        </p:nvSpPr>
        <p:spPr>
          <a:xfrm>
            <a:off x="812800" y="4349115"/>
            <a:ext cx="10566400" cy="967740"/>
          </a:xfrm>
          <a:custGeom>
            <a:avLst/>
            <a:gdLst/>
            <a:ahLst/>
            <a:cxnLst/>
            <a:rect l="l" t="t" r="r" b="b"/>
            <a:pathLst>
              <a:path w="10566400" h="967740">
                <a:moveTo>
                  <a:pt x="101600" y="967740"/>
                </a:moveTo>
                <a:lnTo>
                  <a:pt x="101600" y="967740"/>
                </a:lnTo>
                <a:arcTo wR="101600" hR="101600" stAng="5400000" swAng="5400000"/>
                <a:lnTo>
                  <a:pt x="0" y="101600"/>
                </a:lnTo>
                <a:arcTo wR="101600" hR="101600" stAng="10800000" swAng="5400000"/>
                <a:lnTo>
                  <a:pt x="101600" y="0"/>
                </a:lnTo>
                <a:arcTo wR="50800" hR="101600" stAng="16200000" swAng="-5400000"/>
                <a:lnTo>
                  <a:pt x="50800" y="866140"/>
                </a:lnTo>
                <a:arcTo wR="50800" hR="101600" stAng="10800000" swAng="-5400000"/>
                <a:close/>
              </a:path>
            </a:pathLst>
          </a:custGeom>
          <a:solidFill>
            <a:srgbClr val="FF7A1A"/>
          </a:solidFill>
          <a:ln/>
        </p:spPr>
        <p:txBody>
          <a:bodyPr/>
          <a:lstStyle/>
          <a:p>
            <a:endParaRPr lang="fr-FR"/>
          </a:p>
        </p:txBody>
      </p:sp>
      <p:sp>
        <p:nvSpPr>
          <p:cNvPr id="23" name="Text 21"/>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Inter" pitchFamily="34" charset="0"/>
                <a:ea typeface="Inter" pitchFamily="34" charset="-122"/>
                <a:cs typeface="Inter" pitchFamily="34" charset="-120"/>
              </a:rPr>
              <a:t>Situation hypothétique, construite pour illustrer le problème.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838200" y="812800"/>
            <a:ext cx="0" cy="213360"/>
          </a:xfrm>
          <a:prstGeom prst="line">
            <a:avLst/>
          </a:prstGeom>
          <a:noFill/>
          <a:ln w="50800">
            <a:solidFill>
              <a:srgbClr val="FF7A1A"/>
            </a:solidFill>
            <a:prstDash val="solid"/>
          </a:ln>
        </p:spPr>
        <p:txBody>
          <a:bodyPr/>
          <a:lstStyle/>
          <a:p>
            <a:endParaRPr lang="fr-FR"/>
          </a:p>
        </p:txBody>
      </p:sp>
      <p:sp>
        <p:nvSpPr>
          <p:cNvPr id="3" name="Text 1"/>
          <p:cNvSpPr/>
          <p:nvPr/>
        </p:nvSpPr>
        <p:spPr>
          <a:xfrm>
            <a:off x="965200" y="812800"/>
            <a:ext cx="107264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CONTEXTE</a:t>
            </a:r>
            <a:endParaRPr lang="en-US" sz="1200" dirty="0"/>
          </a:p>
        </p:txBody>
      </p:sp>
      <p:sp>
        <p:nvSpPr>
          <p:cNvPr id="4" name="Text 2"/>
          <p:cNvSpPr>
            <a:spLocks noGrp="1"/>
          </p:cNvSpPr>
          <p:nvPr>
            <p:ph type="title"/>
          </p:nvPr>
        </p:nvSpPr>
        <p:spPr>
          <a:xfrm>
            <a:off x="812800" y="12801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B1F3A"/>
                </a:solidFill>
                <a:latin typeface="Space Grotesk" pitchFamily="34" charset="0"/>
                <a:ea typeface="Space Grotesk" pitchFamily="34" charset="-122"/>
                <a:cs typeface="Space Grotesk" pitchFamily="34" charset="-120"/>
              </a:rPr>
              <a:t>De systèmes séparés à une plateforme intégrée</a:t>
            </a:r>
            <a:endParaRPr lang="en-US" sz="3200" dirty="0"/>
          </a:p>
        </p:txBody>
      </p:sp>
      <p:sp>
        <p:nvSpPr>
          <p:cNvPr id="5" name="Shape 3"/>
          <p:cNvSpPr/>
          <p:nvPr/>
        </p:nvSpPr>
        <p:spPr>
          <a:xfrm>
            <a:off x="815975" y="1984375"/>
            <a:ext cx="2180590" cy="1983105"/>
          </a:xfrm>
          <a:prstGeom prst="roundRect">
            <a:avLst>
              <a:gd name="adj" fmla="val 4963"/>
            </a:avLst>
          </a:prstGeom>
          <a:solidFill>
            <a:srgbClr val="FBFDFF"/>
          </a:solidFill>
          <a:ln w="6350">
            <a:solidFill>
              <a:srgbClr val="D5DEE9"/>
            </a:solidFill>
            <a:prstDash val="solid"/>
          </a:ln>
        </p:spPr>
        <p:txBody>
          <a:bodyPr/>
          <a:lstStyle/>
          <a:p>
            <a:endParaRPr lang="fr-FR"/>
          </a:p>
        </p:txBody>
      </p:sp>
      <p:sp>
        <p:nvSpPr>
          <p:cNvPr id="6" name="Text 4"/>
          <p:cNvSpPr/>
          <p:nvPr/>
        </p:nvSpPr>
        <p:spPr>
          <a:xfrm>
            <a:off x="1021080" y="2189480"/>
            <a:ext cx="18234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JetBrains Mono" pitchFamily="49" charset="0"/>
                <a:ea typeface="JetBrains Mono" pitchFamily="49" charset="-122"/>
                <a:cs typeface="JetBrains Mono" pitchFamily="49" charset="-120"/>
              </a:rPr>
              <a:t>01</a:t>
            </a:r>
            <a:endParaRPr lang="en-US" sz="1200" dirty="0"/>
          </a:p>
        </p:txBody>
      </p:sp>
      <p:sp>
        <p:nvSpPr>
          <p:cNvPr id="7" name="Text 5"/>
          <p:cNvSpPr/>
          <p:nvPr/>
        </p:nvSpPr>
        <p:spPr>
          <a:xfrm>
            <a:off x="1021080" y="2504441"/>
            <a:ext cx="1823492"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A"/>
                </a:solidFill>
                <a:latin typeface="Space Grotesk" pitchFamily="34" charset="0"/>
                <a:ea typeface="Space Grotesk" pitchFamily="34" charset="-122"/>
                <a:cs typeface="Space Grotesk" pitchFamily="34" charset="-120"/>
              </a:rPr>
              <a:t>Téléphonie classique</a:t>
            </a:r>
            <a:endParaRPr lang="en-US" sz="1600" dirty="0"/>
          </a:p>
        </p:txBody>
      </p:sp>
      <p:sp>
        <p:nvSpPr>
          <p:cNvPr id="8" name="Text 6"/>
          <p:cNvSpPr/>
          <p:nvPr/>
        </p:nvSpPr>
        <p:spPr>
          <a:xfrm>
            <a:off x="1021080" y="3093720"/>
            <a:ext cx="1823492"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34155"/>
                </a:solidFill>
                <a:latin typeface="Inter" pitchFamily="34" charset="0"/>
                <a:ea typeface="Inter" pitchFamily="34" charset="-122"/>
                <a:cs typeface="Inter" pitchFamily="34" charset="-120"/>
              </a:rPr>
              <a:t>Réseau voix dédié, postes fixes, peu d’intégration.</a:t>
            </a:r>
            <a:endParaRPr lang="en-US" sz="1300" dirty="0"/>
          </a:p>
        </p:txBody>
      </p:sp>
      <p:pic>
        <p:nvPicPr>
          <p:cNvPr id="9" name="Image 0" descr="arrow-right"/>
          <p:cNvPicPr>
            <a:picLocks noChangeAspect="1"/>
          </p:cNvPicPr>
          <p:nvPr/>
        </p:nvPicPr>
        <p:blipFill>
          <a:blip r:embed="rId3"/>
          <a:srcRect/>
          <a:stretch/>
        </p:blipFill>
        <p:spPr>
          <a:xfrm>
            <a:off x="3101340" y="2848928"/>
            <a:ext cx="406400" cy="254000"/>
          </a:xfrm>
          <a:prstGeom prst="rect">
            <a:avLst/>
          </a:prstGeom>
        </p:spPr>
      </p:pic>
      <p:sp>
        <p:nvSpPr>
          <p:cNvPr id="10" name="Shape 7"/>
          <p:cNvSpPr/>
          <p:nvPr/>
        </p:nvSpPr>
        <p:spPr>
          <a:xfrm>
            <a:off x="3612515" y="1984375"/>
            <a:ext cx="2180590" cy="1983105"/>
          </a:xfrm>
          <a:prstGeom prst="roundRect">
            <a:avLst>
              <a:gd name="adj" fmla="val 4963"/>
            </a:avLst>
          </a:prstGeom>
          <a:solidFill>
            <a:srgbClr val="FBFDFF"/>
          </a:solidFill>
          <a:ln w="6350">
            <a:solidFill>
              <a:srgbClr val="D5DEE9"/>
            </a:solidFill>
            <a:prstDash val="solid"/>
          </a:ln>
        </p:spPr>
        <p:txBody>
          <a:bodyPr/>
          <a:lstStyle/>
          <a:p>
            <a:endParaRPr lang="fr-FR"/>
          </a:p>
        </p:txBody>
      </p:sp>
      <p:sp>
        <p:nvSpPr>
          <p:cNvPr id="11" name="Text 8"/>
          <p:cNvSpPr/>
          <p:nvPr/>
        </p:nvSpPr>
        <p:spPr>
          <a:xfrm>
            <a:off x="3817620" y="2189480"/>
            <a:ext cx="18234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JetBrains Mono" pitchFamily="49" charset="0"/>
                <a:ea typeface="JetBrains Mono" pitchFamily="49" charset="-122"/>
                <a:cs typeface="JetBrains Mono" pitchFamily="49" charset="-120"/>
              </a:rPr>
              <a:t>02</a:t>
            </a:r>
            <a:endParaRPr lang="en-US" sz="1200" dirty="0"/>
          </a:p>
        </p:txBody>
      </p:sp>
      <p:sp>
        <p:nvSpPr>
          <p:cNvPr id="12" name="Text 9"/>
          <p:cNvSpPr/>
          <p:nvPr/>
        </p:nvSpPr>
        <p:spPr>
          <a:xfrm>
            <a:off x="3817620" y="2504441"/>
            <a:ext cx="182349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A"/>
                </a:solidFill>
                <a:latin typeface="Space Grotesk" pitchFamily="34" charset="0"/>
                <a:ea typeface="Space Grotesk" pitchFamily="34" charset="-122"/>
                <a:cs typeface="Space Grotesk" pitchFamily="34" charset="-120"/>
              </a:rPr>
              <a:t>VoIP et IPBX</a:t>
            </a:r>
            <a:endParaRPr lang="en-US" sz="1600" dirty="0"/>
          </a:p>
        </p:txBody>
      </p:sp>
      <p:sp>
        <p:nvSpPr>
          <p:cNvPr id="13" name="Text 10"/>
          <p:cNvSpPr/>
          <p:nvPr/>
        </p:nvSpPr>
        <p:spPr>
          <a:xfrm>
            <a:off x="3817620" y="2849880"/>
            <a:ext cx="1823492"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34155"/>
                </a:solidFill>
                <a:latin typeface="Inter" pitchFamily="34" charset="0"/>
                <a:ea typeface="Inter" pitchFamily="34" charset="-122"/>
                <a:cs typeface="Inter" pitchFamily="34" charset="-120"/>
              </a:rPr>
              <a:t>La voix circule sur le réseau IP, avec SIP et RTP.</a:t>
            </a:r>
            <a:endParaRPr lang="en-US" sz="1300" dirty="0"/>
          </a:p>
        </p:txBody>
      </p:sp>
      <p:pic>
        <p:nvPicPr>
          <p:cNvPr id="14" name="Image 1" descr="arrow-right"/>
          <p:cNvPicPr>
            <a:picLocks noChangeAspect="1"/>
          </p:cNvPicPr>
          <p:nvPr/>
        </p:nvPicPr>
        <p:blipFill>
          <a:blip r:embed="rId3"/>
          <a:srcRect/>
          <a:stretch/>
        </p:blipFill>
        <p:spPr>
          <a:xfrm>
            <a:off x="5897880" y="2848928"/>
            <a:ext cx="406400" cy="254000"/>
          </a:xfrm>
          <a:prstGeom prst="rect">
            <a:avLst/>
          </a:prstGeom>
        </p:spPr>
      </p:pic>
      <p:sp>
        <p:nvSpPr>
          <p:cNvPr id="15" name="Shape 11"/>
          <p:cNvSpPr/>
          <p:nvPr/>
        </p:nvSpPr>
        <p:spPr>
          <a:xfrm>
            <a:off x="6409055" y="1984375"/>
            <a:ext cx="2180590" cy="1983105"/>
          </a:xfrm>
          <a:prstGeom prst="roundRect">
            <a:avLst>
              <a:gd name="adj" fmla="val 4963"/>
            </a:avLst>
          </a:prstGeom>
          <a:solidFill>
            <a:srgbClr val="FBFDFF"/>
          </a:solidFill>
          <a:ln w="6350">
            <a:solidFill>
              <a:srgbClr val="D5DEE9"/>
            </a:solidFill>
            <a:prstDash val="solid"/>
          </a:ln>
        </p:spPr>
        <p:txBody>
          <a:bodyPr/>
          <a:lstStyle/>
          <a:p>
            <a:endParaRPr lang="fr-FR"/>
          </a:p>
        </p:txBody>
      </p:sp>
      <p:sp>
        <p:nvSpPr>
          <p:cNvPr id="16" name="Text 12"/>
          <p:cNvSpPr/>
          <p:nvPr/>
        </p:nvSpPr>
        <p:spPr>
          <a:xfrm>
            <a:off x="6614160" y="2189480"/>
            <a:ext cx="18234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JetBrains Mono" pitchFamily="49" charset="0"/>
                <a:ea typeface="JetBrains Mono" pitchFamily="49" charset="-122"/>
                <a:cs typeface="JetBrains Mono" pitchFamily="49" charset="-120"/>
              </a:rPr>
              <a:t>03</a:t>
            </a:r>
            <a:endParaRPr lang="en-US" sz="1200" dirty="0"/>
          </a:p>
        </p:txBody>
      </p:sp>
      <p:sp>
        <p:nvSpPr>
          <p:cNvPr id="17" name="Text 13"/>
          <p:cNvSpPr/>
          <p:nvPr/>
        </p:nvSpPr>
        <p:spPr>
          <a:xfrm>
            <a:off x="6614160" y="2504441"/>
            <a:ext cx="182349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A"/>
                </a:solidFill>
                <a:latin typeface="Space Grotesk" pitchFamily="34" charset="0"/>
                <a:ea typeface="Space Grotesk" pitchFamily="34" charset="-122"/>
                <a:cs typeface="Space Grotesk" pitchFamily="34" charset="-120"/>
              </a:rPr>
              <a:t>Services ajoutés</a:t>
            </a:r>
            <a:endParaRPr lang="en-US" sz="1600" dirty="0"/>
          </a:p>
        </p:txBody>
      </p:sp>
      <p:sp>
        <p:nvSpPr>
          <p:cNvPr id="18" name="Text 14"/>
          <p:cNvSpPr/>
          <p:nvPr/>
        </p:nvSpPr>
        <p:spPr>
          <a:xfrm>
            <a:off x="6614160" y="2849880"/>
            <a:ext cx="1823492" cy="91694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34155"/>
                </a:solidFill>
                <a:latin typeface="Inter" pitchFamily="34" charset="0"/>
                <a:ea typeface="Inter" pitchFamily="34" charset="-122"/>
                <a:cs typeface="Inter" pitchFamily="34" charset="-120"/>
              </a:rPr>
              <a:t>Messagerie instantanée, présence et visio, souvent séparées.</a:t>
            </a:r>
            <a:endParaRPr lang="en-US" sz="1300" dirty="0"/>
          </a:p>
        </p:txBody>
      </p:sp>
      <p:pic>
        <p:nvPicPr>
          <p:cNvPr id="19" name="Image 2" descr="arrow-right"/>
          <p:cNvPicPr>
            <a:picLocks noChangeAspect="1"/>
          </p:cNvPicPr>
          <p:nvPr/>
        </p:nvPicPr>
        <p:blipFill>
          <a:blip r:embed="rId3"/>
          <a:srcRect/>
          <a:stretch/>
        </p:blipFill>
        <p:spPr>
          <a:xfrm>
            <a:off x="8694420" y="2848928"/>
            <a:ext cx="406400" cy="254000"/>
          </a:xfrm>
          <a:prstGeom prst="rect">
            <a:avLst/>
          </a:prstGeom>
        </p:spPr>
      </p:pic>
      <p:sp>
        <p:nvSpPr>
          <p:cNvPr id="20" name="Shape 15"/>
          <p:cNvSpPr/>
          <p:nvPr/>
        </p:nvSpPr>
        <p:spPr>
          <a:xfrm>
            <a:off x="9202420" y="1981200"/>
            <a:ext cx="2176780" cy="1989455"/>
          </a:xfrm>
          <a:prstGeom prst="roundRect">
            <a:avLst>
              <a:gd name="adj" fmla="val 5107"/>
            </a:avLst>
          </a:prstGeom>
          <a:solidFill>
            <a:srgbClr val="0B1F3A"/>
          </a:solidFill>
          <a:ln/>
        </p:spPr>
        <p:txBody>
          <a:bodyPr/>
          <a:lstStyle/>
          <a:p>
            <a:endParaRPr lang="fr-FR"/>
          </a:p>
        </p:txBody>
      </p:sp>
      <p:sp>
        <p:nvSpPr>
          <p:cNvPr id="21" name="Text 16"/>
          <p:cNvSpPr/>
          <p:nvPr/>
        </p:nvSpPr>
        <p:spPr>
          <a:xfrm>
            <a:off x="9405620" y="2184400"/>
            <a:ext cx="18234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A398"/>
                </a:solidFill>
                <a:latin typeface="JetBrains Mono" pitchFamily="49" charset="0"/>
                <a:ea typeface="JetBrains Mono" pitchFamily="49" charset="-122"/>
                <a:cs typeface="JetBrains Mono" pitchFamily="49" charset="-120"/>
              </a:rPr>
              <a:t>04</a:t>
            </a:r>
            <a:endParaRPr lang="en-US" sz="1200" dirty="0"/>
          </a:p>
        </p:txBody>
      </p:sp>
      <p:sp>
        <p:nvSpPr>
          <p:cNvPr id="22" name="Text 17"/>
          <p:cNvSpPr/>
          <p:nvPr/>
        </p:nvSpPr>
        <p:spPr>
          <a:xfrm>
            <a:off x="9405620" y="2499361"/>
            <a:ext cx="1823492"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6FA"/>
                </a:solidFill>
                <a:latin typeface="Space Grotesk" pitchFamily="34" charset="0"/>
                <a:ea typeface="Space Grotesk" pitchFamily="34" charset="-122"/>
                <a:cs typeface="Space Grotesk" pitchFamily="34" charset="-120"/>
              </a:rPr>
              <a:t>Plateformes intégrées</a:t>
            </a:r>
            <a:endParaRPr lang="en-US" sz="1600" dirty="0"/>
          </a:p>
        </p:txBody>
      </p:sp>
      <p:sp>
        <p:nvSpPr>
          <p:cNvPr id="23" name="Text 18"/>
          <p:cNvSpPr/>
          <p:nvPr/>
        </p:nvSpPr>
        <p:spPr>
          <a:xfrm>
            <a:off x="9405620" y="3088641"/>
            <a:ext cx="1823492" cy="69405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D5DEE9"/>
                </a:solidFill>
                <a:latin typeface="Inter" pitchFamily="34" charset="0"/>
                <a:ea typeface="Inter" pitchFamily="34" charset="-122"/>
                <a:cs typeface="Inter" pitchFamily="34" charset="-120"/>
              </a:rPr>
              <a:t>Un compte, une interface ; services cloud et navigateur.</a:t>
            </a:r>
            <a:endParaRPr lang="en-US" sz="1300" dirty="0"/>
          </a:p>
        </p:txBody>
      </p:sp>
      <p:sp>
        <p:nvSpPr>
          <p:cNvPr id="24" name="Text 19"/>
          <p:cNvSpPr/>
          <p:nvPr/>
        </p:nvSpPr>
        <p:spPr>
          <a:xfrm>
            <a:off x="812800" y="4224655"/>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OBJECTIFS RECHERCHÉS</a:t>
            </a:r>
            <a:endParaRPr lang="en-US" sz="1200" dirty="0"/>
          </a:p>
        </p:txBody>
      </p:sp>
      <p:sp>
        <p:nvSpPr>
          <p:cNvPr id="25" name="Text 20"/>
          <p:cNvSpPr/>
          <p:nvPr/>
        </p:nvSpPr>
        <p:spPr>
          <a:xfrm>
            <a:off x="812800" y="4539616"/>
            <a:ext cx="1488440" cy="401320"/>
          </a:xfrm>
          <a:prstGeom prst="roundRect">
            <a:avLst>
              <a:gd name="adj" fmla="val 50000"/>
            </a:avLst>
          </a:prstGeom>
          <a:solidFill>
            <a:srgbClr val="0B1F3A"/>
          </a:solidFill>
          <a:ln/>
        </p:spPr>
        <p:txBody>
          <a:bodyPr wrap="none" lIns="0" tIns="0" rIns="0" bIns="0" rtlCol="0" anchor="ctr">
            <a:normAutofit/>
          </a:bodyPr>
          <a:lstStyle/>
          <a:p>
            <a:pPr marL="0" indent="0" algn="ctr">
              <a:lnSpc>
                <a:spcPts val="1960"/>
              </a:lnSpc>
              <a:buNone/>
            </a:pPr>
            <a:r>
              <a:rPr lang="en-US" sz="1400" dirty="0">
                <a:solidFill>
                  <a:srgbClr val="F3F6FA"/>
                </a:solidFill>
                <a:latin typeface="Inter" pitchFamily="34" charset="0"/>
                <a:ea typeface="Inter" pitchFamily="34" charset="-122"/>
                <a:cs typeface="Inter" pitchFamily="34" charset="-120"/>
              </a:rPr>
              <a:t>Simplification</a:t>
            </a:r>
            <a:endParaRPr lang="en-US" sz="1400" dirty="0"/>
          </a:p>
        </p:txBody>
      </p:sp>
      <p:sp>
        <p:nvSpPr>
          <p:cNvPr id="26" name="Text 21"/>
          <p:cNvSpPr/>
          <p:nvPr/>
        </p:nvSpPr>
        <p:spPr>
          <a:xfrm>
            <a:off x="2402840" y="4539616"/>
            <a:ext cx="1382554" cy="401320"/>
          </a:xfrm>
          <a:prstGeom prst="roundRect">
            <a:avLst>
              <a:gd name="adj" fmla="val 50000"/>
            </a:avLst>
          </a:prstGeom>
          <a:solidFill>
            <a:srgbClr val="0B1F3A"/>
          </a:solidFill>
          <a:ln/>
        </p:spPr>
        <p:txBody>
          <a:bodyPr wrap="none" lIns="0" tIns="0" rIns="0" bIns="0" rtlCol="0" anchor="ctr">
            <a:normAutofit/>
          </a:bodyPr>
          <a:lstStyle/>
          <a:p>
            <a:pPr marL="0" indent="0" algn="ctr">
              <a:lnSpc>
                <a:spcPts val="1960"/>
              </a:lnSpc>
              <a:buNone/>
            </a:pPr>
            <a:r>
              <a:rPr lang="en-US" sz="1400" dirty="0">
                <a:solidFill>
                  <a:srgbClr val="F3F6FA"/>
                </a:solidFill>
                <a:latin typeface="Inter" pitchFamily="34" charset="0"/>
                <a:ea typeface="Inter" pitchFamily="34" charset="-122"/>
                <a:cs typeface="Inter" pitchFamily="34" charset="-120"/>
              </a:rPr>
              <a:t>Disponibilité</a:t>
            </a:r>
            <a:endParaRPr lang="en-US" sz="1400" dirty="0"/>
          </a:p>
        </p:txBody>
      </p:sp>
      <p:sp>
        <p:nvSpPr>
          <p:cNvPr id="27" name="Text 22"/>
          <p:cNvSpPr/>
          <p:nvPr/>
        </p:nvSpPr>
        <p:spPr>
          <a:xfrm>
            <a:off x="3886994" y="4539616"/>
            <a:ext cx="1473200" cy="401320"/>
          </a:xfrm>
          <a:prstGeom prst="roundRect">
            <a:avLst>
              <a:gd name="adj" fmla="val 50000"/>
            </a:avLst>
          </a:prstGeom>
          <a:solidFill>
            <a:srgbClr val="0B1F3A"/>
          </a:solidFill>
          <a:ln/>
        </p:spPr>
        <p:txBody>
          <a:bodyPr wrap="none" lIns="0" tIns="0" rIns="0" bIns="0" rtlCol="0" anchor="ctr">
            <a:normAutofit/>
          </a:bodyPr>
          <a:lstStyle/>
          <a:p>
            <a:pPr marL="0" indent="0" algn="ctr">
              <a:lnSpc>
                <a:spcPts val="1960"/>
              </a:lnSpc>
              <a:buNone/>
            </a:pPr>
            <a:r>
              <a:rPr lang="en-US" sz="1400" dirty="0">
                <a:solidFill>
                  <a:srgbClr val="F3F6FA"/>
                </a:solidFill>
                <a:latin typeface="Inter" pitchFamily="34" charset="0"/>
                <a:ea typeface="Inter" pitchFamily="34" charset="-122"/>
                <a:cs typeface="Inter" pitchFamily="34" charset="-120"/>
              </a:rPr>
              <a:t>Collaboration</a:t>
            </a:r>
            <a:endParaRPr lang="en-US" sz="1400" dirty="0"/>
          </a:p>
        </p:txBody>
      </p:sp>
      <p:sp>
        <p:nvSpPr>
          <p:cNvPr id="28" name="Text 23"/>
          <p:cNvSpPr/>
          <p:nvPr/>
        </p:nvSpPr>
        <p:spPr>
          <a:xfrm>
            <a:off x="5461794" y="4539616"/>
            <a:ext cx="1021001" cy="401320"/>
          </a:xfrm>
          <a:prstGeom prst="roundRect">
            <a:avLst>
              <a:gd name="adj" fmla="val 50000"/>
            </a:avLst>
          </a:prstGeom>
          <a:solidFill>
            <a:srgbClr val="0B1F3A"/>
          </a:solidFill>
          <a:ln/>
        </p:spPr>
        <p:txBody>
          <a:bodyPr wrap="none" lIns="0" tIns="0" rIns="0" bIns="0" rtlCol="0" anchor="ctr">
            <a:normAutofit/>
          </a:bodyPr>
          <a:lstStyle/>
          <a:p>
            <a:pPr marL="0" indent="0" algn="ctr">
              <a:lnSpc>
                <a:spcPts val="1960"/>
              </a:lnSpc>
              <a:buNone/>
            </a:pPr>
            <a:r>
              <a:rPr lang="en-US" sz="1400" dirty="0">
                <a:solidFill>
                  <a:srgbClr val="F3F6FA"/>
                </a:solidFill>
                <a:latin typeface="Inter" pitchFamily="34" charset="0"/>
                <a:ea typeface="Inter" pitchFamily="34" charset="-122"/>
                <a:cs typeface="Inter" pitchFamily="34" charset="-120"/>
              </a:rPr>
              <a:t>Mobilité</a:t>
            </a:r>
            <a:endParaRPr lang="en-US" sz="1400" dirty="0"/>
          </a:p>
        </p:txBody>
      </p:sp>
      <p:sp>
        <p:nvSpPr>
          <p:cNvPr id="29" name="Text 24"/>
          <p:cNvSpPr/>
          <p:nvPr/>
        </p:nvSpPr>
        <p:spPr>
          <a:xfrm>
            <a:off x="6584394" y="4539616"/>
            <a:ext cx="1359694" cy="401320"/>
          </a:xfrm>
          <a:prstGeom prst="roundRect">
            <a:avLst>
              <a:gd name="adj" fmla="val 50000"/>
            </a:avLst>
          </a:prstGeom>
          <a:solidFill>
            <a:srgbClr val="0B1F3A"/>
          </a:solidFill>
          <a:ln/>
        </p:spPr>
        <p:txBody>
          <a:bodyPr wrap="none" lIns="0" tIns="0" rIns="0" bIns="0" rtlCol="0" anchor="ctr">
            <a:normAutofit/>
          </a:bodyPr>
          <a:lstStyle/>
          <a:p>
            <a:pPr marL="0" indent="0" algn="ctr">
              <a:lnSpc>
                <a:spcPts val="1960"/>
              </a:lnSpc>
              <a:buNone/>
            </a:pPr>
            <a:r>
              <a:rPr lang="en-US" sz="1400" dirty="0">
                <a:solidFill>
                  <a:srgbClr val="F3F6FA"/>
                </a:solidFill>
                <a:latin typeface="Inter" pitchFamily="34" charset="0"/>
                <a:ea typeface="Inter" pitchFamily="34" charset="-122"/>
                <a:cs typeface="Inter" pitchFamily="34" charset="-120"/>
              </a:rPr>
              <a:t>Productivité</a:t>
            </a:r>
            <a:endParaRPr lang="en-US" sz="1400" dirty="0"/>
          </a:p>
        </p:txBody>
      </p:sp>
      <p:sp>
        <p:nvSpPr>
          <p:cNvPr id="30" name="Text 25"/>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Inter" pitchFamily="34" charset="0"/>
                <a:ea typeface="Inter" pitchFamily="34" charset="-122"/>
                <a:cs typeface="Inter" pitchFamily="34" charset="-120"/>
              </a:rPr>
              <a:t>Évolution simplifiée à titre pédagogique ; les étapes se chevauchent dans la réalité.</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F7A1A"/>
                </a:solidFill>
                <a:latin typeface="JetBrains Mono" pitchFamily="49" charset="0"/>
                <a:ea typeface="JetBrains Mono" pitchFamily="49" charset="-122"/>
                <a:cs typeface="JetBrains Mono" pitchFamily="49" charset="-120"/>
              </a:rPr>
              <a:t>DÉFINITION</a:t>
            </a:r>
            <a:endParaRPr lang="en-US" sz="1200" dirty="0"/>
          </a:p>
        </p:txBody>
      </p:sp>
      <p:sp>
        <p:nvSpPr>
          <p:cNvPr id="3" name="Text 1"/>
          <p:cNvSpPr>
            <a:spLocks noGrp="1"/>
          </p:cNvSpPr>
          <p:nvPr>
            <p:ph type="title"/>
          </p:nvPr>
        </p:nvSpPr>
        <p:spPr>
          <a:xfrm>
            <a:off x="812800" y="13309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3F6FA"/>
                </a:solidFill>
                <a:latin typeface="Space Grotesk" pitchFamily="34" charset="0"/>
                <a:ea typeface="Space Grotesk" pitchFamily="34" charset="-122"/>
                <a:cs typeface="Space Grotesk" pitchFamily="34" charset="-120"/>
              </a:rPr>
              <a:t>Unified Communications (UC)</a:t>
            </a:r>
            <a:endParaRPr lang="en-US" sz="3600" dirty="0"/>
          </a:p>
        </p:txBody>
      </p:sp>
      <p:sp>
        <p:nvSpPr>
          <p:cNvPr id="4" name="Text 2"/>
          <p:cNvSpPr/>
          <p:nvPr/>
        </p:nvSpPr>
        <p:spPr>
          <a:xfrm>
            <a:off x="812800" y="2138680"/>
            <a:ext cx="10883392"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F3F6FA"/>
                </a:solidFill>
                <a:latin typeface="Space Grotesk" pitchFamily="34" charset="0"/>
                <a:ea typeface="Space Grotesk" pitchFamily="34" charset="-122"/>
                <a:cs typeface="Space Grotesk" pitchFamily="34" charset="-120"/>
              </a:rPr>
              <a:t>Regrouper la voix, la vidéo et la messagerie dans une expérience cohérente, centrée sur l’identité de l’utilisateur.</a:t>
            </a:r>
            <a:endParaRPr lang="en-US" sz="2200" dirty="0"/>
          </a:p>
        </p:txBody>
      </p:sp>
      <p:sp>
        <p:nvSpPr>
          <p:cNvPr id="5" name="Shape 3"/>
          <p:cNvSpPr/>
          <p:nvPr/>
        </p:nvSpPr>
        <p:spPr>
          <a:xfrm>
            <a:off x="812800" y="3169920"/>
            <a:ext cx="3420507" cy="1207770"/>
          </a:xfrm>
          <a:prstGeom prst="roundRect">
            <a:avLst>
              <a:gd name="adj" fmla="val 8412"/>
            </a:avLst>
          </a:prstGeom>
          <a:solidFill>
            <a:srgbClr val="12305A"/>
          </a:solidFill>
          <a:ln/>
        </p:spPr>
        <p:txBody>
          <a:bodyPr/>
          <a:lstStyle/>
          <a:p>
            <a:endParaRPr lang="fr-FR"/>
          </a:p>
        </p:txBody>
      </p:sp>
      <p:sp>
        <p:nvSpPr>
          <p:cNvPr id="6" name="Shape 4"/>
          <p:cNvSpPr/>
          <p:nvPr/>
        </p:nvSpPr>
        <p:spPr>
          <a:xfrm>
            <a:off x="812800" y="3169920"/>
            <a:ext cx="3420507" cy="1207770"/>
          </a:xfrm>
          <a:custGeom>
            <a:avLst/>
            <a:gdLst/>
            <a:ahLst/>
            <a:cxnLst/>
            <a:rect l="l" t="t" r="r" b="b"/>
            <a:pathLst>
              <a:path w="3420507" h="1207770">
                <a:moveTo>
                  <a:pt x="0" y="101600"/>
                </a:moveTo>
                <a:lnTo>
                  <a:pt x="0" y="101600"/>
                </a:lnTo>
                <a:arcTo wR="101600" hR="101600" stAng="10800000" swAng="5400000"/>
                <a:lnTo>
                  <a:pt x="3318907" y="0"/>
                </a:lnTo>
                <a:arcTo wR="101600" hR="101600" stAng="16200000" swAng="5400000"/>
                <a:lnTo>
                  <a:pt x="3420507" y="101600"/>
                </a:lnTo>
                <a:arcTo wR="101600" hR="63500" stAng="0" swAng="-5400000"/>
                <a:lnTo>
                  <a:pt x="101600" y="38100"/>
                </a:lnTo>
                <a:arcTo wR="101600" hR="63500" stAng="16200000" swAng="-5400000"/>
                <a:close/>
              </a:path>
            </a:pathLst>
          </a:custGeom>
          <a:solidFill>
            <a:srgbClr val="17A398"/>
          </a:solidFill>
          <a:ln/>
        </p:spPr>
        <p:txBody>
          <a:bodyPr/>
          <a:lstStyle/>
          <a:p>
            <a:endParaRPr lang="fr-FR"/>
          </a:p>
        </p:txBody>
      </p:sp>
      <p:sp>
        <p:nvSpPr>
          <p:cNvPr id="7" name="Text 5"/>
          <p:cNvSpPr/>
          <p:nvPr/>
        </p:nvSpPr>
        <p:spPr>
          <a:xfrm>
            <a:off x="1016000" y="3408680"/>
            <a:ext cx="31045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6FA"/>
                </a:solidFill>
                <a:latin typeface="Space Grotesk" pitchFamily="34" charset="0"/>
                <a:ea typeface="Space Grotesk" pitchFamily="34" charset="-122"/>
                <a:cs typeface="Space Grotesk" pitchFamily="34" charset="-120"/>
              </a:rPr>
              <a:t>Une identité</a:t>
            </a:r>
            <a:endParaRPr lang="en-US" sz="1600" dirty="0"/>
          </a:p>
        </p:txBody>
      </p:sp>
      <p:sp>
        <p:nvSpPr>
          <p:cNvPr id="8" name="Text 6"/>
          <p:cNvSpPr/>
          <p:nvPr/>
        </p:nvSpPr>
        <p:spPr>
          <a:xfrm>
            <a:off x="1016000" y="3728720"/>
            <a:ext cx="3104530"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D5DEE9"/>
                </a:solidFill>
                <a:latin typeface="Inter" pitchFamily="34" charset="0"/>
                <a:ea typeface="Inter" pitchFamily="34" charset="-122"/>
                <a:cs typeface="Inter" pitchFamily="34" charset="-120"/>
              </a:rPr>
              <a:t>Un annuaire et un compte pour tous les services.</a:t>
            </a:r>
            <a:endParaRPr lang="en-US" sz="1300" dirty="0"/>
          </a:p>
        </p:txBody>
      </p:sp>
      <p:sp>
        <p:nvSpPr>
          <p:cNvPr id="9" name="Shape 7"/>
          <p:cNvSpPr/>
          <p:nvPr/>
        </p:nvSpPr>
        <p:spPr>
          <a:xfrm>
            <a:off x="4385707" y="3169920"/>
            <a:ext cx="3420586" cy="1207770"/>
          </a:xfrm>
          <a:prstGeom prst="roundRect">
            <a:avLst>
              <a:gd name="adj" fmla="val 8412"/>
            </a:avLst>
          </a:prstGeom>
          <a:solidFill>
            <a:srgbClr val="12305A"/>
          </a:solidFill>
          <a:ln/>
        </p:spPr>
        <p:txBody>
          <a:bodyPr/>
          <a:lstStyle/>
          <a:p>
            <a:endParaRPr lang="fr-FR"/>
          </a:p>
        </p:txBody>
      </p:sp>
      <p:sp>
        <p:nvSpPr>
          <p:cNvPr id="10" name="Shape 8"/>
          <p:cNvSpPr/>
          <p:nvPr/>
        </p:nvSpPr>
        <p:spPr>
          <a:xfrm>
            <a:off x="4385707" y="3169920"/>
            <a:ext cx="3420586" cy="1207770"/>
          </a:xfrm>
          <a:custGeom>
            <a:avLst/>
            <a:gdLst/>
            <a:ahLst/>
            <a:cxnLst/>
            <a:rect l="l" t="t" r="r" b="b"/>
            <a:pathLst>
              <a:path w="3420586" h="1207770">
                <a:moveTo>
                  <a:pt x="0" y="101600"/>
                </a:moveTo>
                <a:lnTo>
                  <a:pt x="0" y="101600"/>
                </a:lnTo>
                <a:arcTo wR="101600" hR="101600" stAng="10800000" swAng="5400000"/>
                <a:lnTo>
                  <a:pt x="3318986" y="0"/>
                </a:lnTo>
                <a:arcTo wR="101600" hR="101600" stAng="16200000" swAng="5400000"/>
                <a:lnTo>
                  <a:pt x="3420586" y="101600"/>
                </a:lnTo>
                <a:arcTo wR="101600" hR="63500" stAng="0" swAng="-5400000"/>
                <a:lnTo>
                  <a:pt x="101600" y="38100"/>
                </a:lnTo>
                <a:arcTo wR="101600" hR="63500" stAng="16200000" swAng="-5400000"/>
                <a:close/>
              </a:path>
            </a:pathLst>
          </a:custGeom>
          <a:solidFill>
            <a:srgbClr val="17A398"/>
          </a:solidFill>
          <a:ln/>
        </p:spPr>
        <p:txBody>
          <a:bodyPr/>
          <a:lstStyle/>
          <a:p>
            <a:endParaRPr lang="fr-FR"/>
          </a:p>
        </p:txBody>
      </p:sp>
      <p:sp>
        <p:nvSpPr>
          <p:cNvPr id="11" name="Text 9"/>
          <p:cNvSpPr/>
          <p:nvPr/>
        </p:nvSpPr>
        <p:spPr>
          <a:xfrm>
            <a:off x="4588907" y="3408680"/>
            <a:ext cx="31046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6FA"/>
                </a:solidFill>
                <a:latin typeface="Space Grotesk" pitchFamily="34" charset="0"/>
                <a:ea typeface="Space Grotesk" pitchFamily="34" charset="-122"/>
                <a:cs typeface="Space Grotesk" pitchFamily="34" charset="-120"/>
              </a:rPr>
              <a:t>Une présence</a:t>
            </a:r>
            <a:endParaRPr lang="en-US" sz="1600" dirty="0"/>
          </a:p>
        </p:txBody>
      </p:sp>
      <p:sp>
        <p:nvSpPr>
          <p:cNvPr id="12" name="Text 10"/>
          <p:cNvSpPr/>
          <p:nvPr/>
        </p:nvSpPr>
        <p:spPr>
          <a:xfrm>
            <a:off x="4588907" y="3728720"/>
            <a:ext cx="3104612"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D5DEE9"/>
                </a:solidFill>
                <a:latin typeface="Inter" pitchFamily="34" charset="0"/>
                <a:ea typeface="Inter" pitchFamily="34" charset="-122"/>
                <a:cs typeface="Inter" pitchFamily="34" charset="-120"/>
              </a:rPr>
              <a:t>Disponible, occupé, en réunion : visible partout.</a:t>
            </a:r>
            <a:endParaRPr lang="en-US" sz="1300" dirty="0"/>
          </a:p>
        </p:txBody>
      </p:sp>
      <p:sp>
        <p:nvSpPr>
          <p:cNvPr id="13" name="Shape 11"/>
          <p:cNvSpPr/>
          <p:nvPr/>
        </p:nvSpPr>
        <p:spPr>
          <a:xfrm>
            <a:off x="7958693" y="3169920"/>
            <a:ext cx="3420507" cy="1207770"/>
          </a:xfrm>
          <a:prstGeom prst="roundRect">
            <a:avLst>
              <a:gd name="adj" fmla="val 8412"/>
            </a:avLst>
          </a:prstGeom>
          <a:solidFill>
            <a:srgbClr val="12305A"/>
          </a:solidFill>
          <a:ln/>
        </p:spPr>
        <p:txBody>
          <a:bodyPr/>
          <a:lstStyle/>
          <a:p>
            <a:endParaRPr lang="fr-FR"/>
          </a:p>
        </p:txBody>
      </p:sp>
      <p:sp>
        <p:nvSpPr>
          <p:cNvPr id="14" name="Shape 12"/>
          <p:cNvSpPr/>
          <p:nvPr/>
        </p:nvSpPr>
        <p:spPr>
          <a:xfrm>
            <a:off x="7958693" y="3169920"/>
            <a:ext cx="3420507" cy="1207770"/>
          </a:xfrm>
          <a:custGeom>
            <a:avLst/>
            <a:gdLst/>
            <a:ahLst/>
            <a:cxnLst/>
            <a:rect l="l" t="t" r="r" b="b"/>
            <a:pathLst>
              <a:path w="3420507" h="1207770">
                <a:moveTo>
                  <a:pt x="0" y="101600"/>
                </a:moveTo>
                <a:lnTo>
                  <a:pt x="0" y="101600"/>
                </a:lnTo>
                <a:arcTo wR="101600" hR="101600" stAng="10800000" swAng="5400000"/>
                <a:lnTo>
                  <a:pt x="3318907" y="0"/>
                </a:lnTo>
                <a:arcTo wR="101600" hR="101600" stAng="16200000" swAng="5400000"/>
                <a:lnTo>
                  <a:pt x="3420507" y="101600"/>
                </a:lnTo>
                <a:arcTo wR="101600" hR="63500" stAng="0" swAng="-5400000"/>
                <a:lnTo>
                  <a:pt x="101600" y="38100"/>
                </a:lnTo>
                <a:arcTo wR="101600" hR="63500" stAng="16200000" swAng="-5400000"/>
                <a:close/>
              </a:path>
            </a:pathLst>
          </a:custGeom>
          <a:solidFill>
            <a:srgbClr val="17A398"/>
          </a:solidFill>
          <a:ln/>
        </p:spPr>
        <p:txBody>
          <a:bodyPr/>
          <a:lstStyle/>
          <a:p>
            <a:endParaRPr lang="fr-FR"/>
          </a:p>
        </p:txBody>
      </p:sp>
      <p:sp>
        <p:nvSpPr>
          <p:cNvPr id="15" name="Text 13"/>
          <p:cNvSpPr/>
          <p:nvPr/>
        </p:nvSpPr>
        <p:spPr>
          <a:xfrm>
            <a:off x="8161893" y="3408680"/>
            <a:ext cx="31045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6FA"/>
                </a:solidFill>
                <a:latin typeface="Space Grotesk" pitchFamily="34" charset="0"/>
                <a:ea typeface="Space Grotesk" pitchFamily="34" charset="-122"/>
                <a:cs typeface="Space Grotesk" pitchFamily="34" charset="-120"/>
              </a:rPr>
              <a:t>Plusieurs médias</a:t>
            </a:r>
            <a:endParaRPr lang="en-US" sz="1600" dirty="0"/>
          </a:p>
        </p:txBody>
      </p:sp>
      <p:sp>
        <p:nvSpPr>
          <p:cNvPr id="16" name="Text 14"/>
          <p:cNvSpPr/>
          <p:nvPr/>
        </p:nvSpPr>
        <p:spPr>
          <a:xfrm>
            <a:off x="8161893" y="3728720"/>
            <a:ext cx="3104530"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D5DEE9"/>
                </a:solidFill>
                <a:latin typeface="Inter" pitchFamily="34" charset="0"/>
                <a:ea typeface="Inter" pitchFamily="34" charset="-122"/>
                <a:cs typeface="Inter" pitchFamily="34" charset="-120"/>
              </a:rPr>
              <a:t>Passer du message à l’appel puis à la visio sans changer d’outil.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838200" y="812800"/>
            <a:ext cx="0" cy="213360"/>
          </a:xfrm>
          <a:prstGeom prst="line">
            <a:avLst/>
          </a:prstGeom>
          <a:noFill/>
          <a:ln w="50800">
            <a:solidFill>
              <a:srgbClr val="FF7A1A"/>
            </a:solidFill>
            <a:prstDash val="solid"/>
          </a:ln>
        </p:spPr>
        <p:txBody>
          <a:bodyPr/>
          <a:lstStyle/>
          <a:p>
            <a:endParaRPr lang="fr-FR"/>
          </a:p>
        </p:txBody>
      </p:sp>
      <p:sp>
        <p:nvSpPr>
          <p:cNvPr id="3" name="Text 1"/>
          <p:cNvSpPr/>
          <p:nvPr/>
        </p:nvSpPr>
        <p:spPr>
          <a:xfrm>
            <a:off x="965200" y="812800"/>
            <a:ext cx="107264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CONCEPTS ESSENTIELS</a:t>
            </a:r>
            <a:endParaRPr lang="en-US" sz="1200" dirty="0"/>
          </a:p>
        </p:txBody>
      </p:sp>
      <p:sp>
        <p:nvSpPr>
          <p:cNvPr id="4" name="Text 2"/>
          <p:cNvSpPr>
            <a:spLocks noGrp="1"/>
          </p:cNvSpPr>
          <p:nvPr>
            <p:ph type="title"/>
          </p:nvPr>
        </p:nvSpPr>
        <p:spPr>
          <a:xfrm>
            <a:off x="812800" y="12801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B1F3A"/>
                </a:solidFill>
                <a:latin typeface="Space Grotesk" pitchFamily="34" charset="0"/>
                <a:ea typeface="Space Grotesk" pitchFamily="34" charset="-122"/>
                <a:cs typeface="Space Grotesk" pitchFamily="34" charset="-120"/>
              </a:rPr>
              <a:t>UC, UCC, UCaaS : ne pas les confondre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91360"/>
          <a:ext cx="10556240" cy="2477770"/>
        </p:xfrm>
        <a:graphic>
          <a:graphicData uri="http://schemas.openxmlformats.org/drawingml/2006/table">
            <a:tbl>
              <a:tblPr/>
              <a:tblGrid>
                <a:gridCol w="2322373">
                  <a:extLst>
                    <a:ext uri="{9D8B030D-6E8A-4147-A177-3AD203B41FA5}">
                      <a16:colId xmlns:a16="http://schemas.microsoft.com/office/drawing/2014/main" val="20000"/>
                    </a:ext>
                  </a:extLst>
                </a:gridCol>
                <a:gridCol w="5066995">
                  <a:extLst>
                    <a:ext uri="{9D8B030D-6E8A-4147-A177-3AD203B41FA5}">
                      <a16:colId xmlns:a16="http://schemas.microsoft.com/office/drawing/2014/main" val="20001"/>
                    </a:ext>
                  </a:extLst>
                </a:gridCol>
                <a:gridCol w="3166872">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3F6FA"/>
                          </a:solidFill>
                          <a:latin typeface="Inter" pitchFamily="34" charset="0"/>
                          <a:ea typeface="Inter" pitchFamily="34" charset="-122"/>
                          <a:cs typeface="Inter" pitchFamily="34" charset="-120"/>
                        </a:rPr>
                        <a:t>Terme</a:t>
                      </a:r>
                      <a:endParaRPr lang="en-US" sz="1300" dirty="0">
                        <a:latin typeface="Inter" charset="0"/>
                        <a:ea typeface="Inter" charset="0"/>
                        <a:cs typeface="Inter" charset="0"/>
                      </a:endParaRPr>
                    </a:p>
                  </a:txBody>
                  <a:tcPr marL="57785" marR="57785" marT="57785" marB="57785">
                    <a:lnL w="12700" cap="flat" cmpd="sng" algn="ctr">
                      <a:solidFill>
                        <a:srgbClr val="C2C4C7"/>
                      </a:solidFill>
                      <a:prstDash val="solid"/>
                      <a:round/>
                      <a:headEnd type="none" w="med" len="med"/>
                      <a:tailEnd type="none" w="med" len="med"/>
                    </a:lnL>
                    <a:lnR w="12700" cap="flat" cmpd="sng" algn="ctr">
                      <a:solidFill>
                        <a:srgbClr val="B4B6B9"/>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B4B6B9"/>
                      </a:solidFill>
                      <a:prstDash val="solid"/>
                      <a:round/>
                      <a:headEnd type="none" w="med" len="med"/>
                      <a:tailEnd type="none" w="med" len="med"/>
                    </a:lnB>
                    <a:solidFill>
                      <a:srgbClr val="E1E4E8"/>
                    </a:solidFill>
                  </a:tcPr>
                </a:tc>
                <a:tc>
                  <a:txBody>
                    <a:bodyPr/>
                    <a:lstStyle/>
                    <a:p>
                      <a:pPr marL="0" indent="0">
                        <a:lnSpc>
                          <a:spcPts val="1820"/>
                        </a:lnSpc>
                        <a:buNone/>
                      </a:pPr>
                      <a:r>
                        <a:rPr lang="en-US" sz="1300" b="1" dirty="0">
                          <a:solidFill>
                            <a:srgbClr val="F3F6FA"/>
                          </a:solidFill>
                          <a:latin typeface="Inter" pitchFamily="34" charset="0"/>
                          <a:ea typeface="Inter" pitchFamily="34" charset="-122"/>
                          <a:cs typeface="Inter" pitchFamily="34" charset="-120"/>
                        </a:rPr>
                        <a:t>Ce que c’est</a:t>
                      </a:r>
                      <a:endParaRPr lang="en-US" sz="1300" dirty="0">
                        <a:latin typeface="Inter" charset="0"/>
                        <a:ea typeface="Inter" charset="0"/>
                        <a:cs typeface="Inter" charset="0"/>
                      </a:endParaRPr>
                    </a:p>
                  </a:txBody>
                  <a:tcPr marL="57785" marR="57785" marT="57785" marB="57785">
                    <a:lnL w="12700" cap="flat" cmpd="sng" algn="ctr">
                      <a:solidFill>
                        <a:srgbClr val="B4B6B9"/>
                      </a:solidFill>
                      <a:prstDash val="solid"/>
                      <a:round/>
                      <a:headEnd type="none" w="med" len="med"/>
                      <a:tailEnd type="none" w="med" len="med"/>
                    </a:lnL>
                    <a:lnR w="12700" cap="flat" cmpd="sng" algn="ctr">
                      <a:solidFill>
                        <a:srgbClr val="B4B6B9"/>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B4B6B9"/>
                      </a:solidFill>
                      <a:prstDash val="solid"/>
                      <a:round/>
                      <a:headEnd type="none" w="med" len="med"/>
                      <a:tailEnd type="none" w="med" len="med"/>
                    </a:lnB>
                    <a:solidFill>
                      <a:srgbClr val="E1E4E8"/>
                    </a:solidFill>
                  </a:tcPr>
                </a:tc>
                <a:tc>
                  <a:txBody>
                    <a:bodyPr/>
                    <a:lstStyle/>
                    <a:p>
                      <a:pPr marL="0" indent="0">
                        <a:lnSpc>
                          <a:spcPts val="1820"/>
                        </a:lnSpc>
                        <a:buNone/>
                      </a:pPr>
                      <a:r>
                        <a:rPr lang="en-US" sz="1300" b="1" dirty="0">
                          <a:solidFill>
                            <a:srgbClr val="F3F6FA"/>
                          </a:solidFill>
                          <a:latin typeface="Inter" pitchFamily="34" charset="0"/>
                          <a:ea typeface="Inter" pitchFamily="34" charset="-122"/>
                          <a:cs typeface="Inter" pitchFamily="34" charset="-120"/>
                        </a:rPr>
                        <a:t>À retenir</a:t>
                      </a:r>
                      <a:endParaRPr lang="en-US" sz="1300" dirty="0">
                        <a:latin typeface="Inter" charset="0"/>
                        <a:ea typeface="Inter" charset="0"/>
                        <a:cs typeface="Inter" charset="0"/>
                      </a:endParaRPr>
                    </a:p>
                  </a:txBody>
                  <a:tcPr marL="57785" marR="57785" marT="57785" marB="57785">
                    <a:lnL w="12700" cap="flat" cmpd="sng" algn="ctr">
                      <a:solidFill>
                        <a:srgbClr val="B4B6B9"/>
                      </a:solidFill>
                      <a:prstDash val="solid"/>
                      <a:round/>
                      <a:headEnd type="none" w="med" len="med"/>
                      <a:tailEnd type="none" w="med" len="med"/>
                    </a:lnL>
                    <a:lnR w="12700" cap="flat" cmpd="sng" algn="ctr">
                      <a:solidFill>
                        <a:srgbClr val="B4B6B9"/>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B4B6B9"/>
                      </a:solidFill>
                      <a:prstDash val="solid"/>
                      <a:round/>
                      <a:headEnd type="none" w="med" len="med"/>
                      <a:tailEnd type="none" w="med" len="med"/>
                    </a:lnB>
                    <a:solidFill>
                      <a:srgbClr val="E1E4E8"/>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334155"/>
                          </a:solidFill>
                          <a:latin typeface="Inter" pitchFamily="34" charset="0"/>
                          <a:ea typeface="Inter" pitchFamily="34" charset="-122"/>
                          <a:cs typeface="Inter" pitchFamily="34" charset="-120"/>
                        </a:rPr>
                        <a:t>UC</a:t>
                      </a:r>
                      <a:endParaRPr lang="en-US" sz="1300" dirty="0">
                        <a:latin typeface="Inter" charset="0"/>
                        <a:ea typeface="Inter" charset="0"/>
                        <a:cs typeface="Inter" charset="0"/>
                      </a:endParaRPr>
                    </a:p>
                  </a:txBody>
                  <a:tcPr marL="57785" marR="57785" marT="57785" marB="57785">
                    <a:lnL w="12700" cap="flat" cmpd="sng" algn="ctr">
                      <a:solidFill>
                        <a:srgbClr val="C2C4C7"/>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4B6B9"/>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820"/>
                        </a:lnSpc>
                        <a:buNone/>
                      </a:pPr>
                      <a:r>
                        <a:rPr lang="en-US" sz="1300" dirty="0">
                          <a:solidFill>
                            <a:srgbClr val="334155"/>
                          </a:solidFill>
                          <a:latin typeface="Inter" pitchFamily="34" charset="0"/>
                          <a:ea typeface="Inter" pitchFamily="34" charset="-122"/>
                          <a:cs typeface="Inter" pitchFamily="34" charset="-120"/>
                        </a:rPr>
                        <a:t>Voix, messagerie, présence et visio reliées par une identité commune.</a:t>
                      </a:r>
                      <a:endParaRPr lang="en-US" sz="1300" dirty="0">
                        <a:latin typeface="Inter" charset="0"/>
                        <a:ea typeface="Inter" charset="0"/>
                        <a:cs typeface="Inter" charset="0"/>
                      </a:endParaRPr>
                    </a:p>
                  </a:txBody>
                  <a:tcPr marL="57785" marR="57785" marT="57785" marB="57785">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4B6B9"/>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820"/>
                        </a:lnSpc>
                        <a:buNone/>
                      </a:pPr>
                      <a:r>
                        <a:rPr lang="en-US" sz="1300" dirty="0">
                          <a:solidFill>
                            <a:srgbClr val="334155"/>
                          </a:solidFill>
                          <a:latin typeface="Inter" pitchFamily="34" charset="0"/>
                          <a:ea typeface="Inter" pitchFamily="34" charset="-122"/>
                          <a:cs typeface="Inter" pitchFamily="34" charset="-120"/>
                        </a:rPr>
                        <a:t>Intégration profonde</a:t>
                      </a:r>
                      <a:endParaRPr lang="en-US" sz="1300" dirty="0">
                        <a:latin typeface="Inter" charset="0"/>
                        <a:ea typeface="Inter" charset="0"/>
                        <a:cs typeface="Inter" charset="0"/>
                      </a:endParaRPr>
                    </a:p>
                  </a:txBody>
                  <a:tcPr marL="57785" marR="57785" marT="57785" marB="57785">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4B6B9"/>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334155"/>
                          </a:solidFill>
                          <a:latin typeface="Inter" pitchFamily="34" charset="0"/>
                          <a:ea typeface="Inter" pitchFamily="34" charset="-122"/>
                          <a:cs typeface="Inter" pitchFamily="34" charset="-120"/>
                        </a:rPr>
                        <a:t>UCC</a:t>
                      </a:r>
                      <a:endParaRPr lang="en-US" sz="1300" dirty="0">
                        <a:latin typeface="Inter" charset="0"/>
                        <a:ea typeface="Inter" charset="0"/>
                        <a:cs typeface="Inter" charset="0"/>
                      </a:endParaRPr>
                    </a:p>
                  </a:txBody>
                  <a:tcPr marL="57785" marR="57785" marT="57785" marB="57785">
                    <a:lnL w="12700" cap="flat" cmpd="sng" algn="ctr">
                      <a:solidFill>
                        <a:srgbClr val="C2C4C7"/>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tc>
                  <a:txBody>
                    <a:bodyPr/>
                    <a:lstStyle/>
                    <a:p>
                      <a:pPr marL="0" indent="0">
                        <a:lnSpc>
                          <a:spcPts val="1820"/>
                        </a:lnSpc>
                        <a:buNone/>
                      </a:pPr>
                      <a:r>
                        <a:rPr lang="en-US" sz="1300" dirty="0">
                          <a:solidFill>
                            <a:srgbClr val="334155"/>
                          </a:solidFill>
                          <a:latin typeface="Inter" pitchFamily="34" charset="0"/>
                          <a:ea typeface="Inter" pitchFamily="34" charset="-122"/>
                          <a:cs typeface="Inter" pitchFamily="34" charset="-120"/>
                        </a:rPr>
                        <a:t>UC complétée par des outils de collaboration : espaces d’équipe, fichiers.</a:t>
                      </a:r>
                      <a:endParaRPr lang="en-US" sz="1300" dirty="0">
                        <a:latin typeface="Inter" charset="0"/>
                        <a:ea typeface="Inter" charset="0"/>
                        <a:cs typeface="Inter" charset="0"/>
                      </a:endParaRPr>
                    </a:p>
                  </a:txBody>
                  <a:tcPr marL="57785" marR="57785" marT="57785" marB="57785">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tc>
                  <a:txBody>
                    <a:bodyPr/>
                    <a:lstStyle/>
                    <a:p>
                      <a:pPr marL="0" indent="0">
                        <a:lnSpc>
                          <a:spcPts val="1820"/>
                        </a:lnSpc>
                        <a:buNone/>
                      </a:pPr>
                      <a:r>
                        <a:rPr lang="en-US" sz="1300" dirty="0">
                          <a:solidFill>
                            <a:srgbClr val="334155"/>
                          </a:solidFill>
                          <a:latin typeface="Inter" pitchFamily="34" charset="0"/>
                          <a:ea typeface="Inter" pitchFamily="34" charset="-122"/>
                          <a:cs typeface="Inter" pitchFamily="34" charset="-120"/>
                        </a:rPr>
                        <a:t>Communiquer et travailler ensemble</a:t>
                      </a:r>
                      <a:endParaRPr lang="en-US" sz="1300" dirty="0">
                        <a:latin typeface="Inter" charset="0"/>
                        <a:ea typeface="Inter" charset="0"/>
                        <a:cs typeface="Inter" charset="0"/>
                      </a:endParaRPr>
                    </a:p>
                  </a:txBody>
                  <a:tcPr marL="57785" marR="57785" marT="57785" marB="57785">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extLst>
                  <a:ext uri="{0D108BD9-81ED-4DB2-BD59-A6C34878D82A}">
                    <a16:rowId xmlns:a16="http://schemas.microsoft.com/office/drawing/2014/main" val="10002"/>
                  </a:ext>
                </a:extLst>
              </a:tr>
              <a:tr h="588010">
                <a:tc>
                  <a:txBody>
                    <a:bodyPr/>
                    <a:lstStyle/>
                    <a:p>
                      <a:pPr marL="0" indent="0">
                        <a:lnSpc>
                          <a:spcPts val="1820"/>
                        </a:lnSpc>
                        <a:buNone/>
                      </a:pPr>
                      <a:r>
                        <a:rPr lang="en-US" sz="1300" dirty="0">
                          <a:solidFill>
                            <a:srgbClr val="334155"/>
                          </a:solidFill>
                          <a:latin typeface="Inter" pitchFamily="34" charset="0"/>
                          <a:ea typeface="Inter" pitchFamily="34" charset="-122"/>
                          <a:cs typeface="Inter" pitchFamily="34" charset="-120"/>
                        </a:rPr>
                        <a:t>UCaaS</a:t>
                      </a:r>
                      <a:endParaRPr lang="en-US" sz="1300" dirty="0">
                        <a:latin typeface="Inter" charset="0"/>
                        <a:ea typeface="Inter" charset="0"/>
                        <a:cs typeface="Inter" charset="0"/>
                      </a:endParaRPr>
                    </a:p>
                  </a:txBody>
                  <a:tcPr marL="57785" marR="57785" marT="57785" marB="57785">
                    <a:lnL w="12700" cap="flat" cmpd="sng" algn="ctr">
                      <a:solidFill>
                        <a:srgbClr val="C2C4C7"/>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8BCC3"/>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820"/>
                        </a:lnSpc>
                        <a:buNone/>
                      </a:pPr>
                      <a:r>
                        <a:rPr lang="en-US" sz="1300" dirty="0">
                          <a:solidFill>
                            <a:srgbClr val="334155"/>
                          </a:solidFill>
                          <a:latin typeface="Inter" pitchFamily="34" charset="0"/>
                          <a:ea typeface="Inter" pitchFamily="34" charset="-122"/>
                          <a:cs typeface="Inter" pitchFamily="34" charset="-120"/>
                        </a:rPr>
                        <a:t>UC fournie comme un service par un prestataire, sur abonnement.</a:t>
                      </a:r>
                      <a:endParaRPr lang="en-US" sz="1300" dirty="0">
                        <a:latin typeface="Inter" charset="0"/>
                        <a:ea typeface="Inter" charset="0"/>
                        <a:cs typeface="Inter" charset="0"/>
                      </a:endParaRPr>
                    </a:p>
                  </a:txBody>
                  <a:tcPr marL="57785" marR="57785" marT="57785" marB="57785">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8BCC3"/>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820"/>
                        </a:lnSpc>
                        <a:buNone/>
                      </a:pPr>
                      <a:r>
                        <a:rPr lang="en-US" sz="1300" dirty="0">
                          <a:solidFill>
                            <a:srgbClr val="334155"/>
                          </a:solidFill>
                          <a:latin typeface="Inter" pitchFamily="34" charset="0"/>
                          <a:ea typeface="Inter" pitchFamily="34" charset="-122"/>
                          <a:cs typeface="Inter" pitchFamily="34" charset="-120"/>
                        </a:rPr>
                        <a:t>Un modèle de livraison</a:t>
                      </a:r>
                      <a:endParaRPr lang="en-US" sz="1300" dirty="0">
                        <a:latin typeface="Inter" charset="0"/>
                        <a:ea typeface="Inter" charset="0"/>
                        <a:cs typeface="Inter" charset="0"/>
                      </a:endParaRPr>
                    </a:p>
                  </a:txBody>
                  <a:tcPr marL="57785" marR="57785" marT="57785" marB="57785">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8BCC3"/>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334155"/>
                          </a:solidFill>
                          <a:latin typeface="Inter" pitchFamily="34" charset="0"/>
                          <a:ea typeface="Inter" pitchFamily="34" charset="-122"/>
                          <a:cs typeface="Inter" pitchFamily="34" charset="-120"/>
                        </a:rPr>
                        <a:t>Outils intégrés</a:t>
                      </a:r>
                      <a:endParaRPr lang="en-US" sz="1300" dirty="0">
                        <a:latin typeface="Inter" charset="0"/>
                        <a:ea typeface="Inter" charset="0"/>
                        <a:cs typeface="Inter" charset="0"/>
                      </a:endParaRPr>
                    </a:p>
                  </a:txBody>
                  <a:tcPr marL="57785" marR="57785" marT="57785" marB="57785">
                    <a:lnL w="12700" cap="flat" cmpd="sng" algn="ctr">
                      <a:solidFill>
                        <a:srgbClr val="C2C4C7"/>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tc>
                  <a:txBody>
                    <a:bodyPr/>
                    <a:lstStyle/>
                    <a:p>
                      <a:pPr marL="0" indent="0">
                        <a:lnSpc>
                          <a:spcPts val="1820"/>
                        </a:lnSpc>
                        <a:buNone/>
                      </a:pPr>
                      <a:r>
                        <a:rPr lang="en-US" sz="1300" dirty="0">
                          <a:solidFill>
                            <a:srgbClr val="334155"/>
                          </a:solidFill>
                          <a:latin typeface="Inter" pitchFamily="34" charset="0"/>
                          <a:ea typeface="Inter" pitchFamily="34" charset="-122"/>
                          <a:cs typeface="Inter" pitchFamily="34" charset="-120"/>
                        </a:rPr>
                        <a:t>Applications séparées reliées par quelques connecteurs.</a:t>
                      </a:r>
                      <a:endParaRPr lang="en-US" sz="1300" dirty="0">
                        <a:latin typeface="Inter" charset="0"/>
                        <a:ea typeface="Inter" charset="0"/>
                        <a:cs typeface="Inter" charset="0"/>
                      </a:endParaRPr>
                    </a:p>
                  </a:txBody>
                  <a:tcPr marL="57785" marR="57785" marT="57785" marB="57785">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tc>
                  <a:txBody>
                    <a:bodyPr/>
                    <a:lstStyle/>
                    <a:p>
                      <a:pPr marL="0" indent="0">
                        <a:lnSpc>
                          <a:spcPts val="1820"/>
                        </a:lnSpc>
                        <a:buNone/>
                      </a:pPr>
                      <a:r>
                        <a:rPr lang="en-US" sz="1300" dirty="0">
                          <a:solidFill>
                            <a:srgbClr val="334155"/>
                          </a:solidFill>
                          <a:latin typeface="Inter" pitchFamily="34" charset="0"/>
                          <a:ea typeface="Inter" pitchFamily="34" charset="-122"/>
                          <a:cs typeface="Inter" pitchFamily="34" charset="-120"/>
                        </a:rPr>
                        <a:t>Ni identité ni présence communes</a:t>
                      </a:r>
                      <a:endParaRPr lang="en-US" sz="1300" dirty="0">
                        <a:latin typeface="Inter" charset="0"/>
                        <a:ea typeface="Inter" charset="0"/>
                        <a:cs typeface="Inter" charset="0"/>
                      </a:endParaRPr>
                    </a:p>
                  </a:txBody>
                  <a:tcPr marL="57785" marR="57785" marT="57785" marB="57785">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extLst>
                  <a:ext uri="{0D108BD9-81ED-4DB2-BD59-A6C34878D82A}">
                    <a16:rowId xmlns:a16="http://schemas.microsoft.com/office/drawing/2014/main" val="10004"/>
                  </a:ext>
                </a:extLst>
              </a:tr>
            </a:tbl>
          </a:graphicData>
        </a:graphic>
      </p:graphicFrame>
      <p:sp>
        <p:nvSpPr>
          <p:cNvPr id="6" name="Text 3"/>
          <p:cNvSpPr/>
          <p:nvPr/>
        </p:nvSpPr>
        <p:spPr>
          <a:xfrm>
            <a:off x="812800" y="472313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1F3A"/>
                </a:solidFill>
                <a:latin typeface="Inter" pitchFamily="34" charset="0"/>
                <a:ea typeface="Inter" pitchFamily="34" charset="-122"/>
                <a:cs typeface="Inter" pitchFamily="34" charset="-120"/>
              </a:rPr>
              <a:t>Critère de décision :</a:t>
            </a:r>
            <a:r>
              <a:rPr lang="en-US" sz="1400" dirty="0">
                <a:solidFill>
                  <a:srgbClr val="0B1F3A"/>
                </a:solidFill>
                <a:latin typeface="Inter" pitchFamily="34" charset="0"/>
                <a:ea typeface="Inter" pitchFamily="34" charset="-122"/>
                <a:cs typeface="Inter" pitchFamily="34" charset="-120"/>
              </a:rPr>
              <a:t> si je change de média sans changer d’identité ni de contexte, c’est de l’UC.</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838200" y="812800"/>
            <a:ext cx="0" cy="213360"/>
          </a:xfrm>
          <a:prstGeom prst="line">
            <a:avLst/>
          </a:prstGeom>
          <a:noFill/>
          <a:ln w="50800">
            <a:solidFill>
              <a:srgbClr val="FF7A1A"/>
            </a:solidFill>
            <a:prstDash val="solid"/>
          </a:ln>
        </p:spPr>
        <p:txBody>
          <a:bodyPr/>
          <a:lstStyle/>
          <a:p>
            <a:endParaRPr lang="fr-FR"/>
          </a:p>
        </p:txBody>
      </p:sp>
      <p:sp>
        <p:nvSpPr>
          <p:cNvPr id="3" name="Text 1"/>
          <p:cNvSpPr/>
          <p:nvPr/>
        </p:nvSpPr>
        <p:spPr>
          <a:xfrm>
            <a:off x="965200" y="812800"/>
            <a:ext cx="107264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COMPOSANTS</a:t>
            </a:r>
            <a:endParaRPr lang="en-US" sz="1200" dirty="0"/>
          </a:p>
        </p:txBody>
      </p:sp>
      <p:sp>
        <p:nvSpPr>
          <p:cNvPr id="4" name="Text 2"/>
          <p:cNvSpPr>
            <a:spLocks noGrp="1"/>
          </p:cNvSpPr>
          <p:nvPr>
            <p:ph type="title"/>
          </p:nvPr>
        </p:nvSpPr>
        <p:spPr>
          <a:xfrm>
            <a:off x="812800" y="1229361"/>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1F3A"/>
                </a:solidFill>
                <a:latin typeface="Space Grotesk" pitchFamily="34" charset="0"/>
                <a:ea typeface="Space Grotesk" pitchFamily="34" charset="-122"/>
                <a:cs typeface="Space Grotesk" pitchFamily="34" charset="-120"/>
              </a:rPr>
              <a:t>Neuf briques, une seule expérience</a:t>
            </a:r>
            <a:endParaRPr lang="en-US" sz="2800" dirty="0"/>
          </a:p>
        </p:txBody>
      </p:sp>
      <p:sp>
        <p:nvSpPr>
          <p:cNvPr id="5" name="Shape 3"/>
          <p:cNvSpPr/>
          <p:nvPr/>
        </p:nvSpPr>
        <p:spPr>
          <a:xfrm>
            <a:off x="815975" y="1826896"/>
            <a:ext cx="3431064" cy="778510"/>
          </a:xfrm>
          <a:prstGeom prst="roundRect">
            <a:avLst>
              <a:gd name="adj" fmla="val 9380"/>
            </a:avLst>
          </a:prstGeom>
          <a:solidFill>
            <a:srgbClr val="FBFDFF"/>
          </a:solidFill>
          <a:ln w="6350">
            <a:solidFill>
              <a:srgbClr val="D5DEE9"/>
            </a:solidFill>
            <a:prstDash val="solid"/>
          </a:ln>
        </p:spPr>
        <p:txBody>
          <a:bodyPr/>
          <a:lstStyle/>
          <a:p>
            <a:endParaRPr lang="fr-FR"/>
          </a:p>
        </p:txBody>
      </p:sp>
      <p:sp>
        <p:nvSpPr>
          <p:cNvPr id="6" name="Text 4"/>
          <p:cNvSpPr/>
          <p:nvPr/>
        </p:nvSpPr>
        <p:spPr>
          <a:xfrm>
            <a:off x="970280" y="1981200"/>
            <a:ext cx="321612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1F3A"/>
                </a:solidFill>
                <a:latin typeface="Space Grotesk" pitchFamily="34" charset="0"/>
                <a:ea typeface="Space Grotesk" pitchFamily="34" charset="-122"/>
                <a:cs typeface="Space Grotesk" pitchFamily="34" charset="-120"/>
              </a:rPr>
              <a:t>Téléphonie IP</a:t>
            </a:r>
            <a:endParaRPr lang="en-US" sz="1400" dirty="0"/>
          </a:p>
        </p:txBody>
      </p:sp>
      <p:sp>
        <p:nvSpPr>
          <p:cNvPr id="7" name="Text 5"/>
          <p:cNvSpPr/>
          <p:nvPr/>
        </p:nvSpPr>
        <p:spPr>
          <a:xfrm>
            <a:off x="970280" y="2245361"/>
            <a:ext cx="3216127"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Appels sur le réseau IP, terminaux SIP.</a:t>
            </a:r>
            <a:endParaRPr lang="en-US" sz="1200" dirty="0"/>
          </a:p>
        </p:txBody>
      </p:sp>
      <p:sp>
        <p:nvSpPr>
          <p:cNvPr id="8" name="Shape 6"/>
          <p:cNvSpPr/>
          <p:nvPr/>
        </p:nvSpPr>
        <p:spPr>
          <a:xfrm>
            <a:off x="4380389" y="1826896"/>
            <a:ext cx="3431143" cy="778510"/>
          </a:xfrm>
          <a:prstGeom prst="roundRect">
            <a:avLst>
              <a:gd name="adj" fmla="val 9380"/>
            </a:avLst>
          </a:prstGeom>
          <a:solidFill>
            <a:srgbClr val="FBFDFF"/>
          </a:solidFill>
          <a:ln w="6350">
            <a:solidFill>
              <a:srgbClr val="D5DEE9"/>
            </a:solidFill>
            <a:prstDash val="solid"/>
          </a:ln>
        </p:spPr>
        <p:txBody>
          <a:bodyPr/>
          <a:lstStyle/>
          <a:p>
            <a:endParaRPr lang="fr-FR"/>
          </a:p>
        </p:txBody>
      </p:sp>
      <p:sp>
        <p:nvSpPr>
          <p:cNvPr id="9" name="Text 7"/>
          <p:cNvSpPr/>
          <p:nvPr/>
        </p:nvSpPr>
        <p:spPr>
          <a:xfrm>
            <a:off x="4534694" y="1981200"/>
            <a:ext cx="321620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1F3A"/>
                </a:solidFill>
                <a:latin typeface="Space Grotesk" pitchFamily="34" charset="0"/>
                <a:ea typeface="Space Grotesk" pitchFamily="34" charset="-122"/>
                <a:cs typeface="Space Grotesk" pitchFamily="34" charset="-120"/>
              </a:rPr>
              <a:t>Messagerie instantanée</a:t>
            </a:r>
            <a:endParaRPr lang="en-US" sz="1400" dirty="0"/>
          </a:p>
        </p:txBody>
      </p:sp>
      <p:sp>
        <p:nvSpPr>
          <p:cNvPr id="10" name="Text 8"/>
          <p:cNvSpPr/>
          <p:nvPr/>
        </p:nvSpPr>
        <p:spPr>
          <a:xfrm>
            <a:off x="4534694" y="2245361"/>
            <a:ext cx="3216209"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Échanges écrits individuels et en groupe.</a:t>
            </a:r>
            <a:endParaRPr lang="en-US" sz="1200" dirty="0"/>
          </a:p>
        </p:txBody>
      </p:sp>
      <p:sp>
        <p:nvSpPr>
          <p:cNvPr id="11" name="Shape 9"/>
          <p:cNvSpPr/>
          <p:nvPr/>
        </p:nvSpPr>
        <p:spPr>
          <a:xfrm>
            <a:off x="7944882" y="1826896"/>
            <a:ext cx="3431143" cy="778510"/>
          </a:xfrm>
          <a:prstGeom prst="roundRect">
            <a:avLst>
              <a:gd name="adj" fmla="val 9380"/>
            </a:avLst>
          </a:prstGeom>
          <a:solidFill>
            <a:srgbClr val="FBFDFF"/>
          </a:solidFill>
          <a:ln w="6350">
            <a:solidFill>
              <a:srgbClr val="D5DEE9"/>
            </a:solidFill>
            <a:prstDash val="solid"/>
          </a:ln>
        </p:spPr>
        <p:txBody>
          <a:bodyPr/>
          <a:lstStyle/>
          <a:p>
            <a:endParaRPr lang="fr-FR"/>
          </a:p>
        </p:txBody>
      </p:sp>
      <p:sp>
        <p:nvSpPr>
          <p:cNvPr id="12" name="Text 10"/>
          <p:cNvSpPr/>
          <p:nvPr/>
        </p:nvSpPr>
        <p:spPr>
          <a:xfrm>
            <a:off x="8099187" y="1981200"/>
            <a:ext cx="321620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1F3A"/>
                </a:solidFill>
                <a:latin typeface="Space Grotesk" pitchFamily="34" charset="0"/>
                <a:ea typeface="Space Grotesk" pitchFamily="34" charset="-122"/>
                <a:cs typeface="Space Grotesk" pitchFamily="34" charset="-120"/>
              </a:rPr>
              <a:t>Présence</a:t>
            </a:r>
            <a:endParaRPr lang="en-US" sz="1400" dirty="0"/>
          </a:p>
        </p:txBody>
      </p:sp>
      <p:sp>
        <p:nvSpPr>
          <p:cNvPr id="13" name="Text 11"/>
          <p:cNvSpPr/>
          <p:nvPr/>
        </p:nvSpPr>
        <p:spPr>
          <a:xfrm>
            <a:off x="8099187" y="2245361"/>
            <a:ext cx="3216209"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État de disponibilité visible partout.</a:t>
            </a:r>
            <a:endParaRPr lang="en-US" sz="1200" dirty="0"/>
          </a:p>
        </p:txBody>
      </p:sp>
      <p:sp>
        <p:nvSpPr>
          <p:cNvPr id="14" name="Shape 12"/>
          <p:cNvSpPr/>
          <p:nvPr/>
        </p:nvSpPr>
        <p:spPr>
          <a:xfrm>
            <a:off x="815975" y="2738757"/>
            <a:ext cx="3431064" cy="984250"/>
          </a:xfrm>
          <a:prstGeom prst="roundRect">
            <a:avLst>
              <a:gd name="adj" fmla="val 7419"/>
            </a:avLst>
          </a:prstGeom>
          <a:solidFill>
            <a:srgbClr val="FBFDFF"/>
          </a:solidFill>
          <a:ln w="6350">
            <a:solidFill>
              <a:srgbClr val="D5DEE9"/>
            </a:solidFill>
            <a:prstDash val="solid"/>
          </a:ln>
        </p:spPr>
        <p:txBody>
          <a:bodyPr/>
          <a:lstStyle/>
          <a:p>
            <a:endParaRPr lang="fr-FR"/>
          </a:p>
        </p:txBody>
      </p:sp>
      <p:sp>
        <p:nvSpPr>
          <p:cNvPr id="15" name="Text 13"/>
          <p:cNvSpPr/>
          <p:nvPr/>
        </p:nvSpPr>
        <p:spPr>
          <a:xfrm>
            <a:off x="970280" y="2893061"/>
            <a:ext cx="321612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1F3A"/>
                </a:solidFill>
                <a:latin typeface="Space Grotesk" pitchFamily="34" charset="0"/>
                <a:ea typeface="Space Grotesk" pitchFamily="34" charset="-122"/>
                <a:cs typeface="Space Grotesk" pitchFamily="34" charset="-120"/>
              </a:rPr>
              <a:t>Visioconférence</a:t>
            </a:r>
            <a:endParaRPr lang="en-US" sz="1400" dirty="0"/>
          </a:p>
        </p:txBody>
      </p:sp>
      <p:sp>
        <p:nvSpPr>
          <p:cNvPr id="16" name="Text 14"/>
          <p:cNvSpPr/>
          <p:nvPr/>
        </p:nvSpPr>
        <p:spPr>
          <a:xfrm>
            <a:off x="970280" y="3157221"/>
            <a:ext cx="3216127"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Réunions audio et vidéo à plusieurs.</a:t>
            </a:r>
            <a:endParaRPr lang="en-US" sz="1200" dirty="0"/>
          </a:p>
        </p:txBody>
      </p:sp>
      <p:sp>
        <p:nvSpPr>
          <p:cNvPr id="17" name="Shape 15"/>
          <p:cNvSpPr/>
          <p:nvPr/>
        </p:nvSpPr>
        <p:spPr>
          <a:xfrm>
            <a:off x="4380389" y="2738757"/>
            <a:ext cx="3431143" cy="984250"/>
          </a:xfrm>
          <a:prstGeom prst="roundRect">
            <a:avLst>
              <a:gd name="adj" fmla="val 7419"/>
            </a:avLst>
          </a:prstGeom>
          <a:solidFill>
            <a:srgbClr val="FBFDFF"/>
          </a:solidFill>
          <a:ln w="6350">
            <a:solidFill>
              <a:srgbClr val="D5DEE9"/>
            </a:solidFill>
            <a:prstDash val="solid"/>
          </a:ln>
        </p:spPr>
        <p:txBody>
          <a:bodyPr/>
          <a:lstStyle/>
          <a:p>
            <a:endParaRPr lang="fr-FR"/>
          </a:p>
        </p:txBody>
      </p:sp>
      <p:sp>
        <p:nvSpPr>
          <p:cNvPr id="18" name="Text 16"/>
          <p:cNvSpPr/>
          <p:nvPr/>
        </p:nvSpPr>
        <p:spPr>
          <a:xfrm>
            <a:off x="4534694" y="2893061"/>
            <a:ext cx="321620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1F3A"/>
                </a:solidFill>
                <a:latin typeface="Space Grotesk" pitchFamily="34" charset="0"/>
                <a:ea typeface="Space Grotesk" pitchFamily="34" charset="-122"/>
                <a:cs typeface="Space Grotesk" pitchFamily="34" charset="-120"/>
              </a:rPr>
              <a:t>Messagerie vocale</a:t>
            </a:r>
            <a:endParaRPr lang="en-US" sz="1400" dirty="0"/>
          </a:p>
        </p:txBody>
      </p:sp>
      <p:sp>
        <p:nvSpPr>
          <p:cNvPr id="19" name="Text 17"/>
          <p:cNvSpPr/>
          <p:nvPr/>
        </p:nvSpPr>
        <p:spPr>
          <a:xfrm>
            <a:off x="4534694" y="3157221"/>
            <a:ext cx="3216209"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Messages déposés, consultables partout.</a:t>
            </a:r>
            <a:endParaRPr lang="en-US" sz="1200" dirty="0"/>
          </a:p>
        </p:txBody>
      </p:sp>
      <p:sp>
        <p:nvSpPr>
          <p:cNvPr id="20" name="Shape 18"/>
          <p:cNvSpPr/>
          <p:nvPr/>
        </p:nvSpPr>
        <p:spPr>
          <a:xfrm>
            <a:off x="7944882" y="2738757"/>
            <a:ext cx="3431143" cy="984250"/>
          </a:xfrm>
          <a:prstGeom prst="roundRect">
            <a:avLst>
              <a:gd name="adj" fmla="val 7419"/>
            </a:avLst>
          </a:prstGeom>
          <a:solidFill>
            <a:srgbClr val="FBFDFF"/>
          </a:solidFill>
          <a:ln w="6350">
            <a:solidFill>
              <a:srgbClr val="D5DEE9"/>
            </a:solidFill>
            <a:prstDash val="solid"/>
          </a:ln>
        </p:spPr>
        <p:txBody>
          <a:bodyPr/>
          <a:lstStyle/>
          <a:p>
            <a:endParaRPr lang="fr-FR"/>
          </a:p>
        </p:txBody>
      </p:sp>
      <p:sp>
        <p:nvSpPr>
          <p:cNvPr id="21" name="Text 19"/>
          <p:cNvSpPr/>
          <p:nvPr/>
        </p:nvSpPr>
        <p:spPr>
          <a:xfrm>
            <a:off x="8099187" y="2893061"/>
            <a:ext cx="321620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1F3A"/>
                </a:solidFill>
                <a:latin typeface="Space Grotesk" pitchFamily="34" charset="0"/>
                <a:ea typeface="Space Grotesk" pitchFamily="34" charset="-122"/>
                <a:cs typeface="Space Grotesk" pitchFamily="34" charset="-120"/>
              </a:rPr>
              <a:t>Partage de fichiers</a:t>
            </a:r>
            <a:endParaRPr lang="en-US" sz="1400" dirty="0"/>
          </a:p>
        </p:txBody>
      </p:sp>
      <p:sp>
        <p:nvSpPr>
          <p:cNvPr id="22" name="Text 20"/>
          <p:cNvSpPr/>
          <p:nvPr/>
        </p:nvSpPr>
        <p:spPr>
          <a:xfrm>
            <a:off x="8099187" y="3157221"/>
            <a:ext cx="3216209"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Documents échangés dans la conversation.</a:t>
            </a:r>
            <a:endParaRPr lang="en-US" sz="1200" dirty="0"/>
          </a:p>
        </p:txBody>
      </p:sp>
      <p:sp>
        <p:nvSpPr>
          <p:cNvPr id="23" name="Shape 21"/>
          <p:cNvSpPr/>
          <p:nvPr/>
        </p:nvSpPr>
        <p:spPr>
          <a:xfrm>
            <a:off x="815975" y="3856357"/>
            <a:ext cx="3431064" cy="984250"/>
          </a:xfrm>
          <a:prstGeom prst="roundRect">
            <a:avLst>
              <a:gd name="adj" fmla="val 7419"/>
            </a:avLst>
          </a:prstGeom>
          <a:solidFill>
            <a:srgbClr val="FBFDFF"/>
          </a:solidFill>
          <a:ln w="6350">
            <a:solidFill>
              <a:srgbClr val="D5DEE9"/>
            </a:solidFill>
            <a:prstDash val="solid"/>
          </a:ln>
        </p:spPr>
        <p:txBody>
          <a:bodyPr/>
          <a:lstStyle/>
          <a:p>
            <a:endParaRPr lang="fr-FR"/>
          </a:p>
        </p:txBody>
      </p:sp>
      <p:sp>
        <p:nvSpPr>
          <p:cNvPr id="24" name="Text 22"/>
          <p:cNvSpPr/>
          <p:nvPr/>
        </p:nvSpPr>
        <p:spPr>
          <a:xfrm>
            <a:off x="970280" y="4010661"/>
            <a:ext cx="321612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1F3A"/>
                </a:solidFill>
                <a:latin typeface="Space Grotesk" pitchFamily="34" charset="0"/>
                <a:ea typeface="Space Grotesk" pitchFamily="34" charset="-122"/>
                <a:cs typeface="Space Grotesk" pitchFamily="34" charset="-120"/>
              </a:rPr>
              <a:t>Partage d’écran</a:t>
            </a:r>
            <a:endParaRPr lang="en-US" sz="1400" dirty="0"/>
          </a:p>
        </p:txBody>
      </p:sp>
      <p:sp>
        <p:nvSpPr>
          <p:cNvPr id="25" name="Text 23"/>
          <p:cNvSpPr/>
          <p:nvPr/>
        </p:nvSpPr>
        <p:spPr>
          <a:xfrm>
            <a:off x="970280" y="4274821"/>
            <a:ext cx="3216127"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Montrer une application ou le bureau.</a:t>
            </a:r>
            <a:endParaRPr lang="en-US" sz="1200" dirty="0"/>
          </a:p>
        </p:txBody>
      </p:sp>
      <p:sp>
        <p:nvSpPr>
          <p:cNvPr id="26" name="Shape 24"/>
          <p:cNvSpPr/>
          <p:nvPr/>
        </p:nvSpPr>
        <p:spPr>
          <a:xfrm>
            <a:off x="4380389" y="3856357"/>
            <a:ext cx="3431143" cy="984250"/>
          </a:xfrm>
          <a:prstGeom prst="roundRect">
            <a:avLst>
              <a:gd name="adj" fmla="val 7419"/>
            </a:avLst>
          </a:prstGeom>
          <a:solidFill>
            <a:srgbClr val="FBFDFF"/>
          </a:solidFill>
          <a:ln w="6350">
            <a:solidFill>
              <a:srgbClr val="D5DEE9"/>
            </a:solidFill>
            <a:prstDash val="solid"/>
          </a:ln>
        </p:spPr>
        <p:txBody>
          <a:bodyPr/>
          <a:lstStyle/>
          <a:p>
            <a:endParaRPr lang="fr-FR"/>
          </a:p>
        </p:txBody>
      </p:sp>
      <p:sp>
        <p:nvSpPr>
          <p:cNvPr id="27" name="Text 25"/>
          <p:cNvSpPr/>
          <p:nvPr/>
        </p:nvSpPr>
        <p:spPr>
          <a:xfrm>
            <a:off x="4534694" y="4010661"/>
            <a:ext cx="321620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1F3A"/>
                </a:solidFill>
                <a:latin typeface="Space Grotesk" pitchFamily="34" charset="0"/>
                <a:ea typeface="Space Grotesk" pitchFamily="34" charset="-122"/>
                <a:cs typeface="Space Grotesk" pitchFamily="34" charset="-120"/>
              </a:rPr>
              <a:t>Annuaire</a:t>
            </a:r>
            <a:endParaRPr lang="en-US" sz="1400" dirty="0"/>
          </a:p>
        </p:txBody>
      </p:sp>
      <p:sp>
        <p:nvSpPr>
          <p:cNvPr id="28" name="Text 26"/>
          <p:cNvSpPr/>
          <p:nvPr/>
        </p:nvSpPr>
        <p:spPr>
          <a:xfrm>
            <a:off x="4534694" y="4274821"/>
            <a:ext cx="3216209"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Identités, numéros et groupes centralisés.</a:t>
            </a:r>
            <a:endParaRPr lang="en-US" sz="1200" dirty="0"/>
          </a:p>
        </p:txBody>
      </p:sp>
      <p:sp>
        <p:nvSpPr>
          <p:cNvPr id="29" name="Shape 27"/>
          <p:cNvSpPr/>
          <p:nvPr/>
        </p:nvSpPr>
        <p:spPr>
          <a:xfrm>
            <a:off x="7944882" y="3856357"/>
            <a:ext cx="3431143" cy="984250"/>
          </a:xfrm>
          <a:prstGeom prst="roundRect">
            <a:avLst>
              <a:gd name="adj" fmla="val 7419"/>
            </a:avLst>
          </a:prstGeom>
          <a:solidFill>
            <a:srgbClr val="FBFDFF"/>
          </a:solidFill>
          <a:ln w="6350">
            <a:solidFill>
              <a:srgbClr val="D5DEE9"/>
            </a:solidFill>
            <a:prstDash val="solid"/>
          </a:ln>
        </p:spPr>
        <p:txBody>
          <a:bodyPr/>
          <a:lstStyle/>
          <a:p>
            <a:endParaRPr lang="fr-FR"/>
          </a:p>
        </p:txBody>
      </p:sp>
      <p:sp>
        <p:nvSpPr>
          <p:cNvPr id="30" name="Text 28"/>
          <p:cNvSpPr/>
          <p:nvPr/>
        </p:nvSpPr>
        <p:spPr>
          <a:xfrm>
            <a:off x="8099187" y="4010661"/>
            <a:ext cx="321620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1F3A"/>
                </a:solidFill>
                <a:latin typeface="Space Grotesk" pitchFamily="34" charset="0"/>
                <a:ea typeface="Space Grotesk" pitchFamily="34" charset="-122"/>
                <a:cs typeface="Space Grotesk" pitchFamily="34" charset="-120"/>
              </a:rPr>
              <a:t>Mobilité</a:t>
            </a:r>
            <a:endParaRPr lang="en-US" sz="1400" dirty="0"/>
          </a:p>
        </p:txBody>
      </p:sp>
      <p:sp>
        <p:nvSpPr>
          <p:cNvPr id="31" name="Text 29"/>
          <p:cNvSpPr/>
          <p:nvPr/>
        </p:nvSpPr>
        <p:spPr>
          <a:xfrm>
            <a:off x="8099187" y="4274821"/>
            <a:ext cx="3216209"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Même compte sur ordinateur, mobile et web.</a:t>
            </a:r>
            <a:endParaRPr lang="en-US" sz="1200" dirty="0"/>
          </a:p>
        </p:txBody>
      </p:sp>
      <p:sp>
        <p:nvSpPr>
          <p:cNvPr id="32" name="Text 30"/>
          <p:cNvSpPr/>
          <p:nvPr/>
        </p:nvSpPr>
        <p:spPr>
          <a:xfrm>
            <a:off x="812800" y="5046982"/>
            <a:ext cx="10566400" cy="544830"/>
          </a:xfrm>
          <a:prstGeom prst="roundRect">
            <a:avLst>
              <a:gd name="adj" fmla="val 13986"/>
            </a:avLst>
          </a:prstGeom>
          <a:solidFill>
            <a:srgbClr val="0B1F3A"/>
          </a:solidFill>
          <a:ln/>
        </p:spPr>
        <p:txBody>
          <a:bodyPr wrap="square" lIns="231682" tIns="130082" rIns="0" bIns="104682" rtlCol="0" anchor="t">
            <a:normAutofit/>
          </a:bodyPr>
          <a:lstStyle/>
          <a:p>
            <a:pPr marL="0" indent="0" algn="l">
              <a:lnSpc>
                <a:spcPts val="1890"/>
              </a:lnSpc>
              <a:buNone/>
            </a:pPr>
            <a:r>
              <a:rPr lang="en-US" sz="1400" dirty="0">
                <a:solidFill>
                  <a:srgbClr val="F3F6FA"/>
                </a:solidFill>
                <a:latin typeface="Inter" pitchFamily="34" charset="0"/>
                <a:ea typeface="Inter" pitchFamily="34" charset="-122"/>
                <a:cs typeface="Inter" pitchFamily="34" charset="-120"/>
              </a:rPr>
              <a:t>Ce qui rend la solution unifiée : l’annuaire et la présence relient toutes les autres briques.</a:t>
            </a:r>
            <a:endParaRPr lang="en-US" sz="1400" dirty="0"/>
          </a:p>
        </p:txBody>
      </p:sp>
      <p:sp>
        <p:nvSpPr>
          <p:cNvPr id="33" name="Shape 31"/>
          <p:cNvSpPr/>
          <p:nvPr/>
        </p:nvSpPr>
        <p:spPr>
          <a:xfrm>
            <a:off x="812800" y="5046982"/>
            <a:ext cx="10566400" cy="544830"/>
          </a:xfrm>
          <a:custGeom>
            <a:avLst/>
            <a:gdLst/>
            <a:ahLst/>
            <a:cxnLst/>
            <a:rect l="l" t="t" r="r" b="b"/>
            <a:pathLst>
              <a:path w="10566400" h="544830">
                <a:moveTo>
                  <a:pt x="76200" y="544830"/>
                </a:moveTo>
                <a:lnTo>
                  <a:pt x="76200" y="544830"/>
                </a:lnTo>
                <a:arcTo wR="76200" hR="76200" stAng="5400000" swAng="5400000"/>
                <a:lnTo>
                  <a:pt x="0" y="76200"/>
                </a:lnTo>
                <a:arcTo wR="76200" hR="76200" stAng="10800000" swAng="5400000"/>
                <a:lnTo>
                  <a:pt x="76200" y="0"/>
                </a:lnTo>
                <a:arcTo wR="25400" hR="76200" stAng="16200000" swAng="-5400000"/>
                <a:lnTo>
                  <a:pt x="50800" y="468630"/>
                </a:lnTo>
                <a:arcTo wR="25400" hR="76200" stAng="10800000" swAng="-5400000"/>
                <a:close/>
              </a:path>
            </a:pathLst>
          </a:custGeom>
          <a:solidFill>
            <a:srgbClr val="FF7A1A"/>
          </a:solidFill>
          <a:ln/>
        </p:spPr>
        <p:txBody>
          <a:bodyPr/>
          <a:lstStyle/>
          <a:p>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F7A1A"/>
                </a:solidFill>
                <a:latin typeface="JetBrains Mono" pitchFamily="49" charset="0"/>
                <a:ea typeface="JetBrains Mono" pitchFamily="49" charset="-122"/>
                <a:cs typeface="JetBrains Mono" pitchFamily="49" charset="-120"/>
              </a:rPr>
              <a:t>ARCHITECTURE GÉNÉRALE</a:t>
            </a:r>
            <a:endParaRPr lang="en-US" sz="1200" dirty="0"/>
          </a:p>
        </p:txBody>
      </p:sp>
      <p:sp>
        <p:nvSpPr>
          <p:cNvPr id="3" name="Text 1"/>
          <p:cNvSpPr>
            <a:spLocks noGrp="1"/>
          </p:cNvSpPr>
          <p:nvPr>
            <p:ph type="title"/>
          </p:nvPr>
        </p:nvSpPr>
        <p:spPr>
          <a:xfrm>
            <a:off x="812800" y="1178561"/>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3F6FA"/>
                </a:solidFill>
                <a:latin typeface="Space Grotesk" pitchFamily="34" charset="0"/>
                <a:ea typeface="Space Grotesk" pitchFamily="34" charset="-122"/>
                <a:cs typeface="Space Grotesk" pitchFamily="34" charset="-120"/>
              </a:rPr>
              <a:t>Deux plans : signalisation et média</a:t>
            </a:r>
            <a:endParaRPr lang="en-US" sz="2800" dirty="0"/>
          </a:p>
        </p:txBody>
      </p:sp>
      <p:sp>
        <p:nvSpPr>
          <p:cNvPr id="4" name="Shape 2"/>
          <p:cNvSpPr/>
          <p:nvPr/>
        </p:nvSpPr>
        <p:spPr>
          <a:xfrm>
            <a:off x="4578350" y="1911350"/>
            <a:ext cx="3035300" cy="3543300"/>
          </a:xfrm>
          <a:prstGeom prst="roundRect">
            <a:avLst>
              <a:gd name="adj" fmla="val 3975"/>
            </a:avLst>
          </a:prstGeom>
          <a:solidFill>
            <a:srgbClr val="12305A"/>
          </a:solidFill>
          <a:ln w="12700">
            <a:solidFill>
              <a:srgbClr val="2A4B7A"/>
            </a:solidFill>
            <a:prstDash val="solid"/>
          </a:ln>
        </p:spPr>
        <p:txBody>
          <a:bodyPr/>
          <a:lstStyle/>
          <a:p>
            <a:endParaRPr lang="fr-FR"/>
          </a:p>
        </p:txBody>
      </p:sp>
      <p:sp>
        <p:nvSpPr>
          <p:cNvPr id="5" name="Text 3"/>
          <p:cNvSpPr/>
          <p:nvPr/>
        </p:nvSpPr>
        <p:spPr>
          <a:xfrm>
            <a:off x="4762500" y="2006600"/>
            <a:ext cx="274701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7A398"/>
                </a:solidFill>
                <a:latin typeface="JetBrains Mono" pitchFamily="49" charset="0"/>
                <a:ea typeface="JetBrains Mono" pitchFamily="49" charset="-122"/>
                <a:cs typeface="JetBrains Mono" pitchFamily="49" charset="-120"/>
              </a:rPr>
              <a:t>PLATEFORME UC</a:t>
            </a:r>
            <a:endParaRPr lang="en-US" sz="1200" dirty="0"/>
          </a:p>
        </p:txBody>
      </p:sp>
      <p:sp>
        <p:nvSpPr>
          <p:cNvPr id="6" name="Shape 4"/>
          <p:cNvSpPr/>
          <p:nvPr/>
        </p:nvSpPr>
        <p:spPr>
          <a:xfrm>
            <a:off x="812800" y="2159000"/>
            <a:ext cx="2413000" cy="889000"/>
          </a:xfrm>
          <a:prstGeom prst="roundRect">
            <a:avLst>
              <a:gd name="adj" fmla="val 11429"/>
            </a:avLst>
          </a:prstGeom>
          <a:solidFill>
            <a:srgbClr val="12305A"/>
          </a:solidFill>
          <a:ln/>
        </p:spPr>
        <p:txBody>
          <a:bodyPr/>
          <a:lstStyle/>
          <a:p>
            <a:endParaRPr lang="fr-FR"/>
          </a:p>
        </p:txBody>
      </p:sp>
      <p:sp>
        <p:nvSpPr>
          <p:cNvPr id="7" name="Text 5"/>
          <p:cNvSpPr/>
          <p:nvPr/>
        </p:nvSpPr>
        <p:spPr>
          <a:xfrm>
            <a:off x="965200" y="2371089"/>
            <a:ext cx="217144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3F6FA"/>
                </a:solidFill>
                <a:latin typeface="Space Grotesk" pitchFamily="34" charset="0"/>
                <a:ea typeface="Space Grotesk" pitchFamily="34" charset="-122"/>
                <a:cs typeface="Space Grotesk" pitchFamily="34" charset="-120"/>
              </a:rPr>
              <a:t>Poste de travail</a:t>
            </a:r>
            <a:endParaRPr lang="en-US" sz="1400" dirty="0"/>
          </a:p>
        </p:txBody>
      </p:sp>
      <p:sp>
        <p:nvSpPr>
          <p:cNvPr id="8" name="Text 6"/>
          <p:cNvSpPr/>
          <p:nvPr/>
        </p:nvSpPr>
        <p:spPr>
          <a:xfrm>
            <a:off x="965200" y="2622550"/>
            <a:ext cx="21714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Softphone, client UC</a:t>
            </a:r>
            <a:endParaRPr lang="en-US" sz="1200" dirty="0"/>
          </a:p>
        </p:txBody>
      </p:sp>
      <p:sp>
        <p:nvSpPr>
          <p:cNvPr id="9" name="Shape 7"/>
          <p:cNvSpPr/>
          <p:nvPr/>
        </p:nvSpPr>
        <p:spPr>
          <a:xfrm>
            <a:off x="812800" y="3302000"/>
            <a:ext cx="2413000" cy="889000"/>
          </a:xfrm>
          <a:prstGeom prst="roundRect">
            <a:avLst>
              <a:gd name="adj" fmla="val 11429"/>
            </a:avLst>
          </a:prstGeom>
          <a:solidFill>
            <a:srgbClr val="12305A"/>
          </a:solidFill>
          <a:ln/>
        </p:spPr>
        <p:txBody>
          <a:bodyPr/>
          <a:lstStyle/>
          <a:p>
            <a:endParaRPr lang="fr-FR"/>
          </a:p>
        </p:txBody>
      </p:sp>
      <p:sp>
        <p:nvSpPr>
          <p:cNvPr id="10" name="Text 8"/>
          <p:cNvSpPr/>
          <p:nvPr/>
        </p:nvSpPr>
        <p:spPr>
          <a:xfrm>
            <a:off x="965200" y="3514089"/>
            <a:ext cx="217144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3F6FA"/>
                </a:solidFill>
                <a:latin typeface="Space Grotesk" pitchFamily="34" charset="0"/>
                <a:ea typeface="Space Grotesk" pitchFamily="34" charset="-122"/>
                <a:cs typeface="Space Grotesk" pitchFamily="34" charset="-120"/>
              </a:rPr>
              <a:t>Téléphone IP</a:t>
            </a:r>
            <a:endParaRPr lang="en-US" sz="1400" dirty="0"/>
          </a:p>
        </p:txBody>
      </p:sp>
      <p:sp>
        <p:nvSpPr>
          <p:cNvPr id="11" name="Text 9"/>
          <p:cNvSpPr/>
          <p:nvPr/>
        </p:nvSpPr>
        <p:spPr>
          <a:xfrm>
            <a:off x="965200" y="3765550"/>
            <a:ext cx="21714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Terminal SIP</a:t>
            </a:r>
            <a:endParaRPr lang="en-US" sz="1200" dirty="0"/>
          </a:p>
        </p:txBody>
      </p:sp>
      <p:sp>
        <p:nvSpPr>
          <p:cNvPr id="12" name="Shape 10"/>
          <p:cNvSpPr/>
          <p:nvPr/>
        </p:nvSpPr>
        <p:spPr>
          <a:xfrm>
            <a:off x="812800" y="4445000"/>
            <a:ext cx="2413000" cy="889000"/>
          </a:xfrm>
          <a:prstGeom prst="roundRect">
            <a:avLst>
              <a:gd name="adj" fmla="val 11429"/>
            </a:avLst>
          </a:prstGeom>
          <a:solidFill>
            <a:srgbClr val="12305A"/>
          </a:solidFill>
          <a:ln/>
        </p:spPr>
        <p:txBody>
          <a:bodyPr/>
          <a:lstStyle/>
          <a:p>
            <a:endParaRPr lang="fr-FR"/>
          </a:p>
        </p:txBody>
      </p:sp>
      <p:sp>
        <p:nvSpPr>
          <p:cNvPr id="13" name="Text 11"/>
          <p:cNvSpPr/>
          <p:nvPr/>
        </p:nvSpPr>
        <p:spPr>
          <a:xfrm>
            <a:off x="965200" y="4657089"/>
            <a:ext cx="217144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3F6FA"/>
                </a:solidFill>
                <a:latin typeface="Space Grotesk" pitchFamily="34" charset="0"/>
                <a:ea typeface="Space Grotesk" pitchFamily="34" charset="-122"/>
                <a:cs typeface="Space Grotesk" pitchFamily="34" charset="-120"/>
              </a:rPr>
              <a:t>Mobile et navigateur</a:t>
            </a:r>
            <a:endParaRPr lang="en-US" sz="1400" dirty="0"/>
          </a:p>
        </p:txBody>
      </p:sp>
      <p:sp>
        <p:nvSpPr>
          <p:cNvPr id="14" name="Text 12"/>
          <p:cNvSpPr/>
          <p:nvPr/>
        </p:nvSpPr>
        <p:spPr>
          <a:xfrm>
            <a:off x="965200" y="4908550"/>
            <a:ext cx="21714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Application, WebRTC</a:t>
            </a:r>
            <a:endParaRPr lang="en-US" sz="1200" dirty="0"/>
          </a:p>
        </p:txBody>
      </p:sp>
      <p:sp>
        <p:nvSpPr>
          <p:cNvPr id="15" name="Shape 13"/>
          <p:cNvSpPr/>
          <p:nvPr/>
        </p:nvSpPr>
        <p:spPr>
          <a:xfrm>
            <a:off x="4762500" y="2286000"/>
            <a:ext cx="2667000" cy="635000"/>
          </a:xfrm>
          <a:prstGeom prst="roundRect">
            <a:avLst>
              <a:gd name="adj" fmla="val 12000"/>
            </a:avLst>
          </a:prstGeom>
          <a:solidFill>
            <a:srgbClr val="0B1F3A"/>
          </a:solidFill>
          <a:ln/>
        </p:spPr>
        <p:txBody>
          <a:bodyPr/>
          <a:lstStyle/>
          <a:p>
            <a:endParaRPr lang="fr-FR"/>
          </a:p>
        </p:txBody>
      </p:sp>
      <p:sp>
        <p:nvSpPr>
          <p:cNvPr id="16" name="Shape 14"/>
          <p:cNvSpPr/>
          <p:nvPr/>
        </p:nvSpPr>
        <p:spPr>
          <a:xfrm>
            <a:off x="4762500" y="2286000"/>
            <a:ext cx="2667000" cy="635000"/>
          </a:xfrm>
          <a:custGeom>
            <a:avLst/>
            <a:gdLst/>
            <a:ahLst/>
            <a:cxnLst/>
            <a:rect l="l" t="t" r="r" b="b"/>
            <a:pathLst>
              <a:path w="2667000" h="635000">
                <a:moveTo>
                  <a:pt x="76200" y="635000"/>
                </a:moveTo>
                <a:lnTo>
                  <a:pt x="76200" y="635000"/>
                </a:lnTo>
                <a:arcTo wR="76200" hR="76200" stAng="5400000" swAng="5400000"/>
                <a:lnTo>
                  <a:pt x="0" y="76200"/>
                </a:lnTo>
                <a:arcTo wR="76200" hR="76200" stAng="10800000" swAng="5400000"/>
                <a:lnTo>
                  <a:pt x="76200" y="0"/>
                </a:lnTo>
                <a:arcTo wR="38100" hR="76200" stAng="16200000" swAng="-5400000"/>
                <a:lnTo>
                  <a:pt x="38100" y="558800"/>
                </a:lnTo>
                <a:arcTo wR="38100" hR="76200" stAng="10800000" swAng="-5400000"/>
                <a:close/>
              </a:path>
            </a:pathLst>
          </a:custGeom>
          <a:solidFill>
            <a:srgbClr val="FF7A1A"/>
          </a:solidFill>
          <a:ln/>
        </p:spPr>
        <p:txBody>
          <a:bodyPr/>
          <a:lstStyle/>
          <a:p>
            <a:endParaRPr lang="fr-FR"/>
          </a:p>
        </p:txBody>
      </p:sp>
      <p:sp>
        <p:nvSpPr>
          <p:cNvPr id="17" name="Text 15"/>
          <p:cNvSpPr/>
          <p:nvPr/>
        </p:nvSpPr>
        <p:spPr>
          <a:xfrm>
            <a:off x="4950460" y="2377439"/>
            <a:ext cx="239643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3F6FA"/>
                </a:solidFill>
                <a:latin typeface="Space Grotesk" pitchFamily="34" charset="0"/>
                <a:ea typeface="Space Grotesk" pitchFamily="34" charset="-122"/>
                <a:cs typeface="Space Grotesk" pitchFamily="34" charset="-120"/>
              </a:rPr>
              <a:t>Signalisation</a:t>
            </a:r>
            <a:endParaRPr lang="en-US" sz="1400" dirty="0"/>
          </a:p>
        </p:txBody>
      </p:sp>
      <p:sp>
        <p:nvSpPr>
          <p:cNvPr id="18" name="Text 16"/>
          <p:cNvSpPr/>
          <p:nvPr/>
        </p:nvSpPr>
        <p:spPr>
          <a:xfrm>
            <a:off x="4950460" y="2616200"/>
            <a:ext cx="239643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Proxy, registrar SIP</a:t>
            </a:r>
            <a:endParaRPr lang="en-US" sz="1200" dirty="0"/>
          </a:p>
        </p:txBody>
      </p:sp>
      <p:sp>
        <p:nvSpPr>
          <p:cNvPr id="19" name="Shape 17"/>
          <p:cNvSpPr/>
          <p:nvPr/>
        </p:nvSpPr>
        <p:spPr>
          <a:xfrm>
            <a:off x="4762500" y="3429000"/>
            <a:ext cx="2667000" cy="635000"/>
          </a:xfrm>
          <a:prstGeom prst="roundRect">
            <a:avLst>
              <a:gd name="adj" fmla="val 12000"/>
            </a:avLst>
          </a:prstGeom>
          <a:solidFill>
            <a:srgbClr val="0B1F3A"/>
          </a:solidFill>
          <a:ln/>
        </p:spPr>
        <p:txBody>
          <a:bodyPr/>
          <a:lstStyle/>
          <a:p>
            <a:endParaRPr lang="fr-FR"/>
          </a:p>
        </p:txBody>
      </p:sp>
      <p:sp>
        <p:nvSpPr>
          <p:cNvPr id="20" name="Shape 18"/>
          <p:cNvSpPr/>
          <p:nvPr/>
        </p:nvSpPr>
        <p:spPr>
          <a:xfrm>
            <a:off x="4762500" y="3429000"/>
            <a:ext cx="2667000" cy="635000"/>
          </a:xfrm>
          <a:custGeom>
            <a:avLst/>
            <a:gdLst/>
            <a:ahLst/>
            <a:cxnLst/>
            <a:rect l="l" t="t" r="r" b="b"/>
            <a:pathLst>
              <a:path w="2667000" h="635000">
                <a:moveTo>
                  <a:pt x="76200" y="635000"/>
                </a:moveTo>
                <a:lnTo>
                  <a:pt x="76200" y="635000"/>
                </a:lnTo>
                <a:arcTo wR="76200" hR="76200" stAng="5400000" swAng="5400000"/>
                <a:lnTo>
                  <a:pt x="0" y="76200"/>
                </a:lnTo>
                <a:arcTo wR="76200" hR="76200" stAng="10800000" swAng="5400000"/>
                <a:lnTo>
                  <a:pt x="76200" y="0"/>
                </a:lnTo>
                <a:arcTo wR="38100" hR="76200" stAng="16200000" swAng="-5400000"/>
                <a:lnTo>
                  <a:pt x="38100" y="558800"/>
                </a:lnTo>
                <a:arcTo wR="38100" hR="76200" stAng="10800000" swAng="-5400000"/>
                <a:close/>
              </a:path>
            </a:pathLst>
          </a:custGeom>
          <a:solidFill>
            <a:srgbClr val="17A398"/>
          </a:solidFill>
          <a:ln/>
        </p:spPr>
        <p:txBody>
          <a:bodyPr/>
          <a:lstStyle/>
          <a:p>
            <a:endParaRPr lang="fr-FR"/>
          </a:p>
        </p:txBody>
      </p:sp>
      <p:sp>
        <p:nvSpPr>
          <p:cNvPr id="21" name="Text 19"/>
          <p:cNvSpPr/>
          <p:nvPr/>
        </p:nvSpPr>
        <p:spPr>
          <a:xfrm>
            <a:off x="4950460" y="3520439"/>
            <a:ext cx="239643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3F6FA"/>
                </a:solidFill>
                <a:latin typeface="Space Grotesk" pitchFamily="34" charset="0"/>
                <a:ea typeface="Space Grotesk" pitchFamily="34" charset="-122"/>
                <a:cs typeface="Space Grotesk" pitchFamily="34" charset="-120"/>
              </a:rPr>
              <a:t>Serveur de médias</a:t>
            </a:r>
            <a:endParaRPr lang="en-US" sz="1400" dirty="0"/>
          </a:p>
        </p:txBody>
      </p:sp>
      <p:sp>
        <p:nvSpPr>
          <p:cNvPr id="22" name="Text 20"/>
          <p:cNvSpPr/>
          <p:nvPr/>
        </p:nvSpPr>
        <p:spPr>
          <a:xfrm>
            <a:off x="4950460" y="3759200"/>
            <a:ext cx="239643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Conférence et mixage</a:t>
            </a:r>
            <a:endParaRPr lang="en-US" sz="1200" dirty="0"/>
          </a:p>
        </p:txBody>
      </p:sp>
      <p:sp>
        <p:nvSpPr>
          <p:cNvPr id="23" name="Shape 21"/>
          <p:cNvSpPr/>
          <p:nvPr/>
        </p:nvSpPr>
        <p:spPr>
          <a:xfrm>
            <a:off x="4762500" y="4572000"/>
            <a:ext cx="2667000" cy="635000"/>
          </a:xfrm>
          <a:prstGeom prst="roundRect">
            <a:avLst>
              <a:gd name="adj" fmla="val 12000"/>
            </a:avLst>
          </a:prstGeom>
          <a:solidFill>
            <a:srgbClr val="0B1F3A"/>
          </a:solidFill>
          <a:ln/>
        </p:spPr>
        <p:txBody>
          <a:bodyPr/>
          <a:lstStyle/>
          <a:p>
            <a:endParaRPr lang="fr-FR"/>
          </a:p>
        </p:txBody>
      </p:sp>
      <p:sp>
        <p:nvSpPr>
          <p:cNvPr id="24" name="Shape 22"/>
          <p:cNvSpPr/>
          <p:nvPr/>
        </p:nvSpPr>
        <p:spPr>
          <a:xfrm>
            <a:off x="4762500" y="4572000"/>
            <a:ext cx="2667000" cy="635000"/>
          </a:xfrm>
          <a:custGeom>
            <a:avLst/>
            <a:gdLst/>
            <a:ahLst/>
            <a:cxnLst/>
            <a:rect l="l" t="t" r="r" b="b"/>
            <a:pathLst>
              <a:path w="2667000" h="635000">
                <a:moveTo>
                  <a:pt x="76200" y="635000"/>
                </a:moveTo>
                <a:lnTo>
                  <a:pt x="76200" y="635000"/>
                </a:lnTo>
                <a:arcTo wR="76200" hR="76200" stAng="5400000" swAng="5400000"/>
                <a:lnTo>
                  <a:pt x="0" y="76200"/>
                </a:lnTo>
                <a:arcTo wR="76200" hR="76200" stAng="10800000" swAng="5400000"/>
                <a:lnTo>
                  <a:pt x="76200" y="0"/>
                </a:lnTo>
                <a:arcTo wR="38100" hR="76200" stAng="16200000" swAng="-5400000"/>
                <a:lnTo>
                  <a:pt x="38100" y="558800"/>
                </a:lnTo>
                <a:arcTo wR="38100" hR="76200" stAng="10800000" swAng="-5400000"/>
                <a:close/>
              </a:path>
            </a:pathLst>
          </a:custGeom>
          <a:solidFill>
            <a:srgbClr val="B7C4D6"/>
          </a:solidFill>
          <a:ln/>
        </p:spPr>
        <p:txBody>
          <a:bodyPr/>
          <a:lstStyle/>
          <a:p>
            <a:endParaRPr lang="fr-FR"/>
          </a:p>
        </p:txBody>
      </p:sp>
      <p:sp>
        <p:nvSpPr>
          <p:cNvPr id="25" name="Text 23"/>
          <p:cNvSpPr/>
          <p:nvPr/>
        </p:nvSpPr>
        <p:spPr>
          <a:xfrm>
            <a:off x="4950460" y="4663439"/>
            <a:ext cx="239643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3F6FA"/>
                </a:solidFill>
                <a:latin typeface="Space Grotesk" pitchFamily="34" charset="0"/>
                <a:ea typeface="Space Grotesk" pitchFamily="34" charset="-122"/>
                <a:cs typeface="Space Grotesk" pitchFamily="34" charset="-120"/>
              </a:rPr>
              <a:t>Messagerie et présence</a:t>
            </a:r>
            <a:endParaRPr lang="en-US" sz="1400" dirty="0"/>
          </a:p>
        </p:txBody>
      </p:sp>
      <p:sp>
        <p:nvSpPr>
          <p:cNvPr id="26" name="Text 24"/>
          <p:cNvSpPr/>
          <p:nvPr/>
        </p:nvSpPr>
        <p:spPr>
          <a:xfrm>
            <a:off x="4950460" y="4902200"/>
            <a:ext cx="239643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Chat, états, fichiers</a:t>
            </a:r>
            <a:endParaRPr lang="en-US" sz="1200" dirty="0"/>
          </a:p>
        </p:txBody>
      </p:sp>
      <p:sp>
        <p:nvSpPr>
          <p:cNvPr id="27" name="Shape 25"/>
          <p:cNvSpPr/>
          <p:nvPr/>
        </p:nvSpPr>
        <p:spPr>
          <a:xfrm>
            <a:off x="8953500" y="2159000"/>
            <a:ext cx="2425700" cy="889000"/>
          </a:xfrm>
          <a:prstGeom prst="roundRect">
            <a:avLst>
              <a:gd name="adj" fmla="val 11429"/>
            </a:avLst>
          </a:prstGeom>
          <a:solidFill>
            <a:srgbClr val="12305A"/>
          </a:solidFill>
          <a:ln/>
        </p:spPr>
        <p:txBody>
          <a:bodyPr/>
          <a:lstStyle/>
          <a:p>
            <a:endParaRPr lang="fr-FR"/>
          </a:p>
        </p:txBody>
      </p:sp>
      <p:sp>
        <p:nvSpPr>
          <p:cNvPr id="28" name="Text 26"/>
          <p:cNvSpPr/>
          <p:nvPr/>
        </p:nvSpPr>
        <p:spPr>
          <a:xfrm>
            <a:off x="9105900" y="2371089"/>
            <a:ext cx="218452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3F6FA"/>
                </a:solidFill>
                <a:latin typeface="Space Grotesk" pitchFamily="34" charset="0"/>
                <a:ea typeface="Space Grotesk" pitchFamily="34" charset="-122"/>
                <a:cs typeface="Space Grotesk" pitchFamily="34" charset="-120"/>
              </a:rPr>
              <a:t>Annuaire</a:t>
            </a:r>
            <a:endParaRPr lang="en-US" sz="1400" dirty="0"/>
          </a:p>
        </p:txBody>
      </p:sp>
      <p:sp>
        <p:nvSpPr>
          <p:cNvPr id="29" name="Text 27"/>
          <p:cNvSpPr/>
          <p:nvPr/>
        </p:nvSpPr>
        <p:spPr>
          <a:xfrm>
            <a:off x="9105900" y="2622550"/>
            <a:ext cx="21845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LDAP ou Active Directory</a:t>
            </a:r>
            <a:endParaRPr lang="en-US" sz="1200" dirty="0"/>
          </a:p>
        </p:txBody>
      </p:sp>
      <p:sp>
        <p:nvSpPr>
          <p:cNvPr id="30" name="Shape 28"/>
          <p:cNvSpPr/>
          <p:nvPr/>
        </p:nvSpPr>
        <p:spPr>
          <a:xfrm>
            <a:off x="8953500" y="3302000"/>
            <a:ext cx="2425700" cy="889000"/>
          </a:xfrm>
          <a:prstGeom prst="roundRect">
            <a:avLst>
              <a:gd name="adj" fmla="val 11429"/>
            </a:avLst>
          </a:prstGeom>
          <a:solidFill>
            <a:srgbClr val="12305A"/>
          </a:solidFill>
          <a:ln/>
        </p:spPr>
        <p:txBody>
          <a:bodyPr/>
          <a:lstStyle/>
          <a:p>
            <a:endParaRPr lang="fr-FR"/>
          </a:p>
        </p:txBody>
      </p:sp>
      <p:sp>
        <p:nvSpPr>
          <p:cNvPr id="31" name="Text 29"/>
          <p:cNvSpPr/>
          <p:nvPr/>
        </p:nvSpPr>
        <p:spPr>
          <a:xfrm>
            <a:off x="9105900" y="3429000"/>
            <a:ext cx="2184527" cy="224393"/>
          </a:xfrm>
          <a:prstGeom prst="rect">
            <a:avLst/>
          </a:prstGeom>
          <a:noFill/>
          <a:ln/>
        </p:spPr>
        <p:txBody>
          <a:bodyPr wrap="square" lIns="0" tIns="0" rIns="0" bIns="0" rtlCol="0" anchor="t">
            <a:normAutofit/>
          </a:bodyPr>
          <a:lstStyle/>
          <a:p>
            <a:pPr marL="0" indent="0" algn="l">
              <a:lnSpc>
                <a:spcPts val="1570"/>
              </a:lnSpc>
              <a:buNone/>
            </a:pPr>
            <a:r>
              <a:rPr lang="en-US" sz="1308" b="1" dirty="0">
                <a:solidFill>
                  <a:srgbClr val="F3F6FA"/>
                </a:solidFill>
                <a:latin typeface="Space Grotesk" pitchFamily="34" charset="0"/>
                <a:ea typeface="Space Grotesk" pitchFamily="34" charset="-122"/>
                <a:cs typeface="Space Grotesk" pitchFamily="34" charset="-120"/>
              </a:rPr>
              <a:t>Passerelle RTC</a:t>
            </a:r>
            <a:endParaRPr lang="en-US" sz="1308" dirty="0"/>
          </a:p>
        </p:txBody>
      </p:sp>
      <p:sp>
        <p:nvSpPr>
          <p:cNvPr id="32" name="Text 30"/>
          <p:cNvSpPr/>
          <p:nvPr/>
        </p:nvSpPr>
        <p:spPr>
          <a:xfrm>
            <a:off x="9105900" y="3666093"/>
            <a:ext cx="2184527" cy="423307"/>
          </a:xfrm>
          <a:prstGeom prst="rect">
            <a:avLst/>
          </a:prstGeom>
          <a:noFill/>
          <a:ln/>
        </p:spPr>
        <p:txBody>
          <a:bodyPr wrap="square" lIns="0" tIns="0" rIns="0" bIns="0" rtlCol="0" anchor="t">
            <a:normAutofit/>
          </a:bodyPr>
          <a:lstStyle/>
          <a:p>
            <a:pPr marL="0" indent="0" algn="l">
              <a:lnSpc>
                <a:spcPts val="1585"/>
              </a:lnSpc>
              <a:buNone/>
            </a:pPr>
            <a:r>
              <a:rPr lang="en-US" sz="1133" dirty="0">
                <a:solidFill>
                  <a:srgbClr val="B7C4D6"/>
                </a:solidFill>
                <a:latin typeface="Inter" pitchFamily="34" charset="0"/>
                <a:ea typeface="Inter" pitchFamily="34" charset="-122"/>
                <a:cs typeface="Inter" pitchFamily="34" charset="-120"/>
              </a:rPr>
              <a:t>Vers le réseau téléphonique public</a:t>
            </a:r>
            <a:endParaRPr lang="en-US" sz="1133" dirty="0"/>
          </a:p>
        </p:txBody>
      </p:sp>
      <p:sp>
        <p:nvSpPr>
          <p:cNvPr id="33" name="Shape 31"/>
          <p:cNvSpPr/>
          <p:nvPr/>
        </p:nvSpPr>
        <p:spPr>
          <a:xfrm>
            <a:off x="8953500" y="4445000"/>
            <a:ext cx="2425700" cy="889000"/>
          </a:xfrm>
          <a:prstGeom prst="roundRect">
            <a:avLst>
              <a:gd name="adj" fmla="val 11429"/>
            </a:avLst>
          </a:prstGeom>
          <a:solidFill>
            <a:srgbClr val="12305A"/>
          </a:solidFill>
          <a:ln/>
        </p:spPr>
        <p:txBody>
          <a:bodyPr/>
          <a:lstStyle/>
          <a:p>
            <a:endParaRPr lang="fr-FR"/>
          </a:p>
        </p:txBody>
      </p:sp>
      <p:sp>
        <p:nvSpPr>
          <p:cNvPr id="34" name="Text 32"/>
          <p:cNvSpPr/>
          <p:nvPr/>
        </p:nvSpPr>
        <p:spPr>
          <a:xfrm>
            <a:off x="9105900" y="4657089"/>
            <a:ext cx="218452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3F6FA"/>
                </a:solidFill>
                <a:latin typeface="Space Grotesk" pitchFamily="34" charset="0"/>
                <a:ea typeface="Space Grotesk" pitchFamily="34" charset="-122"/>
                <a:cs typeface="Space Grotesk" pitchFamily="34" charset="-120"/>
              </a:rPr>
              <a:t>Services cloud</a:t>
            </a:r>
            <a:endParaRPr lang="en-US" sz="1400" dirty="0"/>
          </a:p>
        </p:txBody>
      </p:sp>
      <p:sp>
        <p:nvSpPr>
          <p:cNvPr id="35" name="Text 33"/>
          <p:cNvSpPr/>
          <p:nvPr/>
        </p:nvSpPr>
        <p:spPr>
          <a:xfrm>
            <a:off x="9105900" y="4908550"/>
            <a:ext cx="218452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Visio, stockage, intégrations</a:t>
            </a:r>
            <a:endParaRPr lang="en-US" sz="1200" dirty="0"/>
          </a:p>
        </p:txBody>
      </p:sp>
      <p:pic>
        <p:nvPicPr>
          <p:cNvPr id="36" name="Image 0" descr="connector"/>
          <p:cNvPicPr>
            <a:picLocks noChangeAspect="1"/>
          </p:cNvPicPr>
          <p:nvPr/>
        </p:nvPicPr>
        <p:blipFill>
          <a:blip r:embed="rId3"/>
          <a:srcRect/>
          <a:stretch/>
        </p:blipFill>
        <p:spPr>
          <a:xfrm>
            <a:off x="3175000" y="2552700"/>
            <a:ext cx="1638300" cy="101600"/>
          </a:xfrm>
          <a:prstGeom prst="rect">
            <a:avLst/>
          </a:prstGeom>
        </p:spPr>
      </p:pic>
      <p:pic>
        <p:nvPicPr>
          <p:cNvPr id="37" name="Image 1" descr="connector"/>
          <p:cNvPicPr>
            <a:picLocks noChangeAspect="1"/>
          </p:cNvPicPr>
          <p:nvPr/>
        </p:nvPicPr>
        <p:blipFill>
          <a:blip r:embed="rId4"/>
          <a:srcRect/>
          <a:stretch/>
        </p:blipFill>
        <p:spPr>
          <a:xfrm>
            <a:off x="3175000" y="3695700"/>
            <a:ext cx="1638300" cy="101600"/>
          </a:xfrm>
          <a:prstGeom prst="rect">
            <a:avLst/>
          </a:prstGeom>
        </p:spPr>
      </p:pic>
      <p:pic>
        <p:nvPicPr>
          <p:cNvPr id="38" name="Image 2" descr="connector"/>
          <p:cNvPicPr>
            <a:picLocks noChangeAspect="1"/>
          </p:cNvPicPr>
          <p:nvPr/>
        </p:nvPicPr>
        <p:blipFill>
          <a:blip r:embed="rId5"/>
          <a:srcRect/>
          <a:stretch/>
        </p:blipFill>
        <p:spPr>
          <a:xfrm>
            <a:off x="3175000" y="4838700"/>
            <a:ext cx="1638300" cy="101600"/>
          </a:xfrm>
          <a:prstGeom prst="rect">
            <a:avLst/>
          </a:prstGeom>
        </p:spPr>
      </p:pic>
      <p:pic>
        <p:nvPicPr>
          <p:cNvPr id="39" name="Image 3" descr="connector"/>
          <p:cNvPicPr>
            <a:picLocks noChangeAspect="1"/>
          </p:cNvPicPr>
          <p:nvPr/>
        </p:nvPicPr>
        <p:blipFill>
          <a:blip r:embed="rId6"/>
          <a:srcRect/>
          <a:stretch/>
        </p:blipFill>
        <p:spPr>
          <a:xfrm>
            <a:off x="7378700" y="2552700"/>
            <a:ext cx="1625600" cy="101600"/>
          </a:xfrm>
          <a:prstGeom prst="rect">
            <a:avLst/>
          </a:prstGeom>
        </p:spPr>
      </p:pic>
      <p:pic>
        <p:nvPicPr>
          <p:cNvPr id="40" name="Image 4" descr="connector"/>
          <p:cNvPicPr>
            <a:picLocks noChangeAspect="1"/>
          </p:cNvPicPr>
          <p:nvPr/>
        </p:nvPicPr>
        <p:blipFill>
          <a:blip r:embed="rId7"/>
          <a:srcRect/>
          <a:stretch/>
        </p:blipFill>
        <p:spPr>
          <a:xfrm>
            <a:off x="7378700" y="3536950"/>
            <a:ext cx="1625600" cy="101600"/>
          </a:xfrm>
          <a:prstGeom prst="rect">
            <a:avLst/>
          </a:prstGeom>
        </p:spPr>
      </p:pic>
      <p:pic>
        <p:nvPicPr>
          <p:cNvPr id="41" name="Image 5" descr="connector"/>
          <p:cNvPicPr>
            <a:picLocks noChangeAspect="1"/>
          </p:cNvPicPr>
          <p:nvPr/>
        </p:nvPicPr>
        <p:blipFill>
          <a:blip r:embed="rId8"/>
          <a:srcRect/>
          <a:stretch/>
        </p:blipFill>
        <p:spPr>
          <a:xfrm>
            <a:off x="7378700" y="3854450"/>
            <a:ext cx="1625600" cy="101600"/>
          </a:xfrm>
          <a:prstGeom prst="rect">
            <a:avLst/>
          </a:prstGeom>
        </p:spPr>
      </p:pic>
      <p:pic>
        <p:nvPicPr>
          <p:cNvPr id="42" name="Image 6" descr="connector"/>
          <p:cNvPicPr>
            <a:picLocks noChangeAspect="1"/>
          </p:cNvPicPr>
          <p:nvPr/>
        </p:nvPicPr>
        <p:blipFill>
          <a:blip r:embed="rId6"/>
          <a:srcRect/>
          <a:stretch/>
        </p:blipFill>
        <p:spPr>
          <a:xfrm>
            <a:off x="7378700" y="4838700"/>
            <a:ext cx="1625600" cy="101600"/>
          </a:xfrm>
          <a:prstGeom prst="rect">
            <a:avLst/>
          </a:prstGeom>
        </p:spPr>
      </p:pic>
      <p:sp>
        <p:nvSpPr>
          <p:cNvPr id="43" name="Text 34"/>
          <p:cNvSpPr/>
          <p:nvPr/>
        </p:nvSpPr>
        <p:spPr>
          <a:xfrm>
            <a:off x="3556000" y="2349500"/>
            <a:ext cx="812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6FA"/>
                </a:solidFill>
                <a:latin typeface="Inter" pitchFamily="34" charset="0"/>
                <a:ea typeface="Inter" pitchFamily="34" charset="-122"/>
                <a:cs typeface="Inter" pitchFamily="34" charset="-120"/>
              </a:rPr>
              <a:t>SIP</a:t>
            </a:r>
            <a:endParaRPr lang="en-US" sz="1200" dirty="0"/>
          </a:p>
        </p:txBody>
      </p:sp>
      <p:sp>
        <p:nvSpPr>
          <p:cNvPr id="44" name="Text 35"/>
          <p:cNvSpPr/>
          <p:nvPr/>
        </p:nvSpPr>
        <p:spPr>
          <a:xfrm>
            <a:off x="3556000" y="3492500"/>
            <a:ext cx="1193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6FA"/>
                </a:solidFill>
                <a:latin typeface="Inter" pitchFamily="34" charset="0"/>
                <a:ea typeface="Inter" pitchFamily="34" charset="-122"/>
                <a:cs typeface="Inter" pitchFamily="34" charset="-120"/>
              </a:rPr>
              <a:t>RTP / SRTP</a:t>
            </a:r>
            <a:endParaRPr lang="en-US" sz="1200" dirty="0"/>
          </a:p>
        </p:txBody>
      </p:sp>
      <p:sp>
        <p:nvSpPr>
          <p:cNvPr id="45" name="Text 36"/>
          <p:cNvSpPr/>
          <p:nvPr/>
        </p:nvSpPr>
        <p:spPr>
          <a:xfrm>
            <a:off x="3556000" y="4635500"/>
            <a:ext cx="1193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6FA"/>
                </a:solidFill>
                <a:latin typeface="Inter" pitchFamily="34" charset="0"/>
                <a:ea typeface="Inter" pitchFamily="34" charset="-122"/>
                <a:cs typeface="Inter" pitchFamily="34" charset="-120"/>
              </a:rPr>
              <a:t>API / HTTPS</a:t>
            </a:r>
            <a:endParaRPr lang="en-US" sz="1200" dirty="0"/>
          </a:p>
        </p:txBody>
      </p:sp>
      <p:sp>
        <p:nvSpPr>
          <p:cNvPr id="46" name="Text 37"/>
          <p:cNvSpPr/>
          <p:nvPr/>
        </p:nvSpPr>
        <p:spPr>
          <a:xfrm>
            <a:off x="7874000" y="2349500"/>
            <a:ext cx="812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6FA"/>
                </a:solidFill>
                <a:latin typeface="Inter" pitchFamily="34" charset="0"/>
                <a:ea typeface="Inter" pitchFamily="34" charset="-122"/>
                <a:cs typeface="Inter" pitchFamily="34" charset="-120"/>
              </a:rPr>
              <a:t>LDAP</a:t>
            </a:r>
            <a:endParaRPr lang="en-US" sz="1200" dirty="0"/>
          </a:p>
        </p:txBody>
      </p:sp>
      <p:sp>
        <p:nvSpPr>
          <p:cNvPr id="47" name="Text 38"/>
          <p:cNvSpPr/>
          <p:nvPr/>
        </p:nvSpPr>
        <p:spPr>
          <a:xfrm>
            <a:off x="7874000" y="3333750"/>
            <a:ext cx="812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6FA"/>
                </a:solidFill>
                <a:latin typeface="Inter" pitchFamily="34" charset="0"/>
                <a:ea typeface="Inter" pitchFamily="34" charset="-122"/>
                <a:cs typeface="Inter" pitchFamily="34" charset="-120"/>
              </a:rPr>
              <a:t>SIP</a:t>
            </a:r>
            <a:endParaRPr lang="en-US" sz="1200" dirty="0"/>
          </a:p>
        </p:txBody>
      </p:sp>
      <p:sp>
        <p:nvSpPr>
          <p:cNvPr id="48" name="Text 39"/>
          <p:cNvSpPr/>
          <p:nvPr/>
        </p:nvSpPr>
        <p:spPr>
          <a:xfrm>
            <a:off x="7874000" y="3968750"/>
            <a:ext cx="812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6FA"/>
                </a:solidFill>
                <a:latin typeface="Inter" pitchFamily="34" charset="0"/>
                <a:ea typeface="Inter" pitchFamily="34" charset="-122"/>
                <a:cs typeface="Inter" pitchFamily="34" charset="-120"/>
              </a:rPr>
              <a:t>RTP</a:t>
            </a:r>
            <a:endParaRPr lang="en-US" sz="1200" dirty="0"/>
          </a:p>
        </p:txBody>
      </p:sp>
      <p:sp>
        <p:nvSpPr>
          <p:cNvPr id="49" name="Text 40"/>
          <p:cNvSpPr/>
          <p:nvPr/>
        </p:nvSpPr>
        <p:spPr>
          <a:xfrm>
            <a:off x="7874000" y="4635500"/>
            <a:ext cx="1066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6FA"/>
                </a:solidFill>
                <a:latin typeface="Inter" pitchFamily="34" charset="0"/>
                <a:ea typeface="Inter" pitchFamily="34" charset="-122"/>
                <a:cs typeface="Inter" pitchFamily="34" charset="-120"/>
              </a:rPr>
              <a:t>HTTPS</a:t>
            </a:r>
            <a:endParaRPr lang="en-US" sz="1200" dirty="0"/>
          </a:p>
        </p:txBody>
      </p:sp>
      <p:sp>
        <p:nvSpPr>
          <p:cNvPr id="50" name="Text 41"/>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Pointillé orange : signalisation · Trait vert : média · Trait gris : services et données · Entre les blocs : réseau local, WAN, Internet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838200" y="812800"/>
            <a:ext cx="0" cy="213360"/>
          </a:xfrm>
          <a:prstGeom prst="line">
            <a:avLst/>
          </a:prstGeom>
          <a:noFill/>
          <a:ln w="50800">
            <a:solidFill>
              <a:srgbClr val="FF7A1A"/>
            </a:solidFill>
            <a:prstDash val="solid"/>
          </a:ln>
        </p:spPr>
        <p:txBody>
          <a:bodyPr/>
          <a:lstStyle/>
          <a:p>
            <a:endParaRPr lang="fr-FR"/>
          </a:p>
        </p:txBody>
      </p:sp>
      <p:sp>
        <p:nvSpPr>
          <p:cNvPr id="3" name="Text 1"/>
          <p:cNvSpPr/>
          <p:nvPr/>
        </p:nvSpPr>
        <p:spPr>
          <a:xfrm>
            <a:off x="965200" y="812800"/>
            <a:ext cx="107264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DÉROULEMENT D’UN APPEL</a:t>
            </a:r>
            <a:endParaRPr lang="en-US" sz="1200" dirty="0"/>
          </a:p>
        </p:txBody>
      </p:sp>
      <p:sp>
        <p:nvSpPr>
          <p:cNvPr id="4" name="Text 2"/>
          <p:cNvSpPr>
            <a:spLocks noGrp="1"/>
          </p:cNvSpPr>
          <p:nvPr>
            <p:ph type="title"/>
          </p:nvPr>
        </p:nvSpPr>
        <p:spPr>
          <a:xfrm>
            <a:off x="812800" y="1178561"/>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1F3A"/>
                </a:solidFill>
                <a:latin typeface="Space Grotesk" pitchFamily="34" charset="0"/>
                <a:ea typeface="Space Grotesk" pitchFamily="34" charset="-122"/>
                <a:cs typeface="Space Grotesk" pitchFamily="34" charset="-120"/>
              </a:rPr>
              <a:t>Un appel SIP, de l’INVITE au BYE</a:t>
            </a:r>
            <a:endParaRPr lang="en-US" sz="2800" dirty="0"/>
          </a:p>
        </p:txBody>
      </p:sp>
      <p:sp>
        <p:nvSpPr>
          <p:cNvPr id="5" name="Text 3"/>
          <p:cNvSpPr/>
          <p:nvPr/>
        </p:nvSpPr>
        <p:spPr>
          <a:xfrm>
            <a:off x="698500" y="1905000"/>
            <a:ext cx="1905000" cy="381000"/>
          </a:xfrm>
          <a:custGeom>
            <a:avLst/>
            <a:gdLst/>
            <a:ahLst/>
            <a:cxnLst/>
            <a:rect l="l" t="t" r="r" b="b"/>
            <a:pathLst>
              <a:path w="1905000" h="381000">
                <a:moveTo>
                  <a:pt x="76200" y="0"/>
                </a:moveTo>
                <a:lnTo>
                  <a:pt x="1828800" y="0"/>
                </a:lnTo>
                <a:arcTo wR="76200" hR="76200" stAng="16200000" swAng="5400000"/>
                <a:lnTo>
                  <a:pt x="1905000" y="304800"/>
                </a:lnTo>
                <a:arcTo wR="76200" hR="76200" stAng="0" swAng="5400000"/>
                <a:lnTo>
                  <a:pt x="76200" y="381000"/>
                </a:lnTo>
                <a:arcTo wR="76200" hR="76200" stAng="5400000" swAng="5400000"/>
                <a:lnTo>
                  <a:pt x="0" y="76200"/>
                </a:lnTo>
                <a:arcTo wR="76200" hR="76200" stAng="10800000" swAng="5400000"/>
                <a:close/>
              </a:path>
            </a:pathLst>
          </a:custGeom>
          <a:solidFill>
            <a:srgbClr val="0B1F3A"/>
          </a:solidFill>
          <a:ln/>
        </p:spPr>
        <p:txBody>
          <a:bodyPr wrap="square" lIns="0" tIns="76200" rIns="0" bIns="50800" rtlCol="0" anchor="t">
            <a:normAutofit/>
          </a:bodyPr>
          <a:lstStyle/>
          <a:p>
            <a:pPr marL="0" indent="0" algn="ctr">
              <a:lnSpc>
                <a:spcPts val="1819"/>
              </a:lnSpc>
              <a:buNone/>
            </a:pPr>
            <a:r>
              <a:rPr lang="en-US" sz="1299" b="1" dirty="0">
                <a:solidFill>
                  <a:srgbClr val="F3F6FA"/>
                </a:solidFill>
                <a:latin typeface="Space Grotesk" pitchFamily="34" charset="0"/>
                <a:ea typeface="Space Grotesk" pitchFamily="34" charset="-122"/>
                <a:cs typeface="Space Grotesk" pitchFamily="34" charset="-120"/>
              </a:rPr>
              <a:t>Terminal A</a:t>
            </a:r>
            <a:endParaRPr lang="en-US" sz="1299" dirty="0"/>
          </a:p>
        </p:txBody>
      </p:sp>
      <p:sp>
        <p:nvSpPr>
          <p:cNvPr id="6" name="Text 4"/>
          <p:cNvSpPr/>
          <p:nvPr/>
        </p:nvSpPr>
        <p:spPr>
          <a:xfrm>
            <a:off x="5143500" y="1905000"/>
            <a:ext cx="1905000" cy="381000"/>
          </a:xfrm>
          <a:custGeom>
            <a:avLst/>
            <a:gdLst/>
            <a:ahLst/>
            <a:cxnLst/>
            <a:rect l="l" t="t" r="r" b="b"/>
            <a:pathLst>
              <a:path w="1905000" h="381000">
                <a:moveTo>
                  <a:pt x="76200" y="0"/>
                </a:moveTo>
                <a:lnTo>
                  <a:pt x="1828800" y="0"/>
                </a:lnTo>
                <a:arcTo wR="76200" hR="76200" stAng="16200000" swAng="5400000"/>
                <a:lnTo>
                  <a:pt x="1905000" y="304800"/>
                </a:lnTo>
                <a:arcTo wR="76200" hR="76200" stAng="0" swAng="5400000"/>
                <a:lnTo>
                  <a:pt x="76200" y="381000"/>
                </a:lnTo>
                <a:arcTo wR="76200" hR="76200" stAng="5400000" swAng="5400000"/>
                <a:lnTo>
                  <a:pt x="0" y="76200"/>
                </a:lnTo>
                <a:arcTo wR="76200" hR="76200" stAng="10800000" swAng="5400000"/>
                <a:close/>
              </a:path>
            </a:pathLst>
          </a:custGeom>
          <a:solidFill>
            <a:srgbClr val="0B1F3A"/>
          </a:solidFill>
          <a:ln/>
        </p:spPr>
        <p:txBody>
          <a:bodyPr wrap="square" lIns="0" tIns="76200" rIns="0" bIns="50800" rtlCol="0" anchor="t">
            <a:normAutofit/>
          </a:bodyPr>
          <a:lstStyle/>
          <a:p>
            <a:pPr marL="0" indent="0" algn="ctr">
              <a:lnSpc>
                <a:spcPts val="1819"/>
              </a:lnSpc>
              <a:buNone/>
            </a:pPr>
            <a:r>
              <a:rPr lang="en-US" sz="1299" b="1" dirty="0">
                <a:solidFill>
                  <a:srgbClr val="F3F6FA"/>
                </a:solidFill>
                <a:latin typeface="Space Grotesk" pitchFamily="34" charset="0"/>
                <a:ea typeface="Space Grotesk" pitchFamily="34" charset="-122"/>
                <a:cs typeface="Space Grotesk" pitchFamily="34" charset="-120"/>
              </a:rPr>
              <a:t>Serveur SIP</a:t>
            </a:r>
            <a:endParaRPr lang="en-US" sz="1299" dirty="0"/>
          </a:p>
        </p:txBody>
      </p:sp>
      <p:sp>
        <p:nvSpPr>
          <p:cNvPr id="7" name="Text 5"/>
          <p:cNvSpPr/>
          <p:nvPr/>
        </p:nvSpPr>
        <p:spPr>
          <a:xfrm>
            <a:off x="9461500" y="1905000"/>
            <a:ext cx="1905000" cy="381000"/>
          </a:xfrm>
          <a:custGeom>
            <a:avLst/>
            <a:gdLst/>
            <a:ahLst/>
            <a:cxnLst/>
            <a:rect l="l" t="t" r="r" b="b"/>
            <a:pathLst>
              <a:path w="1905000" h="381000">
                <a:moveTo>
                  <a:pt x="76200" y="0"/>
                </a:moveTo>
                <a:lnTo>
                  <a:pt x="1828800" y="0"/>
                </a:lnTo>
                <a:arcTo wR="76200" hR="76200" stAng="16200000" swAng="5400000"/>
                <a:lnTo>
                  <a:pt x="1905000" y="304800"/>
                </a:lnTo>
                <a:arcTo wR="76200" hR="76200" stAng="0" swAng="5400000"/>
                <a:lnTo>
                  <a:pt x="76200" y="381000"/>
                </a:lnTo>
                <a:arcTo wR="76200" hR="76200" stAng="5400000" swAng="5400000"/>
                <a:lnTo>
                  <a:pt x="0" y="76200"/>
                </a:lnTo>
                <a:arcTo wR="76200" hR="76200" stAng="10800000" swAng="5400000"/>
                <a:close/>
              </a:path>
            </a:pathLst>
          </a:custGeom>
          <a:solidFill>
            <a:srgbClr val="0B1F3A"/>
          </a:solidFill>
          <a:ln/>
        </p:spPr>
        <p:txBody>
          <a:bodyPr wrap="square" lIns="0" tIns="76200" rIns="0" bIns="50800" rtlCol="0" anchor="t">
            <a:normAutofit/>
          </a:bodyPr>
          <a:lstStyle/>
          <a:p>
            <a:pPr marL="0" indent="0" algn="ctr">
              <a:lnSpc>
                <a:spcPts val="1819"/>
              </a:lnSpc>
              <a:buNone/>
            </a:pPr>
            <a:r>
              <a:rPr lang="en-US" sz="1299" b="1" dirty="0">
                <a:solidFill>
                  <a:srgbClr val="F3F6FA"/>
                </a:solidFill>
                <a:latin typeface="Space Grotesk" pitchFamily="34" charset="0"/>
                <a:ea typeface="Space Grotesk" pitchFamily="34" charset="-122"/>
                <a:cs typeface="Space Grotesk" pitchFamily="34" charset="-120"/>
              </a:rPr>
              <a:t>Terminal B</a:t>
            </a:r>
            <a:endParaRPr lang="en-US" sz="1299" dirty="0"/>
          </a:p>
        </p:txBody>
      </p:sp>
      <p:pic>
        <p:nvPicPr>
          <p:cNvPr id="8" name="Image 0" descr="connector"/>
          <p:cNvPicPr>
            <a:picLocks noChangeAspect="1"/>
          </p:cNvPicPr>
          <p:nvPr/>
        </p:nvPicPr>
        <p:blipFill>
          <a:blip r:embed="rId3"/>
          <a:srcRect/>
          <a:stretch/>
        </p:blipFill>
        <p:spPr>
          <a:xfrm>
            <a:off x="1612900" y="2247900"/>
            <a:ext cx="76200" cy="3505200"/>
          </a:xfrm>
          <a:prstGeom prst="rect">
            <a:avLst/>
          </a:prstGeom>
        </p:spPr>
      </p:pic>
      <p:pic>
        <p:nvPicPr>
          <p:cNvPr id="9" name="Image 1" descr="connector"/>
          <p:cNvPicPr>
            <a:picLocks noChangeAspect="1"/>
          </p:cNvPicPr>
          <p:nvPr/>
        </p:nvPicPr>
        <p:blipFill>
          <a:blip r:embed="rId3"/>
          <a:srcRect/>
          <a:stretch/>
        </p:blipFill>
        <p:spPr>
          <a:xfrm>
            <a:off x="6057900" y="2247900"/>
            <a:ext cx="76200" cy="3505200"/>
          </a:xfrm>
          <a:prstGeom prst="rect">
            <a:avLst/>
          </a:prstGeom>
        </p:spPr>
      </p:pic>
      <p:pic>
        <p:nvPicPr>
          <p:cNvPr id="10" name="Image 2" descr="connector"/>
          <p:cNvPicPr>
            <a:picLocks noChangeAspect="1"/>
          </p:cNvPicPr>
          <p:nvPr/>
        </p:nvPicPr>
        <p:blipFill>
          <a:blip r:embed="rId3"/>
          <a:srcRect/>
          <a:stretch/>
        </p:blipFill>
        <p:spPr>
          <a:xfrm>
            <a:off x="10375900" y="2247900"/>
            <a:ext cx="76200" cy="3505200"/>
          </a:xfrm>
          <a:prstGeom prst="rect">
            <a:avLst/>
          </a:prstGeom>
        </p:spPr>
      </p:pic>
      <p:pic>
        <p:nvPicPr>
          <p:cNvPr id="11" name="Image 3" descr="connector"/>
          <p:cNvPicPr>
            <a:picLocks noChangeAspect="1"/>
          </p:cNvPicPr>
          <p:nvPr/>
        </p:nvPicPr>
        <p:blipFill>
          <a:blip r:embed="rId4"/>
          <a:srcRect/>
          <a:stretch/>
        </p:blipFill>
        <p:spPr>
          <a:xfrm>
            <a:off x="1600200" y="2679700"/>
            <a:ext cx="4546600" cy="101600"/>
          </a:xfrm>
          <a:prstGeom prst="rect">
            <a:avLst/>
          </a:prstGeom>
        </p:spPr>
      </p:pic>
      <p:sp>
        <p:nvSpPr>
          <p:cNvPr id="12" name="Text 6"/>
          <p:cNvSpPr/>
          <p:nvPr/>
        </p:nvSpPr>
        <p:spPr>
          <a:xfrm>
            <a:off x="1911350" y="2489200"/>
            <a:ext cx="39243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1F3A"/>
                </a:solidFill>
                <a:latin typeface="JetBrains Mono" pitchFamily="49" charset="0"/>
                <a:ea typeface="JetBrains Mono" pitchFamily="49" charset="-122"/>
                <a:cs typeface="JetBrains Mono" pitchFamily="49" charset="-120"/>
              </a:rPr>
              <a:t>INVITE + SDP (offre)</a:t>
            </a:r>
            <a:endParaRPr lang="en-US" sz="1200" dirty="0"/>
          </a:p>
        </p:txBody>
      </p:sp>
      <p:pic>
        <p:nvPicPr>
          <p:cNvPr id="13" name="Image 4" descr="connector"/>
          <p:cNvPicPr>
            <a:picLocks noChangeAspect="1"/>
          </p:cNvPicPr>
          <p:nvPr/>
        </p:nvPicPr>
        <p:blipFill>
          <a:blip r:embed="rId5"/>
          <a:srcRect/>
          <a:stretch/>
        </p:blipFill>
        <p:spPr>
          <a:xfrm>
            <a:off x="6045200" y="3155950"/>
            <a:ext cx="4419600" cy="101600"/>
          </a:xfrm>
          <a:prstGeom prst="rect">
            <a:avLst/>
          </a:prstGeom>
        </p:spPr>
      </p:pic>
      <p:sp>
        <p:nvSpPr>
          <p:cNvPr id="14" name="Text 7"/>
          <p:cNvSpPr/>
          <p:nvPr/>
        </p:nvSpPr>
        <p:spPr>
          <a:xfrm>
            <a:off x="6292850" y="2965450"/>
            <a:ext cx="39243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1F3A"/>
                </a:solidFill>
                <a:latin typeface="JetBrains Mono" pitchFamily="49" charset="0"/>
                <a:ea typeface="JetBrains Mono" pitchFamily="49" charset="-122"/>
                <a:cs typeface="JetBrains Mono" pitchFamily="49" charset="-120"/>
              </a:rPr>
              <a:t>INVITE</a:t>
            </a:r>
            <a:endParaRPr lang="en-US" sz="1200" dirty="0"/>
          </a:p>
        </p:txBody>
      </p:sp>
      <p:pic>
        <p:nvPicPr>
          <p:cNvPr id="15" name="Image 5" descr="connector"/>
          <p:cNvPicPr>
            <a:picLocks noChangeAspect="1"/>
          </p:cNvPicPr>
          <p:nvPr/>
        </p:nvPicPr>
        <p:blipFill>
          <a:blip r:embed="rId6"/>
          <a:srcRect/>
          <a:stretch/>
        </p:blipFill>
        <p:spPr>
          <a:xfrm>
            <a:off x="1600200" y="3632200"/>
            <a:ext cx="8864600" cy="101600"/>
          </a:xfrm>
          <a:prstGeom prst="rect">
            <a:avLst/>
          </a:prstGeom>
        </p:spPr>
      </p:pic>
      <p:sp>
        <p:nvSpPr>
          <p:cNvPr id="16" name="Text 8"/>
          <p:cNvSpPr/>
          <p:nvPr/>
        </p:nvSpPr>
        <p:spPr>
          <a:xfrm>
            <a:off x="3089275" y="3441700"/>
            <a:ext cx="588645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1F3A"/>
                </a:solidFill>
                <a:latin typeface="JetBrains Mono" pitchFamily="49" charset="0"/>
                <a:ea typeface="JetBrains Mono" pitchFamily="49" charset="-122"/>
                <a:cs typeface="JetBrains Mono" pitchFamily="49" charset="-120"/>
              </a:rPr>
              <a:t>180 Ringing, puis 200 OK + SDP (réponse)</a:t>
            </a:r>
            <a:endParaRPr lang="en-US" sz="1200" dirty="0"/>
          </a:p>
        </p:txBody>
      </p:sp>
      <p:pic>
        <p:nvPicPr>
          <p:cNvPr id="17" name="Image 6" descr="connector"/>
          <p:cNvPicPr>
            <a:picLocks noChangeAspect="1"/>
          </p:cNvPicPr>
          <p:nvPr/>
        </p:nvPicPr>
        <p:blipFill>
          <a:blip r:embed="rId7"/>
          <a:srcRect/>
          <a:stretch/>
        </p:blipFill>
        <p:spPr>
          <a:xfrm>
            <a:off x="1600200" y="4108450"/>
            <a:ext cx="8864600" cy="101600"/>
          </a:xfrm>
          <a:prstGeom prst="rect">
            <a:avLst/>
          </a:prstGeom>
        </p:spPr>
      </p:pic>
      <p:sp>
        <p:nvSpPr>
          <p:cNvPr id="18" name="Text 9"/>
          <p:cNvSpPr/>
          <p:nvPr/>
        </p:nvSpPr>
        <p:spPr>
          <a:xfrm>
            <a:off x="4070350" y="3917950"/>
            <a:ext cx="39243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1F3A"/>
                </a:solidFill>
                <a:latin typeface="JetBrains Mono" pitchFamily="49" charset="0"/>
                <a:ea typeface="JetBrains Mono" pitchFamily="49" charset="-122"/>
                <a:cs typeface="JetBrains Mono" pitchFamily="49" charset="-120"/>
              </a:rPr>
              <a:t>ACK</a:t>
            </a:r>
            <a:endParaRPr lang="en-US" sz="1200" dirty="0"/>
          </a:p>
        </p:txBody>
      </p:sp>
      <p:pic>
        <p:nvPicPr>
          <p:cNvPr id="19" name="Image 7" descr="connector"/>
          <p:cNvPicPr>
            <a:picLocks noChangeAspect="1"/>
          </p:cNvPicPr>
          <p:nvPr/>
        </p:nvPicPr>
        <p:blipFill>
          <a:blip r:embed="rId8"/>
          <a:srcRect/>
          <a:stretch/>
        </p:blipFill>
        <p:spPr>
          <a:xfrm>
            <a:off x="1504950" y="4616450"/>
            <a:ext cx="9055100" cy="292100"/>
          </a:xfrm>
          <a:prstGeom prst="rect">
            <a:avLst/>
          </a:prstGeom>
        </p:spPr>
      </p:pic>
      <p:sp>
        <p:nvSpPr>
          <p:cNvPr id="20" name="Text 10"/>
          <p:cNvSpPr/>
          <p:nvPr/>
        </p:nvSpPr>
        <p:spPr>
          <a:xfrm>
            <a:off x="2435225" y="4445000"/>
            <a:ext cx="719455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B1F3A"/>
                </a:solidFill>
                <a:latin typeface="JetBrains Mono" pitchFamily="49" charset="0"/>
                <a:ea typeface="JetBrains Mono" pitchFamily="49" charset="-122"/>
                <a:cs typeface="JetBrains Mono" pitchFamily="49" charset="-120"/>
              </a:rPr>
              <a:t>RTP / SRTP : voix et vidéo</a:t>
            </a:r>
            <a:endParaRPr lang="en-US" sz="1200" dirty="0"/>
          </a:p>
        </p:txBody>
      </p:sp>
      <p:pic>
        <p:nvPicPr>
          <p:cNvPr id="21" name="Image 8" descr="connector"/>
          <p:cNvPicPr>
            <a:picLocks noChangeAspect="1"/>
          </p:cNvPicPr>
          <p:nvPr/>
        </p:nvPicPr>
        <p:blipFill>
          <a:blip r:embed="rId7"/>
          <a:srcRect/>
          <a:stretch/>
        </p:blipFill>
        <p:spPr>
          <a:xfrm>
            <a:off x="1600200" y="5346700"/>
            <a:ext cx="8864600" cy="101600"/>
          </a:xfrm>
          <a:prstGeom prst="rect">
            <a:avLst/>
          </a:prstGeom>
        </p:spPr>
      </p:pic>
      <p:sp>
        <p:nvSpPr>
          <p:cNvPr id="22" name="Text 11"/>
          <p:cNvSpPr/>
          <p:nvPr/>
        </p:nvSpPr>
        <p:spPr>
          <a:xfrm>
            <a:off x="4070350" y="5156200"/>
            <a:ext cx="392430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1F3A"/>
                </a:solidFill>
                <a:latin typeface="JetBrains Mono" pitchFamily="49" charset="0"/>
                <a:ea typeface="JetBrains Mono" pitchFamily="49" charset="-122"/>
                <a:cs typeface="JetBrains Mono" pitchFamily="49" charset="-120"/>
              </a:rPr>
              <a:t>BYE, puis 200 OK</a:t>
            </a:r>
            <a:endParaRPr lang="en-US" sz="1200" dirty="0"/>
          </a:p>
        </p:txBody>
      </p:sp>
      <p:sp>
        <p:nvSpPr>
          <p:cNvPr id="23" name="Text 1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Inter" pitchFamily="34" charset="0"/>
                <a:ea typeface="Inter" pitchFamily="34" charset="-122"/>
                <a:cs typeface="Inter" pitchFamily="34" charset="-120"/>
              </a:rPr>
              <a:t>Orange : signalisation SIP · Vert : média · Avant l’appel, chaque terminal s’enregistre auprès du serveur (REGISTER). Schéma simplifié.</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838200" y="812800"/>
            <a:ext cx="0" cy="213360"/>
          </a:xfrm>
          <a:prstGeom prst="line">
            <a:avLst/>
          </a:prstGeom>
          <a:noFill/>
          <a:ln w="50800">
            <a:solidFill>
              <a:srgbClr val="FF7A1A"/>
            </a:solidFill>
            <a:prstDash val="solid"/>
          </a:ln>
        </p:spPr>
        <p:txBody>
          <a:bodyPr/>
          <a:lstStyle/>
          <a:p>
            <a:endParaRPr lang="fr-FR"/>
          </a:p>
        </p:txBody>
      </p:sp>
      <p:sp>
        <p:nvSpPr>
          <p:cNvPr id="3" name="Text 1"/>
          <p:cNvSpPr/>
          <p:nvPr/>
        </p:nvSpPr>
        <p:spPr>
          <a:xfrm>
            <a:off x="965200" y="812800"/>
            <a:ext cx="107264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MODÈLES DE DÉPLOIEMENT</a:t>
            </a:r>
            <a:endParaRPr lang="en-US" sz="1200" dirty="0"/>
          </a:p>
        </p:txBody>
      </p:sp>
      <p:sp>
        <p:nvSpPr>
          <p:cNvPr id="4" name="Text 2"/>
          <p:cNvSpPr>
            <a:spLocks noGrp="1"/>
          </p:cNvSpPr>
          <p:nvPr>
            <p:ph type="title"/>
          </p:nvPr>
        </p:nvSpPr>
        <p:spPr>
          <a:xfrm>
            <a:off x="812800" y="1229364"/>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1F3A"/>
                </a:solidFill>
                <a:latin typeface="Space Grotesk" pitchFamily="34" charset="0"/>
                <a:ea typeface="Space Grotesk" pitchFamily="34" charset="-122"/>
                <a:cs typeface="Space Grotesk" pitchFamily="34" charset="-120"/>
              </a:rPr>
              <a:t>Où vit la plateforme, et qui l’exploite ?</a:t>
            </a:r>
            <a:endParaRPr lang="en-US" sz="2800" dirty="0"/>
          </a:p>
        </p:txBody>
      </p:sp>
      <p:sp>
        <p:nvSpPr>
          <p:cNvPr id="5" name="Shape 3"/>
          <p:cNvSpPr/>
          <p:nvPr/>
        </p:nvSpPr>
        <p:spPr>
          <a:xfrm>
            <a:off x="815975" y="1826896"/>
            <a:ext cx="2520950" cy="2810510"/>
          </a:xfrm>
          <a:prstGeom prst="roundRect">
            <a:avLst>
              <a:gd name="adj" fmla="val 3904"/>
            </a:avLst>
          </a:prstGeom>
          <a:solidFill>
            <a:srgbClr val="FBFDFF"/>
          </a:solidFill>
          <a:ln w="6350">
            <a:solidFill>
              <a:srgbClr val="D5DEE9"/>
            </a:solidFill>
            <a:prstDash val="solid"/>
          </a:ln>
        </p:spPr>
        <p:txBody>
          <a:bodyPr/>
          <a:lstStyle/>
          <a:p>
            <a:endParaRPr lang="fr-FR"/>
          </a:p>
        </p:txBody>
      </p:sp>
      <p:sp>
        <p:nvSpPr>
          <p:cNvPr id="6" name="Text 4"/>
          <p:cNvSpPr/>
          <p:nvPr/>
        </p:nvSpPr>
        <p:spPr>
          <a:xfrm>
            <a:off x="995680" y="2006600"/>
            <a:ext cx="222638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A"/>
                </a:solidFill>
                <a:latin typeface="Space Grotesk" pitchFamily="34" charset="0"/>
                <a:ea typeface="Space Grotesk" pitchFamily="34" charset="-122"/>
                <a:cs typeface="Space Grotesk" pitchFamily="34" charset="-120"/>
              </a:rPr>
              <a:t>Sur site</a:t>
            </a:r>
            <a:endParaRPr lang="en-US" sz="1600" dirty="0"/>
          </a:p>
        </p:txBody>
      </p:sp>
      <p:sp>
        <p:nvSpPr>
          <p:cNvPr id="7" name="Text 5"/>
          <p:cNvSpPr/>
          <p:nvPr/>
        </p:nvSpPr>
        <p:spPr>
          <a:xfrm>
            <a:off x="995680" y="2339342"/>
            <a:ext cx="2226386"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Serveurs installés et exploités par l’organisation.</a:t>
            </a:r>
            <a:endParaRPr lang="en-US" sz="1200" dirty="0"/>
          </a:p>
        </p:txBody>
      </p:sp>
      <p:sp>
        <p:nvSpPr>
          <p:cNvPr id="8" name="Text 6"/>
          <p:cNvSpPr/>
          <p:nvPr/>
        </p:nvSpPr>
        <p:spPr>
          <a:xfrm>
            <a:off x="995680" y="2839721"/>
            <a:ext cx="2226386"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34155"/>
                </a:solidFill>
                <a:latin typeface="Inter" pitchFamily="34" charset="0"/>
                <a:ea typeface="Inter" pitchFamily="34" charset="-122"/>
                <a:cs typeface="Inter" pitchFamily="34" charset="-120"/>
              </a:rPr>
              <a:t>Infrastructure :</a:t>
            </a:r>
            <a:r>
              <a:rPr lang="en-US" sz="1200" dirty="0">
                <a:solidFill>
                  <a:srgbClr val="334155"/>
                </a:solidFill>
                <a:latin typeface="Inter" pitchFamily="34" charset="0"/>
                <a:ea typeface="Inter" pitchFamily="34" charset="-122"/>
                <a:cs typeface="Inter" pitchFamily="34" charset="-120"/>
              </a:rPr>
              <a:t> serveurs, réseau, passerelle RTC.</a:t>
            </a:r>
            <a:endParaRPr lang="en-US" sz="1200" dirty="0"/>
          </a:p>
        </p:txBody>
      </p:sp>
      <p:sp>
        <p:nvSpPr>
          <p:cNvPr id="9" name="Text 7"/>
          <p:cNvSpPr/>
          <p:nvPr/>
        </p:nvSpPr>
        <p:spPr>
          <a:xfrm>
            <a:off x="995680" y="3340100"/>
            <a:ext cx="2226386"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34155"/>
                </a:solidFill>
                <a:latin typeface="Inter" pitchFamily="34" charset="0"/>
                <a:ea typeface="Inter" pitchFamily="34" charset="-122"/>
                <a:cs typeface="Inter" pitchFamily="34" charset="-120"/>
              </a:rPr>
              <a:t>Administration :</a:t>
            </a:r>
            <a:r>
              <a:rPr lang="en-US" sz="1200" dirty="0">
                <a:solidFill>
                  <a:srgbClr val="334155"/>
                </a:solidFill>
                <a:latin typeface="Inter" pitchFamily="34" charset="0"/>
                <a:ea typeface="Inter" pitchFamily="34" charset="-122"/>
                <a:cs typeface="Inter" pitchFamily="34" charset="-120"/>
              </a:rPr>
              <a:t> équipe interne.</a:t>
            </a:r>
            <a:endParaRPr lang="en-US" sz="1200" dirty="0"/>
          </a:p>
        </p:txBody>
      </p:sp>
      <p:sp>
        <p:nvSpPr>
          <p:cNvPr id="10" name="Text 8"/>
          <p:cNvSpPr/>
          <p:nvPr/>
        </p:nvSpPr>
        <p:spPr>
          <a:xfrm>
            <a:off x="995680" y="3840479"/>
            <a:ext cx="2226386"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34155"/>
                </a:solidFill>
                <a:latin typeface="Inter" pitchFamily="34" charset="0"/>
                <a:ea typeface="Inter" pitchFamily="34" charset="-122"/>
                <a:cs typeface="Inter" pitchFamily="34" charset="-120"/>
              </a:rPr>
              <a:t>Adapté à :</a:t>
            </a:r>
            <a:r>
              <a:rPr lang="en-US" sz="1200" dirty="0">
                <a:solidFill>
                  <a:srgbClr val="334155"/>
                </a:solidFill>
                <a:latin typeface="Inter" pitchFamily="34" charset="0"/>
                <a:ea typeface="Inter" pitchFamily="34" charset="-122"/>
                <a:cs typeface="Inter" pitchFamily="34" charset="-120"/>
              </a:rPr>
              <a:t> fort contrôle, données sur place.</a:t>
            </a:r>
            <a:endParaRPr lang="en-US" sz="1200" dirty="0"/>
          </a:p>
        </p:txBody>
      </p:sp>
      <p:sp>
        <p:nvSpPr>
          <p:cNvPr id="11" name="Shape 9"/>
          <p:cNvSpPr/>
          <p:nvPr/>
        </p:nvSpPr>
        <p:spPr>
          <a:xfrm>
            <a:off x="3495675" y="1826896"/>
            <a:ext cx="2520950" cy="2810510"/>
          </a:xfrm>
          <a:prstGeom prst="roundRect">
            <a:avLst>
              <a:gd name="adj" fmla="val 3904"/>
            </a:avLst>
          </a:prstGeom>
          <a:solidFill>
            <a:srgbClr val="FBFDFF"/>
          </a:solidFill>
          <a:ln w="6350">
            <a:solidFill>
              <a:srgbClr val="D5DEE9"/>
            </a:solidFill>
            <a:prstDash val="solid"/>
          </a:ln>
        </p:spPr>
        <p:txBody>
          <a:bodyPr/>
          <a:lstStyle/>
          <a:p>
            <a:endParaRPr lang="fr-FR"/>
          </a:p>
        </p:txBody>
      </p:sp>
      <p:sp>
        <p:nvSpPr>
          <p:cNvPr id="12" name="Text 10"/>
          <p:cNvSpPr/>
          <p:nvPr/>
        </p:nvSpPr>
        <p:spPr>
          <a:xfrm>
            <a:off x="3675380" y="2006600"/>
            <a:ext cx="222638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A"/>
                </a:solidFill>
                <a:latin typeface="Space Grotesk" pitchFamily="34" charset="0"/>
                <a:ea typeface="Space Grotesk" pitchFamily="34" charset="-122"/>
                <a:cs typeface="Space Grotesk" pitchFamily="34" charset="-120"/>
              </a:rPr>
              <a:t>Hébergé</a:t>
            </a:r>
            <a:endParaRPr lang="en-US" sz="1600" dirty="0"/>
          </a:p>
        </p:txBody>
      </p:sp>
      <p:sp>
        <p:nvSpPr>
          <p:cNvPr id="13" name="Text 11"/>
          <p:cNvSpPr/>
          <p:nvPr/>
        </p:nvSpPr>
        <p:spPr>
          <a:xfrm>
            <a:off x="3675380" y="2339342"/>
            <a:ext cx="2226386"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Plateforme dédiée, exploitée par un prestataire.</a:t>
            </a:r>
            <a:endParaRPr lang="en-US" sz="1200" dirty="0"/>
          </a:p>
        </p:txBody>
      </p:sp>
      <p:sp>
        <p:nvSpPr>
          <p:cNvPr id="14" name="Text 12"/>
          <p:cNvSpPr/>
          <p:nvPr/>
        </p:nvSpPr>
        <p:spPr>
          <a:xfrm>
            <a:off x="3675380" y="2839721"/>
            <a:ext cx="2226386" cy="64262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34155"/>
                </a:solidFill>
                <a:latin typeface="Inter" pitchFamily="34" charset="0"/>
                <a:ea typeface="Inter" pitchFamily="34" charset="-122"/>
                <a:cs typeface="Inter" pitchFamily="34" charset="-120"/>
              </a:rPr>
              <a:t>Infrastructure :</a:t>
            </a:r>
            <a:r>
              <a:rPr lang="en-US" sz="1200" dirty="0">
                <a:solidFill>
                  <a:srgbClr val="334155"/>
                </a:solidFill>
                <a:latin typeface="Inter" pitchFamily="34" charset="0"/>
                <a:ea typeface="Inter" pitchFamily="34" charset="-122"/>
                <a:cs typeface="Inter" pitchFamily="34" charset="-120"/>
              </a:rPr>
              <a:t> serveurs chez le prestataire, accès réseau.</a:t>
            </a:r>
            <a:endParaRPr lang="en-US" sz="1200" dirty="0"/>
          </a:p>
        </p:txBody>
      </p:sp>
      <p:sp>
        <p:nvSpPr>
          <p:cNvPr id="15" name="Text 13"/>
          <p:cNvSpPr/>
          <p:nvPr/>
        </p:nvSpPr>
        <p:spPr>
          <a:xfrm>
            <a:off x="3675380" y="3545842"/>
            <a:ext cx="2226386"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34155"/>
                </a:solidFill>
                <a:latin typeface="Inter" pitchFamily="34" charset="0"/>
                <a:ea typeface="Inter" pitchFamily="34" charset="-122"/>
                <a:cs typeface="Inter" pitchFamily="34" charset="-120"/>
              </a:rPr>
              <a:t>Administration :</a:t>
            </a:r>
            <a:r>
              <a:rPr lang="en-US" sz="1200" dirty="0">
                <a:solidFill>
                  <a:srgbClr val="334155"/>
                </a:solidFill>
                <a:latin typeface="Inter" pitchFamily="34" charset="0"/>
                <a:ea typeface="Inter" pitchFamily="34" charset="-122"/>
                <a:cs typeface="Inter" pitchFamily="34" charset="-120"/>
              </a:rPr>
              <a:t> prestataire, avec l’organisation.</a:t>
            </a:r>
            <a:endParaRPr lang="en-US" sz="1200" dirty="0"/>
          </a:p>
        </p:txBody>
      </p:sp>
      <p:sp>
        <p:nvSpPr>
          <p:cNvPr id="16" name="Text 14"/>
          <p:cNvSpPr/>
          <p:nvPr/>
        </p:nvSpPr>
        <p:spPr>
          <a:xfrm>
            <a:off x="3675380" y="4046221"/>
            <a:ext cx="2226386"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34155"/>
                </a:solidFill>
                <a:latin typeface="Inter" pitchFamily="34" charset="0"/>
                <a:ea typeface="Inter" pitchFamily="34" charset="-122"/>
                <a:cs typeface="Inter" pitchFamily="34" charset="-120"/>
              </a:rPr>
              <a:t>Adapté à :</a:t>
            </a:r>
            <a:r>
              <a:rPr lang="en-US" sz="1200" dirty="0">
                <a:solidFill>
                  <a:srgbClr val="334155"/>
                </a:solidFill>
                <a:latin typeface="Inter" pitchFamily="34" charset="0"/>
                <a:ea typeface="Inter" pitchFamily="34" charset="-122"/>
                <a:cs typeface="Inter" pitchFamily="34" charset="-120"/>
              </a:rPr>
              <a:t> peu de compétences internes.</a:t>
            </a:r>
            <a:endParaRPr lang="en-US" sz="1200" dirty="0"/>
          </a:p>
        </p:txBody>
      </p:sp>
      <p:sp>
        <p:nvSpPr>
          <p:cNvPr id="17" name="Shape 15"/>
          <p:cNvSpPr/>
          <p:nvPr/>
        </p:nvSpPr>
        <p:spPr>
          <a:xfrm>
            <a:off x="6175375" y="1826896"/>
            <a:ext cx="2520950" cy="2810510"/>
          </a:xfrm>
          <a:prstGeom prst="roundRect">
            <a:avLst>
              <a:gd name="adj" fmla="val 3904"/>
            </a:avLst>
          </a:prstGeom>
          <a:solidFill>
            <a:srgbClr val="FBFDFF"/>
          </a:solidFill>
          <a:ln w="6350">
            <a:solidFill>
              <a:srgbClr val="D5DEE9"/>
            </a:solidFill>
            <a:prstDash val="solid"/>
          </a:ln>
        </p:spPr>
        <p:txBody>
          <a:bodyPr/>
          <a:lstStyle/>
          <a:p>
            <a:endParaRPr lang="fr-FR"/>
          </a:p>
        </p:txBody>
      </p:sp>
      <p:sp>
        <p:nvSpPr>
          <p:cNvPr id="18" name="Text 16"/>
          <p:cNvSpPr/>
          <p:nvPr/>
        </p:nvSpPr>
        <p:spPr>
          <a:xfrm>
            <a:off x="6355080" y="2006600"/>
            <a:ext cx="222638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A"/>
                </a:solidFill>
                <a:latin typeface="Space Grotesk" pitchFamily="34" charset="0"/>
                <a:ea typeface="Space Grotesk" pitchFamily="34" charset="-122"/>
                <a:cs typeface="Space Grotesk" pitchFamily="34" charset="-120"/>
              </a:rPr>
              <a:t>Cloud (UCaaS)</a:t>
            </a:r>
            <a:endParaRPr lang="en-US" sz="1600" dirty="0"/>
          </a:p>
        </p:txBody>
      </p:sp>
      <p:sp>
        <p:nvSpPr>
          <p:cNvPr id="19" name="Text 17"/>
          <p:cNvSpPr/>
          <p:nvPr/>
        </p:nvSpPr>
        <p:spPr>
          <a:xfrm>
            <a:off x="6355080" y="2339342"/>
            <a:ext cx="2226386"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Service mutualisé, sur abonnement.</a:t>
            </a:r>
            <a:endParaRPr lang="en-US" sz="1200" dirty="0"/>
          </a:p>
        </p:txBody>
      </p:sp>
      <p:sp>
        <p:nvSpPr>
          <p:cNvPr id="20" name="Text 18"/>
          <p:cNvSpPr/>
          <p:nvPr/>
        </p:nvSpPr>
        <p:spPr>
          <a:xfrm>
            <a:off x="6355080" y="2839721"/>
            <a:ext cx="2226386"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34155"/>
                </a:solidFill>
                <a:latin typeface="Inter" pitchFamily="34" charset="0"/>
                <a:ea typeface="Inter" pitchFamily="34" charset="-122"/>
                <a:cs typeface="Inter" pitchFamily="34" charset="-120"/>
              </a:rPr>
              <a:t>Infrastructure :</a:t>
            </a:r>
            <a:r>
              <a:rPr lang="en-US" sz="1200" dirty="0">
                <a:solidFill>
                  <a:srgbClr val="334155"/>
                </a:solidFill>
                <a:latin typeface="Inter" pitchFamily="34" charset="0"/>
                <a:ea typeface="Inter" pitchFamily="34" charset="-122"/>
                <a:cs typeface="Inter" pitchFamily="34" charset="-120"/>
              </a:rPr>
              <a:t> accès Internet fiable, terminaux.</a:t>
            </a:r>
            <a:endParaRPr lang="en-US" sz="1200" dirty="0"/>
          </a:p>
        </p:txBody>
      </p:sp>
      <p:sp>
        <p:nvSpPr>
          <p:cNvPr id="21" name="Text 19"/>
          <p:cNvSpPr/>
          <p:nvPr/>
        </p:nvSpPr>
        <p:spPr>
          <a:xfrm>
            <a:off x="6355080" y="3340100"/>
            <a:ext cx="2226386"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34155"/>
                </a:solidFill>
                <a:latin typeface="Inter" pitchFamily="34" charset="0"/>
                <a:ea typeface="Inter" pitchFamily="34" charset="-122"/>
                <a:cs typeface="Inter" pitchFamily="34" charset="-120"/>
              </a:rPr>
              <a:t>Administration :</a:t>
            </a:r>
            <a:r>
              <a:rPr lang="en-US" sz="1200" dirty="0">
                <a:solidFill>
                  <a:srgbClr val="334155"/>
                </a:solidFill>
                <a:latin typeface="Inter" pitchFamily="34" charset="0"/>
                <a:ea typeface="Inter" pitchFamily="34" charset="-122"/>
                <a:cs typeface="Inter" pitchFamily="34" charset="-120"/>
              </a:rPr>
              <a:t> fournisseur, console client.</a:t>
            </a:r>
            <a:endParaRPr lang="en-US" sz="1200" dirty="0"/>
          </a:p>
        </p:txBody>
      </p:sp>
      <p:sp>
        <p:nvSpPr>
          <p:cNvPr id="22" name="Text 20"/>
          <p:cNvSpPr/>
          <p:nvPr/>
        </p:nvSpPr>
        <p:spPr>
          <a:xfrm>
            <a:off x="6355080" y="3840479"/>
            <a:ext cx="2226386"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34155"/>
                </a:solidFill>
                <a:latin typeface="Inter" pitchFamily="34" charset="0"/>
                <a:ea typeface="Inter" pitchFamily="34" charset="-122"/>
                <a:cs typeface="Inter" pitchFamily="34" charset="-120"/>
              </a:rPr>
              <a:t>Adapté à :</a:t>
            </a:r>
            <a:r>
              <a:rPr lang="en-US" sz="1200" dirty="0">
                <a:solidFill>
                  <a:srgbClr val="334155"/>
                </a:solidFill>
                <a:latin typeface="Inter" pitchFamily="34" charset="0"/>
                <a:ea typeface="Inter" pitchFamily="34" charset="-122"/>
                <a:cs typeface="Inter" pitchFamily="34" charset="-120"/>
              </a:rPr>
              <a:t> déploiement rapide, équipes distribuées.</a:t>
            </a:r>
            <a:endParaRPr lang="en-US" sz="1200" dirty="0"/>
          </a:p>
        </p:txBody>
      </p:sp>
      <p:sp>
        <p:nvSpPr>
          <p:cNvPr id="23" name="Shape 21"/>
          <p:cNvSpPr/>
          <p:nvPr/>
        </p:nvSpPr>
        <p:spPr>
          <a:xfrm>
            <a:off x="8855075" y="1826896"/>
            <a:ext cx="2520950" cy="2810510"/>
          </a:xfrm>
          <a:prstGeom prst="roundRect">
            <a:avLst>
              <a:gd name="adj" fmla="val 3904"/>
            </a:avLst>
          </a:prstGeom>
          <a:solidFill>
            <a:srgbClr val="FBFDFF"/>
          </a:solidFill>
          <a:ln w="6350">
            <a:solidFill>
              <a:srgbClr val="D5DEE9"/>
            </a:solidFill>
            <a:prstDash val="solid"/>
          </a:ln>
        </p:spPr>
        <p:txBody>
          <a:bodyPr/>
          <a:lstStyle/>
          <a:p>
            <a:endParaRPr lang="fr-FR"/>
          </a:p>
        </p:txBody>
      </p:sp>
      <p:sp>
        <p:nvSpPr>
          <p:cNvPr id="24" name="Text 22"/>
          <p:cNvSpPr/>
          <p:nvPr/>
        </p:nvSpPr>
        <p:spPr>
          <a:xfrm>
            <a:off x="9034780" y="2006600"/>
            <a:ext cx="222638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A"/>
                </a:solidFill>
                <a:latin typeface="Space Grotesk" pitchFamily="34" charset="0"/>
                <a:ea typeface="Space Grotesk" pitchFamily="34" charset="-122"/>
                <a:cs typeface="Space Grotesk" pitchFamily="34" charset="-120"/>
              </a:rPr>
              <a:t>Hybride</a:t>
            </a:r>
            <a:endParaRPr lang="en-US" sz="1600" dirty="0"/>
          </a:p>
        </p:txBody>
      </p:sp>
      <p:sp>
        <p:nvSpPr>
          <p:cNvPr id="25" name="Text 23"/>
          <p:cNvSpPr/>
          <p:nvPr/>
        </p:nvSpPr>
        <p:spPr>
          <a:xfrm>
            <a:off x="9034780" y="2339342"/>
            <a:ext cx="2226386"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Mélange de composants sur site et de cloud.</a:t>
            </a:r>
            <a:endParaRPr lang="en-US" sz="1200" dirty="0"/>
          </a:p>
        </p:txBody>
      </p:sp>
      <p:sp>
        <p:nvSpPr>
          <p:cNvPr id="26" name="Text 24"/>
          <p:cNvSpPr/>
          <p:nvPr/>
        </p:nvSpPr>
        <p:spPr>
          <a:xfrm>
            <a:off x="9034780" y="2839721"/>
            <a:ext cx="2226386"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34155"/>
                </a:solidFill>
                <a:latin typeface="Inter" pitchFamily="34" charset="0"/>
                <a:ea typeface="Inter" pitchFamily="34" charset="-122"/>
                <a:cs typeface="Inter" pitchFamily="34" charset="-120"/>
              </a:rPr>
              <a:t>Infrastructure :</a:t>
            </a:r>
            <a:r>
              <a:rPr lang="en-US" sz="1200" dirty="0">
                <a:solidFill>
                  <a:srgbClr val="334155"/>
                </a:solidFill>
                <a:latin typeface="Inter" pitchFamily="34" charset="0"/>
                <a:ea typeface="Inter" pitchFamily="34" charset="-122"/>
                <a:cs typeface="Inter" pitchFamily="34" charset="-120"/>
              </a:rPr>
              <a:t> liaison sécurisée entre les deux.</a:t>
            </a:r>
            <a:endParaRPr lang="en-US" sz="1200" dirty="0"/>
          </a:p>
        </p:txBody>
      </p:sp>
      <p:sp>
        <p:nvSpPr>
          <p:cNvPr id="27" name="Text 25"/>
          <p:cNvSpPr/>
          <p:nvPr/>
        </p:nvSpPr>
        <p:spPr>
          <a:xfrm>
            <a:off x="9034780" y="3340100"/>
            <a:ext cx="2226386"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34155"/>
                </a:solidFill>
                <a:latin typeface="Inter" pitchFamily="34" charset="0"/>
                <a:ea typeface="Inter" pitchFamily="34" charset="-122"/>
                <a:cs typeface="Inter" pitchFamily="34" charset="-120"/>
              </a:rPr>
              <a:t>Administration :</a:t>
            </a:r>
            <a:r>
              <a:rPr lang="en-US" sz="1200" dirty="0">
                <a:solidFill>
                  <a:srgbClr val="334155"/>
                </a:solidFill>
                <a:latin typeface="Inter" pitchFamily="34" charset="0"/>
                <a:ea typeface="Inter" pitchFamily="34" charset="-122"/>
                <a:cs typeface="Inter" pitchFamily="34" charset="-120"/>
              </a:rPr>
              <a:t> partagée.</a:t>
            </a:r>
            <a:endParaRPr lang="en-US" sz="1200" dirty="0"/>
          </a:p>
        </p:txBody>
      </p:sp>
      <p:sp>
        <p:nvSpPr>
          <p:cNvPr id="28" name="Text 26"/>
          <p:cNvSpPr/>
          <p:nvPr/>
        </p:nvSpPr>
        <p:spPr>
          <a:xfrm>
            <a:off x="9034780" y="3634742"/>
            <a:ext cx="2226386"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334155"/>
                </a:solidFill>
                <a:latin typeface="Inter" pitchFamily="34" charset="0"/>
                <a:ea typeface="Inter" pitchFamily="34" charset="-122"/>
                <a:cs typeface="Inter" pitchFamily="34" charset="-120"/>
              </a:rPr>
              <a:t>Adapté à :</a:t>
            </a:r>
            <a:r>
              <a:rPr lang="en-US" sz="1200" dirty="0">
                <a:solidFill>
                  <a:srgbClr val="334155"/>
                </a:solidFill>
                <a:latin typeface="Inter" pitchFamily="34" charset="0"/>
                <a:ea typeface="Inter" pitchFamily="34" charset="-122"/>
                <a:cs typeface="Inter" pitchFamily="34" charset="-120"/>
              </a:rPr>
              <a:t> migration progressive, besoins mixtes.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838200" y="812800"/>
            <a:ext cx="0" cy="213360"/>
          </a:xfrm>
          <a:prstGeom prst="line">
            <a:avLst/>
          </a:prstGeom>
          <a:noFill/>
          <a:ln w="50800">
            <a:solidFill>
              <a:srgbClr val="FF7A1A"/>
            </a:solidFill>
            <a:prstDash val="solid"/>
          </a:ln>
        </p:spPr>
        <p:txBody>
          <a:bodyPr/>
          <a:lstStyle/>
          <a:p>
            <a:endParaRPr lang="fr-FR"/>
          </a:p>
        </p:txBody>
      </p:sp>
      <p:sp>
        <p:nvSpPr>
          <p:cNvPr id="3" name="Text 1"/>
          <p:cNvSpPr/>
          <p:nvPr/>
        </p:nvSpPr>
        <p:spPr>
          <a:xfrm>
            <a:off x="965200" y="812800"/>
            <a:ext cx="107264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COMPARAISON</a:t>
            </a:r>
            <a:endParaRPr lang="en-US" sz="1200" dirty="0"/>
          </a:p>
        </p:txBody>
      </p:sp>
      <p:sp>
        <p:nvSpPr>
          <p:cNvPr id="4" name="Text 2"/>
          <p:cNvSpPr>
            <a:spLocks noGrp="1"/>
          </p:cNvSpPr>
          <p:nvPr>
            <p:ph type="title"/>
          </p:nvPr>
        </p:nvSpPr>
        <p:spPr>
          <a:xfrm>
            <a:off x="812800" y="1229364"/>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1F3A"/>
                </a:solidFill>
                <a:latin typeface="Space Grotesk" pitchFamily="34" charset="0"/>
                <a:ea typeface="Space Grotesk" pitchFamily="34" charset="-122"/>
                <a:cs typeface="Space Grotesk" pitchFamily="34" charset="-120"/>
              </a:rPr>
              <a:t>Sur site, cloud ou hybride : les compromis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33881"/>
          <a:ext cx="10556240" cy="2407920"/>
        </p:xfrm>
        <a:graphic>
          <a:graphicData uri="http://schemas.openxmlformats.org/drawingml/2006/table">
            <a:tbl>
              <a:tblPr/>
              <a:tblGrid>
                <a:gridCol w="2111248">
                  <a:extLst>
                    <a:ext uri="{9D8B030D-6E8A-4147-A177-3AD203B41FA5}">
                      <a16:colId xmlns:a16="http://schemas.microsoft.com/office/drawing/2014/main" val="20000"/>
                    </a:ext>
                  </a:extLst>
                </a:gridCol>
                <a:gridCol w="2111248">
                  <a:extLst>
                    <a:ext uri="{9D8B030D-6E8A-4147-A177-3AD203B41FA5}">
                      <a16:colId xmlns:a16="http://schemas.microsoft.com/office/drawing/2014/main" val="20001"/>
                    </a:ext>
                  </a:extLst>
                </a:gridCol>
                <a:gridCol w="2111248">
                  <a:extLst>
                    <a:ext uri="{9D8B030D-6E8A-4147-A177-3AD203B41FA5}">
                      <a16:colId xmlns:a16="http://schemas.microsoft.com/office/drawing/2014/main" val="20002"/>
                    </a:ext>
                  </a:extLst>
                </a:gridCol>
                <a:gridCol w="2111248">
                  <a:extLst>
                    <a:ext uri="{9D8B030D-6E8A-4147-A177-3AD203B41FA5}">
                      <a16:colId xmlns:a16="http://schemas.microsoft.com/office/drawing/2014/main" val="20003"/>
                    </a:ext>
                  </a:extLst>
                </a:gridCol>
                <a:gridCol w="2111248">
                  <a:extLst>
                    <a:ext uri="{9D8B030D-6E8A-4147-A177-3AD203B41FA5}">
                      <a16:colId xmlns:a16="http://schemas.microsoft.com/office/drawing/2014/main" val="20004"/>
                    </a:ext>
                  </a:extLst>
                </a:gridCol>
              </a:tblGrid>
              <a:tr h="330200">
                <a:tc>
                  <a:txBody>
                    <a:bodyPr/>
                    <a:lstStyle/>
                    <a:p>
                      <a:pPr marL="0" indent="0">
                        <a:lnSpc>
                          <a:spcPts val="1680"/>
                        </a:lnSpc>
                        <a:buNone/>
                      </a:pPr>
                      <a:r>
                        <a:rPr lang="en-US" sz="1200" b="1" dirty="0">
                          <a:solidFill>
                            <a:srgbClr val="F3F6FA"/>
                          </a:solidFill>
                          <a:latin typeface="Inter" pitchFamily="34" charset="0"/>
                          <a:ea typeface="Inter" pitchFamily="34" charset="-122"/>
                          <a:cs typeface="Inter" pitchFamily="34" charset="-120"/>
                        </a:rPr>
                        <a:t>Critère</a:t>
                      </a:r>
                      <a:endParaRPr lang="en-US" sz="1200" dirty="0">
                        <a:latin typeface="Inter" charset="0"/>
                        <a:ea typeface="Inter" charset="0"/>
                        <a:cs typeface="Inter"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B4B6B9"/>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B4B6B9"/>
                      </a:solidFill>
                      <a:prstDash val="solid"/>
                      <a:round/>
                      <a:headEnd type="none" w="med" len="med"/>
                      <a:tailEnd type="none" w="med" len="med"/>
                    </a:lnB>
                    <a:solidFill>
                      <a:srgbClr val="E1E4E8"/>
                    </a:solidFill>
                  </a:tcPr>
                </a:tc>
                <a:tc>
                  <a:txBody>
                    <a:bodyPr/>
                    <a:lstStyle/>
                    <a:p>
                      <a:pPr marL="0" indent="0">
                        <a:lnSpc>
                          <a:spcPts val="1680"/>
                        </a:lnSpc>
                        <a:buNone/>
                      </a:pPr>
                      <a:r>
                        <a:rPr lang="en-US" sz="1200" b="1" dirty="0">
                          <a:solidFill>
                            <a:srgbClr val="F3F6FA"/>
                          </a:solidFill>
                          <a:latin typeface="Inter" pitchFamily="34" charset="0"/>
                          <a:ea typeface="Inter" pitchFamily="34" charset="-122"/>
                          <a:cs typeface="Inter" pitchFamily="34" charset="-120"/>
                        </a:rPr>
                        <a:t>Sur site</a:t>
                      </a:r>
                      <a:endParaRPr lang="en-US" sz="1200" dirty="0">
                        <a:latin typeface="Inter" charset="0"/>
                        <a:ea typeface="Inter" charset="0"/>
                        <a:cs typeface="Inter" charset="0"/>
                      </a:endParaRPr>
                    </a:p>
                  </a:txBody>
                  <a:tcPr marL="53340" marR="53340" marT="53340" marB="53340">
                    <a:lnL w="12700" cap="flat" cmpd="sng" algn="ctr">
                      <a:solidFill>
                        <a:srgbClr val="B4B6B9"/>
                      </a:solidFill>
                      <a:prstDash val="solid"/>
                      <a:round/>
                      <a:headEnd type="none" w="med" len="med"/>
                      <a:tailEnd type="none" w="med" len="med"/>
                    </a:lnL>
                    <a:lnR w="12700" cap="flat" cmpd="sng" algn="ctr">
                      <a:solidFill>
                        <a:srgbClr val="B4B6B9"/>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B4B6B9"/>
                      </a:solidFill>
                      <a:prstDash val="solid"/>
                      <a:round/>
                      <a:headEnd type="none" w="med" len="med"/>
                      <a:tailEnd type="none" w="med" len="med"/>
                    </a:lnB>
                    <a:solidFill>
                      <a:srgbClr val="E1E4E8"/>
                    </a:solidFill>
                  </a:tcPr>
                </a:tc>
                <a:tc>
                  <a:txBody>
                    <a:bodyPr/>
                    <a:lstStyle/>
                    <a:p>
                      <a:pPr marL="0" indent="0">
                        <a:lnSpc>
                          <a:spcPts val="1680"/>
                        </a:lnSpc>
                        <a:buNone/>
                      </a:pPr>
                      <a:r>
                        <a:rPr lang="en-US" sz="1200" b="1" dirty="0">
                          <a:solidFill>
                            <a:srgbClr val="F3F6FA"/>
                          </a:solidFill>
                          <a:latin typeface="Inter" pitchFamily="34" charset="0"/>
                          <a:ea typeface="Inter" pitchFamily="34" charset="-122"/>
                          <a:cs typeface="Inter" pitchFamily="34" charset="-120"/>
                        </a:rPr>
                        <a:t>Hébergé</a:t>
                      </a:r>
                      <a:endParaRPr lang="en-US" sz="1200" dirty="0">
                        <a:latin typeface="Inter" charset="0"/>
                        <a:ea typeface="Inter" charset="0"/>
                        <a:cs typeface="Inter" charset="0"/>
                      </a:endParaRPr>
                    </a:p>
                  </a:txBody>
                  <a:tcPr marL="53340" marR="53340" marT="53340" marB="53340">
                    <a:lnL w="12700" cap="flat" cmpd="sng" algn="ctr">
                      <a:solidFill>
                        <a:srgbClr val="B4B6B9"/>
                      </a:solidFill>
                      <a:prstDash val="solid"/>
                      <a:round/>
                      <a:headEnd type="none" w="med" len="med"/>
                      <a:tailEnd type="none" w="med" len="med"/>
                    </a:lnL>
                    <a:lnR w="12700" cap="flat" cmpd="sng" algn="ctr">
                      <a:solidFill>
                        <a:srgbClr val="B4B6B9"/>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B4B6B9"/>
                      </a:solidFill>
                      <a:prstDash val="solid"/>
                      <a:round/>
                      <a:headEnd type="none" w="med" len="med"/>
                      <a:tailEnd type="none" w="med" len="med"/>
                    </a:lnB>
                    <a:solidFill>
                      <a:srgbClr val="E1E4E8"/>
                    </a:solidFill>
                  </a:tcPr>
                </a:tc>
                <a:tc>
                  <a:txBody>
                    <a:bodyPr/>
                    <a:lstStyle/>
                    <a:p>
                      <a:pPr marL="0" indent="0">
                        <a:lnSpc>
                          <a:spcPts val="1680"/>
                        </a:lnSpc>
                        <a:buNone/>
                      </a:pPr>
                      <a:r>
                        <a:rPr lang="en-US" sz="1200" b="1" dirty="0">
                          <a:solidFill>
                            <a:srgbClr val="F3F6FA"/>
                          </a:solidFill>
                          <a:latin typeface="Inter" pitchFamily="34" charset="0"/>
                          <a:ea typeface="Inter" pitchFamily="34" charset="-122"/>
                          <a:cs typeface="Inter" pitchFamily="34" charset="-120"/>
                        </a:rPr>
                        <a:t>Cloud (UCaaS)</a:t>
                      </a:r>
                      <a:endParaRPr lang="en-US" sz="1200" dirty="0">
                        <a:latin typeface="Inter" charset="0"/>
                        <a:ea typeface="Inter" charset="0"/>
                        <a:cs typeface="Inter" charset="0"/>
                      </a:endParaRPr>
                    </a:p>
                  </a:txBody>
                  <a:tcPr marL="53340" marR="53340" marT="53340" marB="53340">
                    <a:lnL w="12700" cap="flat" cmpd="sng" algn="ctr">
                      <a:solidFill>
                        <a:srgbClr val="B4B6B9"/>
                      </a:solidFill>
                      <a:prstDash val="solid"/>
                      <a:round/>
                      <a:headEnd type="none" w="med" len="med"/>
                      <a:tailEnd type="none" w="med" len="med"/>
                    </a:lnL>
                    <a:lnR w="12700" cap="flat" cmpd="sng" algn="ctr">
                      <a:solidFill>
                        <a:srgbClr val="B4B6B9"/>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B4B6B9"/>
                      </a:solidFill>
                      <a:prstDash val="solid"/>
                      <a:round/>
                      <a:headEnd type="none" w="med" len="med"/>
                      <a:tailEnd type="none" w="med" len="med"/>
                    </a:lnB>
                    <a:solidFill>
                      <a:srgbClr val="E1E4E8"/>
                    </a:solidFill>
                  </a:tcPr>
                </a:tc>
                <a:tc>
                  <a:txBody>
                    <a:bodyPr/>
                    <a:lstStyle/>
                    <a:p>
                      <a:pPr marL="0" indent="0">
                        <a:lnSpc>
                          <a:spcPts val="1680"/>
                        </a:lnSpc>
                        <a:buNone/>
                      </a:pPr>
                      <a:r>
                        <a:rPr lang="en-US" sz="1200" b="1" dirty="0">
                          <a:solidFill>
                            <a:srgbClr val="F3F6FA"/>
                          </a:solidFill>
                          <a:latin typeface="Inter" pitchFamily="34" charset="0"/>
                          <a:ea typeface="Inter" pitchFamily="34" charset="-122"/>
                          <a:cs typeface="Inter" pitchFamily="34" charset="-120"/>
                        </a:rPr>
                        <a:t>Hybride</a:t>
                      </a:r>
                      <a:endParaRPr lang="en-US" sz="1200" dirty="0">
                        <a:latin typeface="Inter" charset="0"/>
                        <a:ea typeface="Inter" charset="0"/>
                        <a:cs typeface="Inter" charset="0"/>
                      </a:endParaRPr>
                    </a:p>
                  </a:txBody>
                  <a:tcPr marL="53340" marR="53340" marT="53340" marB="53340">
                    <a:lnL w="12700" cap="flat" cmpd="sng" algn="ctr">
                      <a:solidFill>
                        <a:srgbClr val="B4B6B9"/>
                      </a:solidFill>
                      <a:prstDash val="solid"/>
                      <a:round/>
                      <a:headEnd type="none" w="med" len="med"/>
                      <a:tailEnd type="none" w="med" len="med"/>
                    </a:lnL>
                    <a:lnR w="12700" cap="flat" cmpd="sng" algn="ctr">
                      <a:solidFill>
                        <a:srgbClr val="B4B6B9"/>
                      </a:solidFill>
                      <a:prstDash val="solid"/>
                      <a:round/>
                      <a:headEnd type="none" w="med" len="med"/>
                      <a:tailEnd type="none" w="med" len="med"/>
                    </a:lnR>
                    <a:lnT w="12700" cap="flat" cmpd="sng" algn="ctr">
                      <a:solidFill>
                        <a:srgbClr val="C2C4C7"/>
                      </a:solidFill>
                      <a:prstDash val="solid"/>
                      <a:round/>
                      <a:headEnd type="none" w="med" len="med"/>
                      <a:tailEnd type="none" w="med" len="med"/>
                    </a:lnT>
                    <a:lnB w="12700" cap="flat" cmpd="sng" algn="ctr">
                      <a:solidFill>
                        <a:srgbClr val="B4B6B9"/>
                      </a:solidFill>
                      <a:prstDash val="solid"/>
                      <a:round/>
                      <a:headEnd type="none" w="med" len="med"/>
                      <a:tailEnd type="none" w="med" len="med"/>
                    </a:lnB>
                    <a:solidFill>
                      <a:srgbClr val="E1E4E8"/>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Contrôle</a:t>
                      </a:r>
                      <a:endParaRPr lang="en-US" sz="1200" dirty="0">
                        <a:latin typeface="Inter" charset="0"/>
                        <a:ea typeface="Inter" charset="0"/>
                        <a:cs typeface="Inter"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4B6B9"/>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Élevé</a:t>
                      </a:r>
                      <a:endParaRPr lang="en-US" sz="1200" dirty="0">
                        <a:latin typeface="Inter" charset="0"/>
                        <a:ea typeface="Inter" charset="0"/>
                        <a:cs typeface="Inter" charset="0"/>
                      </a:endParaRPr>
                    </a:p>
                  </a:txBody>
                  <a:tcPr marL="53340" marR="53340" marT="53340" marB="53340">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4B6B9"/>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Moyen</a:t>
                      </a:r>
                      <a:endParaRPr lang="en-US" sz="1200" dirty="0">
                        <a:latin typeface="Inter" charset="0"/>
                        <a:ea typeface="Inter" charset="0"/>
                        <a:cs typeface="Inter" charset="0"/>
                      </a:endParaRPr>
                    </a:p>
                  </a:txBody>
                  <a:tcPr marL="53340" marR="53340" marT="53340" marB="53340">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4B6B9"/>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Plus limité</a:t>
                      </a:r>
                      <a:endParaRPr lang="en-US" sz="1200" dirty="0">
                        <a:latin typeface="Inter" charset="0"/>
                        <a:ea typeface="Inter" charset="0"/>
                        <a:cs typeface="Inter" charset="0"/>
                      </a:endParaRPr>
                    </a:p>
                  </a:txBody>
                  <a:tcPr marL="53340" marR="53340" marT="53340" marB="53340">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4B6B9"/>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Moyen</a:t>
                      </a:r>
                      <a:endParaRPr lang="en-US" sz="1200" dirty="0">
                        <a:latin typeface="Inter" charset="0"/>
                        <a:ea typeface="Inter" charset="0"/>
                        <a:cs typeface="Inter" charset="0"/>
                      </a:endParaRPr>
                    </a:p>
                  </a:txBody>
                  <a:tcPr marL="53340" marR="53340" marT="53340" marB="53340">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4B6B9"/>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extLst>
                  <a:ext uri="{0D108BD9-81ED-4DB2-BD59-A6C34878D82A}">
                    <a16:rowId xmlns:a16="http://schemas.microsoft.com/office/drawing/2014/main" val="10001"/>
                  </a:ext>
                </a:extLst>
              </a:tr>
              <a:tr h="543560">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Coût</a:t>
                      </a:r>
                      <a:endParaRPr lang="en-US" sz="1200" dirty="0">
                        <a:latin typeface="Inter" charset="0"/>
                        <a:ea typeface="Inter" charset="0"/>
                        <a:cs typeface="Inter"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Investissement initial plus élevé</a:t>
                      </a:r>
                      <a:endParaRPr lang="en-US" sz="1200" dirty="0">
                        <a:latin typeface="Inter" charset="0"/>
                        <a:ea typeface="Inter" charset="0"/>
                        <a:cs typeface="Inter" charset="0"/>
                      </a:endParaRPr>
                    </a:p>
                  </a:txBody>
                  <a:tcPr marL="53340" marR="53340" marT="53340" marB="53340">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Intermédiaire</a:t>
                      </a:r>
                      <a:endParaRPr lang="en-US" sz="1200" dirty="0">
                        <a:latin typeface="Inter" charset="0"/>
                        <a:ea typeface="Inter" charset="0"/>
                        <a:cs typeface="Inter" charset="0"/>
                      </a:endParaRPr>
                    </a:p>
                  </a:txBody>
                  <a:tcPr marL="53340" marR="53340" marT="53340" marB="53340">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Abonnement récurrent</a:t>
                      </a:r>
                      <a:endParaRPr lang="en-US" sz="1200" dirty="0">
                        <a:latin typeface="Inter" charset="0"/>
                        <a:ea typeface="Inter" charset="0"/>
                        <a:cs typeface="Inter" charset="0"/>
                      </a:endParaRPr>
                    </a:p>
                  </a:txBody>
                  <a:tcPr marL="53340" marR="53340" marT="53340" marB="53340">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Variable</a:t>
                      </a:r>
                      <a:endParaRPr lang="en-US" sz="1200" dirty="0">
                        <a:latin typeface="Inter" charset="0"/>
                        <a:ea typeface="Inter" charset="0"/>
                        <a:cs typeface="Inter" charset="0"/>
                      </a:endParaRPr>
                    </a:p>
                  </a:txBody>
                  <a:tcPr marL="53340" marR="53340" marT="53340" marB="53340">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Maintenance interne</a:t>
                      </a:r>
                      <a:endParaRPr lang="en-US" sz="1200" dirty="0">
                        <a:latin typeface="Inter" charset="0"/>
                        <a:ea typeface="Inter" charset="0"/>
                        <a:cs typeface="Inter"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8BCC3"/>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Élevée</a:t>
                      </a:r>
                      <a:endParaRPr lang="en-US" sz="1200" dirty="0">
                        <a:latin typeface="Inter" charset="0"/>
                        <a:ea typeface="Inter" charset="0"/>
                        <a:cs typeface="Inter" charset="0"/>
                      </a:endParaRPr>
                    </a:p>
                  </a:txBody>
                  <a:tcPr marL="53340" marR="53340" marT="53340" marB="53340">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8BCC3"/>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Faible</a:t>
                      </a:r>
                      <a:endParaRPr lang="en-US" sz="1200" dirty="0">
                        <a:latin typeface="Inter" charset="0"/>
                        <a:ea typeface="Inter" charset="0"/>
                        <a:cs typeface="Inter" charset="0"/>
                      </a:endParaRPr>
                    </a:p>
                  </a:txBody>
                  <a:tcPr marL="53340" marR="53340" marT="53340" marB="53340">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8BCC3"/>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Faible</a:t>
                      </a:r>
                      <a:endParaRPr lang="en-US" sz="1200" dirty="0">
                        <a:latin typeface="Inter" charset="0"/>
                        <a:ea typeface="Inter" charset="0"/>
                        <a:cs typeface="Inter" charset="0"/>
                      </a:endParaRPr>
                    </a:p>
                  </a:txBody>
                  <a:tcPr marL="53340" marR="53340" marT="53340" marB="53340">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8BCC3"/>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Moyenne</a:t>
                      </a:r>
                      <a:endParaRPr lang="en-US" sz="1200" dirty="0">
                        <a:latin typeface="Inter" charset="0"/>
                        <a:ea typeface="Inter" charset="0"/>
                        <a:cs typeface="Inter" charset="0"/>
                      </a:endParaRPr>
                    </a:p>
                  </a:txBody>
                  <a:tcPr marL="53340" marR="53340" marT="53340" marB="53340">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8BCC3"/>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extLst>
                  <a:ext uri="{0D108BD9-81ED-4DB2-BD59-A6C34878D82A}">
                    <a16:rowId xmlns:a16="http://schemas.microsoft.com/office/drawing/2014/main" val="10003"/>
                  </a:ext>
                </a:extLst>
              </a:tr>
              <a:tr h="543560">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Sécurité</a:t>
                      </a:r>
                      <a:endParaRPr lang="en-US" sz="1200" dirty="0">
                        <a:latin typeface="Inter" charset="0"/>
                        <a:ea typeface="Inter" charset="0"/>
                        <a:cs typeface="Inter"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Maîtrise totale, responsabilité totale</a:t>
                      </a:r>
                      <a:endParaRPr lang="en-US" sz="1200" dirty="0">
                        <a:latin typeface="Inter" charset="0"/>
                        <a:ea typeface="Inter" charset="0"/>
                        <a:cs typeface="Inter" charset="0"/>
                      </a:endParaRPr>
                    </a:p>
                  </a:txBody>
                  <a:tcPr marL="53340" marR="53340" marT="53340" marB="53340">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Responsabilité partagée</a:t>
                      </a:r>
                      <a:endParaRPr lang="en-US" sz="1200" dirty="0">
                        <a:latin typeface="Inter" charset="0"/>
                        <a:ea typeface="Inter" charset="0"/>
                        <a:cs typeface="Inter" charset="0"/>
                      </a:endParaRPr>
                    </a:p>
                  </a:txBody>
                  <a:tcPr marL="53340" marR="53340" marT="53340" marB="53340">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Partagée avec le fournisseur</a:t>
                      </a:r>
                      <a:endParaRPr lang="en-US" sz="1200" dirty="0">
                        <a:latin typeface="Inter" charset="0"/>
                        <a:ea typeface="Inter" charset="0"/>
                        <a:cs typeface="Inter" charset="0"/>
                      </a:endParaRPr>
                    </a:p>
                  </a:txBody>
                  <a:tcPr marL="53340" marR="53340" marT="53340" marB="53340">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Partagée</a:t>
                      </a:r>
                      <a:endParaRPr lang="en-US" sz="1200" dirty="0">
                        <a:latin typeface="Inter" charset="0"/>
                        <a:ea typeface="Inter" charset="0"/>
                        <a:cs typeface="Inter" charset="0"/>
                      </a:endParaRPr>
                    </a:p>
                  </a:txBody>
                  <a:tcPr marL="53340" marR="53340" marT="53340" marB="53340">
                    <a:lnL w="12700" cap="flat" cmpd="sng" algn="ctr">
                      <a:solidFill>
                        <a:srgbClr val="B8BCC3"/>
                      </a:solidFill>
                      <a:prstDash val="solid"/>
                      <a:round/>
                      <a:headEnd type="none" w="med" len="med"/>
                      <a:tailEnd type="none" w="med" len="med"/>
                    </a:lnL>
                    <a:lnR w="12700" cap="flat" cmpd="sng" algn="ctr">
                      <a:solidFill>
                        <a:srgbClr val="B8BCC3"/>
                      </a:solidFill>
                      <a:prstDash val="solid"/>
                      <a:round/>
                      <a:headEnd type="none" w="med" len="med"/>
                      <a:tailEnd type="none" w="med" len="med"/>
                    </a:lnR>
                    <a:lnT w="12700" cap="flat" cmpd="sng" algn="ctr">
                      <a:solidFill>
                        <a:srgbClr val="C8CACB"/>
                      </a:solidFill>
                      <a:prstDash val="solid"/>
                      <a:round/>
                      <a:headEnd type="none" w="med" len="med"/>
                      <a:tailEnd type="none" w="med" len="med"/>
                    </a:lnT>
                    <a:lnB w="12700" cap="flat" cmpd="sng" algn="ctr">
                      <a:solidFill>
                        <a:srgbClr val="B8BCC3"/>
                      </a:solidFill>
                      <a:prstDash val="solid"/>
                      <a:round/>
                      <a:headEnd type="none" w="med" len="med"/>
                      <a:tailEnd type="none" w="med" len="med"/>
                    </a:lnB>
                    <a:solidFill>
                      <a:srgbClr val="E6ECF4"/>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Flexibilité</a:t>
                      </a:r>
                      <a:endParaRPr lang="en-US" sz="1200" dirty="0">
                        <a:latin typeface="Inter" charset="0"/>
                        <a:ea typeface="Inter" charset="0"/>
                        <a:cs typeface="Inter" charset="0"/>
                      </a:endParaRPr>
                    </a:p>
                  </a:txBody>
                  <a:tcPr marL="53340" marR="53340" marT="53340" marB="53340">
                    <a:lnL w="12700" cap="flat" cmpd="sng" algn="ctr">
                      <a:solidFill>
                        <a:srgbClr val="C2C4C7"/>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8BCC3"/>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Limitée par le matériel</a:t>
                      </a:r>
                      <a:endParaRPr lang="en-US" sz="1200" dirty="0">
                        <a:latin typeface="Inter" charset="0"/>
                        <a:ea typeface="Inter" charset="0"/>
                        <a:cs typeface="Inter" charset="0"/>
                      </a:endParaRPr>
                    </a:p>
                  </a:txBody>
                  <a:tcPr marL="53340" marR="53340" marT="53340" marB="53340">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8BCC3"/>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Moyenne</a:t>
                      </a:r>
                      <a:endParaRPr lang="en-US" sz="1200" dirty="0">
                        <a:latin typeface="Inter" charset="0"/>
                        <a:ea typeface="Inter" charset="0"/>
                        <a:cs typeface="Inter" charset="0"/>
                      </a:endParaRPr>
                    </a:p>
                  </a:txBody>
                  <a:tcPr marL="53340" marR="53340" marT="53340" marB="53340">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8BCC3"/>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Élevée</a:t>
                      </a:r>
                      <a:endParaRPr lang="en-US" sz="1200" dirty="0">
                        <a:latin typeface="Inter" charset="0"/>
                        <a:ea typeface="Inter" charset="0"/>
                        <a:cs typeface="Inter" charset="0"/>
                      </a:endParaRPr>
                    </a:p>
                  </a:txBody>
                  <a:tcPr marL="53340" marR="53340" marT="53340" marB="53340">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8BCC3"/>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tc>
                  <a:txBody>
                    <a:bodyPr/>
                    <a:lstStyle/>
                    <a:p>
                      <a:pPr marL="0" indent="0">
                        <a:lnSpc>
                          <a:spcPts val="1680"/>
                        </a:lnSpc>
                        <a:buNone/>
                      </a:pPr>
                      <a:r>
                        <a:rPr lang="en-US" sz="1200" dirty="0">
                          <a:solidFill>
                            <a:srgbClr val="334155"/>
                          </a:solidFill>
                          <a:latin typeface="Inter" pitchFamily="34" charset="0"/>
                          <a:ea typeface="Inter" pitchFamily="34" charset="-122"/>
                          <a:cs typeface="Inter" pitchFamily="34" charset="-120"/>
                        </a:rPr>
                        <a:t>Élevée</a:t>
                      </a:r>
                      <a:endParaRPr lang="en-US" sz="1200" dirty="0">
                        <a:latin typeface="Inter" charset="0"/>
                        <a:ea typeface="Inter" charset="0"/>
                        <a:cs typeface="Inter" charset="0"/>
                      </a:endParaRPr>
                    </a:p>
                  </a:txBody>
                  <a:tcPr marL="53340" marR="53340" marT="53340" marB="53340">
                    <a:lnL w="12700" cap="flat" cmpd="sng" algn="ctr">
                      <a:solidFill>
                        <a:srgbClr val="C8CACB"/>
                      </a:solidFill>
                      <a:prstDash val="solid"/>
                      <a:round/>
                      <a:headEnd type="none" w="med" len="med"/>
                      <a:tailEnd type="none" w="med" len="med"/>
                    </a:lnL>
                    <a:lnR w="12700" cap="flat" cmpd="sng" algn="ctr">
                      <a:solidFill>
                        <a:srgbClr val="C8CACB"/>
                      </a:solidFill>
                      <a:prstDash val="solid"/>
                      <a:round/>
                      <a:headEnd type="none" w="med" len="med"/>
                      <a:tailEnd type="none" w="med" len="med"/>
                    </a:lnR>
                    <a:lnT w="12700" cap="flat" cmpd="sng" algn="ctr">
                      <a:solidFill>
                        <a:srgbClr val="B8BCC3"/>
                      </a:solidFill>
                      <a:prstDash val="solid"/>
                      <a:round/>
                      <a:headEnd type="none" w="med" len="med"/>
                      <a:tailEnd type="none" w="med" len="med"/>
                    </a:lnT>
                    <a:lnB w="12700" cap="flat" cmpd="sng" algn="ctr">
                      <a:solidFill>
                        <a:srgbClr val="C8CACB"/>
                      </a:solidFill>
                      <a:prstDash val="solid"/>
                      <a:round/>
                      <a:headEnd type="none" w="med" len="med"/>
                      <a:tailEnd type="none" w="med" len="med"/>
                    </a:lnB>
                    <a:solidFill>
                      <a:srgbClr val="FBFDFF"/>
                    </a:solidFill>
                  </a:tcPr>
                </a:tc>
                <a:extLst>
                  <a:ext uri="{0D108BD9-81ED-4DB2-BD59-A6C34878D82A}">
                    <a16:rowId xmlns:a16="http://schemas.microsoft.com/office/drawing/2014/main" val="10005"/>
                  </a:ext>
                </a:extLst>
              </a:tr>
            </a:tbl>
          </a:graphicData>
        </a:graphic>
      </p:graphicFrame>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Inter" pitchFamily="34" charset="0"/>
                <a:ea typeface="Inter" pitchFamily="34" charset="-122"/>
                <a:cs typeface="Inter" pitchFamily="34" charset="-120"/>
              </a:rPr>
              <a:t>Tendances générales : les coûts ne sont pas des valeurs universelles, ils dépendent du contexte et du fournisseur.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F7A1A"/>
                </a:solidFill>
                <a:latin typeface="JetBrains Mono" pitchFamily="49" charset="0"/>
                <a:ea typeface="JetBrains Mono" pitchFamily="49" charset="-122"/>
                <a:cs typeface="JetBrains Mono" pitchFamily="49" charset="-120"/>
              </a:rPr>
              <a:t>TECHNOLOGIES ET PROTOCOLES</a:t>
            </a:r>
            <a:endParaRPr lang="en-US" sz="1200" dirty="0"/>
          </a:p>
        </p:txBody>
      </p:sp>
      <p:sp>
        <p:nvSpPr>
          <p:cNvPr id="3" name="Text 1"/>
          <p:cNvSpPr>
            <a:spLocks noGrp="1"/>
          </p:cNvSpPr>
          <p:nvPr>
            <p:ph type="title"/>
          </p:nvPr>
        </p:nvSpPr>
        <p:spPr>
          <a:xfrm>
            <a:off x="812800" y="1229364"/>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3F6FA"/>
                </a:solidFill>
                <a:latin typeface="Space Grotesk" pitchFamily="34" charset="0"/>
                <a:ea typeface="Space Grotesk" pitchFamily="34" charset="-122"/>
                <a:cs typeface="Space Grotesk" pitchFamily="34" charset="-120"/>
              </a:rPr>
              <a:t>Trois familles, trois rôles</a:t>
            </a:r>
            <a:endParaRPr lang="en-US" sz="2800" dirty="0"/>
          </a:p>
        </p:txBody>
      </p:sp>
      <p:sp>
        <p:nvSpPr>
          <p:cNvPr id="4" name="Shape 2"/>
          <p:cNvSpPr/>
          <p:nvPr/>
        </p:nvSpPr>
        <p:spPr>
          <a:xfrm>
            <a:off x="812800" y="1823721"/>
            <a:ext cx="3420507" cy="3571240"/>
          </a:xfrm>
          <a:prstGeom prst="roundRect">
            <a:avLst>
              <a:gd name="adj" fmla="val 2970"/>
            </a:avLst>
          </a:prstGeom>
          <a:solidFill>
            <a:srgbClr val="12305A"/>
          </a:solidFill>
          <a:ln/>
        </p:spPr>
        <p:txBody>
          <a:bodyPr/>
          <a:lstStyle/>
          <a:p>
            <a:endParaRPr lang="fr-FR"/>
          </a:p>
        </p:txBody>
      </p:sp>
      <p:sp>
        <p:nvSpPr>
          <p:cNvPr id="5" name="Shape 3"/>
          <p:cNvSpPr/>
          <p:nvPr/>
        </p:nvSpPr>
        <p:spPr>
          <a:xfrm>
            <a:off x="812800" y="1823721"/>
            <a:ext cx="3420507" cy="3571240"/>
          </a:xfrm>
          <a:custGeom>
            <a:avLst/>
            <a:gdLst/>
            <a:ahLst/>
            <a:cxnLst/>
            <a:rect l="l" t="t" r="r" b="b"/>
            <a:pathLst>
              <a:path w="3420507" h="3571240">
                <a:moveTo>
                  <a:pt x="0" y="101600"/>
                </a:moveTo>
                <a:lnTo>
                  <a:pt x="0" y="101600"/>
                </a:lnTo>
                <a:arcTo wR="101600" hR="101600" stAng="10800000" swAng="5400000"/>
                <a:lnTo>
                  <a:pt x="3318907" y="0"/>
                </a:lnTo>
                <a:arcTo wR="101600" hR="101600" stAng="16200000" swAng="5400000"/>
                <a:lnTo>
                  <a:pt x="3420507" y="101600"/>
                </a:lnTo>
                <a:arcTo wR="101600" hR="50800" stAng="0" swAng="-5400000"/>
                <a:lnTo>
                  <a:pt x="101600" y="50800"/>
                </a:lnTo>
                <a:arcTo wR="101600" hR="50800" stAng="16200000" swAng="-5400000"/>
                <a:close/>
              </a:path>
            </a:pathLst>
          </a:custGeom>
          <a:solidFill>
            <a:srgbClr val="FF7A1A"/>
          </a:solidFill>
          <a:ln/>
        </p:spPr>
        <p:txBody>
          <a:bodyPr/>
          <a:lstStyle/>
          <a:p>
            <a:endParaRPr lang="fr-FR"/>
          </a:p>
        </p:txBody>
      </p:sp>
      <p:sp>
        <p:nvSpPr>
          <p:cNvPr id="6" name="Text 4"/>
          <p:cNvSpPr/>
          <p:nvPr/>
        </p:nvSpPr>
        <p:spPr>
          <a:xfrm>
            <a:off x="1016000" y="2077721"/>
            <a:ext cx="310453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6FA"/>
                </a:solidFill>
                <a:latin typeface="Space Grotesk" pitchFamily="34" charset="0"/>
                <a:ea typeface="Space Grotesk" pitchFamily="34" charset="-122"/>
                <a:cs typeface="Space Grotesk" pitchFamily="34" charset="-120"/>
              </a:rPr>
              <a:t>Signalisation</a:t>
            </a:r>
            <a:endParaRPr lang="en-US" sz="1800" dirty="0"/>
          </a:p>
        </p:txBody>
      </p:sp>
      <p:sp>
        <p:nvSpPr>
          <p:cNvPr id="7" name="Text 5"/>
          <p:cNvSpPr/>
          <p:nvPr/>
        </p:nvSpPr>
        <p:spPr>
          <a:xfrm>
            <a:off x="1016000" y="2479042"/>
            <a:ext cx="310453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7A1A"/>
                </a:solidFill>
                <a:latin typeface="JetBrains Mono" pitchFamily="49" charset="0"/>
                <a:ea typeface="JetBrains Mono" pitchFamily="49" charset="-122"/>
                <a:cs typeface="JetBrains Mono" pitchFamily="49" charset="-120"/>
              </a:rPr>
              <a:t>SIP</a:t>
            </a:r>
            <a:endParaRPr lang="en-US" sz="1400" dirty="0"/>
          </a:p>
        </p:txBody>
      </p:sp>
      <p:sp>
        <p:nvSpPr>
          <p:cNvPr id="8" name="Text 6"/>
          <p:cNvSpPr/>
          <p:nvPr/>
        </p:nvSpPr>
        <p:spPr>
          <a:xfrm>
            <a:off x="1016000" y="2753364"/>
            <a:ext cx="310453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Crée, modifie et termine les sessions.</a:t>
            </a:r>
            <a:endParaRPr lang="en-US" sz="1200" dirty="0"/>
          </a:p>
        </p:txBody>
      </p:sp>
      <p:sp>
        <p:nvSpPr>
          <p:cNvPr id="9" name="Text 7"/>
          <p:cNvSpPr/>
          <p:nvPr/>
        </p:nvSpPr>
        <p:spPr>
          <a:xfrm>
            <a:off x="1016000" y="3086100"/>
            <a:ext cx="310453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7A1A"/>
                </a:solidFill>
                <a:latin typeface="JetBrains Mono" pitchFamily="49" charset="0"/>
                <a:ea typeface="JetBrains Mono" pitchFamily="49" charset="-122"/>
                <a:cs typeface="JetBrains Mono" pitchFamily="49" charset="-120"/>
              </a:rPr>
              <a:t>SDP</a:t>
            </a:r>
            <a:endParaRPr lang="en-US" sz="1400" dirty="0"/>
          </a:p>
        </p:txBody>
      </p:sp>
      <p:sp>
        <p:nvSpPr>
          <p:cNvPr id="10" name="Text 8"/>
          <p:cNvSpPr/>
          <p:nvPr/>
        </p:nvSpPr>
        <p:spPr>
          <a:xfrm>
            <a:off x="1016000" y="3360421"/>
            <a:ext cx="310453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Décrit codecs, adresses et ports.</a:t>
            </a:r>
            <a:endParaRPr lang="en-US" sz="1200" dirty="0"/>
          </a:p>
        </p:txBody>
      </p:sp>
      <p:sp>
        <p:nvSpPr>
          <p:cNvPr id="11" name="Text 9"/>
          <p:cNvSpPr/>
          <p:nvPr/>
        </p:nvSpPr>
        <p:spPr>
          <a:xfrm>
            <a:off x="1016000" y="3693164"/>
            <a:ext cx="310453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7A1A"/>
                </a:solidFill>
                <a:latin typeface="JetBrains Mono" pitchFamily="49" charset="0"/>
                <a:ea typeface="JetBrains Mono" pitchFamily="49" charset="-122"/>
                <a:cs typeface="JetBrains Mono" pitchFamily="49" charset="-120"/>
              </a:rPr>
              <a:t>TLS</a:t>
            </a:r>
            <a:endParaRPr lang="en-US" sz="1400" dirty="0"/>
          </a:p>
        </p:txBody>
      </p:sp>
      <p:sp>
        <p:nvSpPr>
          <p:cNvPr id="12" name="Text 10"/>
          <p:cNvSpPr/>
          <p:nvPr/>
        </p:nvSpPr>
        <p:spPr>
          <a:xfrm>
            <a:off x="1016000" y="3967479"/>
            <a:ext cx="310453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Protège la signalisation lorsqu’il est utilisé.</a:t>
            </a:r>
            <a:endParaRPr lang="en-US" sz="1200" dirty="0"/>
          </a:p>
        </p:txBody>
      </p:sp>
      <p:sp>
        <p:nvSpPr>
          <p:cNvPr id="13" name="Shape 11"/>
          <p:cNvSpPr/>
          <p:nvPr/>
        </p:nvSpPr>
        <p:spPr>
          <a:xfrm>
            <a:off x="4385707" y="1823721"/>
            <a:ext cx="3420586" cy="3571240"/>
          </a:xfrm>
          <a:prstGeom prst="roundRect">
            <a:avLst>
              <a:gd name="adj" fmla="val 2970"/>
            </a:avLst>
          </a:prstGeom>
          <a:solidFill>
            <a:srgbClr val="12305A"/>
          </a:solidFill>
          <a:ln/>
        </p:spPr>
        <p:txBody>
          <a:bodyPr/>
          <a:lstStyle/>
          <a:p>
            <a:endParaRPr lang="fr-FR"/>
          </a:p>
        </p:txBody>
      </p:sp>
      <p:sp>
        <p:nvSpPr>
          <p:cNvPr id="14" name="Shape 12"/>
          <p:cNvSpPr/>
          <p:nvPr/>
        </p:nvSpPr>
        <p:spPr>
          <a:xfrm>
            <a:off x="4385707" y="1823721"/>
            <a:ext cx="3420586" cy="3571240"/>
          </a:xfrm>
          <a:custGeom>
            <a:avLst/>
            <a:gdLst/>
            <a:ahLst/>
            <a:cxnLst/>
            <a:rect l="l" t="t" r="r" b="b"/>
            <a:pathLst>
              <a:path w="3420586" h="3571240">
                <a:moveTo>
                  <a:pt x="0" y="101600"/>
                </a:moveTo>
                <a:lnTo>
                  <a:pt x="0" y="101600"/>
                </a:lnTo>
                <a:arcTo wR="101600" hR="101600" stAng="10800000" swAng="5400000"/>
                <a:lnTo>
                  <a:pt x="3318986" y="0"/>
                </a:lnTo>
                <a:arcTo wR="101600" hR="101600" stAng="16200000" swAng="5400000"/>
                <a:lnTo>
                  <a:pt x="3420586" y="101600"/>
                </a:lnTo>
                <a:arcTo wR="101600" hR="50800" stAng="0" swAng="-5400000"/>
                <a:lnTo>
                  <a:pt x="101600" y="50800"/>
                </a:lnTo>
                <a:arcTo wR="101600" hR="50800" stAng="16200000" swAng="-5400000"/>
                <a:close/>
              </a:path>
            </a:pathLst>
          </a:custGeom>
          <a:solidFill>
            <a:srgbClr val="17A398"/>
          </a:solidFill>
          <a:ln/>
        </p:spPr>
        <p:txBody>
          <a:bodyPr/>
          <a:lstStyle/>
          <a:p>
            <a:endParaRPr lang="fr-FR"/>
          </a:p>
        </p:txBody>
      </p:sp>
      <p:sp>
        <p:nvSpPr>
          <p:cNvPr id="15" name="Text 13"/>
          <p:cNvSpPr/>
          <p:nvPr/>
        </p:nvSpPr>
        <p:spPr>
          <a:xfrm>
            <a:off x="4588907" y="2077721"/>
            <a:ext cx="310461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6FA"/>
                </a:solidFill>
                <a:latin typeface="Space Grotesk" pitchFamily="34" charset="0"/>
                <a:ea typeface="Space Grotesk" pitchFamily="34" charset="-122"/>
                <a:cs typeface="Space Grotesk" pitchFamily="34" charset="-120"/>
              </a:rPr>
              <a:t>Transport média</a:t>
            </a:r>
            <a:endParaRPr lang="en-US" sz="1800" dirty="0"/>
          </a:p>
        </p:txBody>
      </p:sp>
      <p:sp>
        <p:nvSpPr>
          <p:cNvPr id="16" name="Text 14"/>
          <p:cNvSpPr/>
          <p:nvPr/>
        </p:nvSpPr>
        <p:spPr>
          <a:xfrm>
            <a:off x="4588907" y="2479042"/>
            <a:ext cx="310461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A398"/>
                </a:solidFill>
                <a:latin typeface="JetBrains Mono" pitchFamily="49" charset="0"/>
                <a:ea typeface="JetBrains Mono" pitchFamily="49" charset="-122"/>
                <a:cs typeface="JetBrains Mono" pitchFamily="49" charset="-120"/>
              </a:rPr>
              <a:t>RTP</a:t>
            </a:r>
            <a:endParaRPr lang="en-US" sz="1400" dirty="0"/>
          </a:p>
        </p:txBody>
      </p:sp>
      <p:sp>
        <p:nvSpPr>
          <p:cNvPr id="17" name="Text 15"/>
          <p:cNvSpPr/>
          <p:nvPr/>
        </p:nvSpPr>
        <p:spPr>
          <a:xfrm>
            <a:off x="4588907" y="2753364"/>
            <a:ext cx="310461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Transporte voix et vidéo en temps réel.</a:t>
            </a:r>
            <a:endParaRPr lang="en-US" sz="1200" dirty="0"/>
          </a:p>
        </p:txBody>
      </p:sp>
      <p:sp>
        <p:nvSpPr>
          <p:cNvPr id="18" name="Text 16"/>
          <p:cNvSpPr/>
          <p:nvPr/>
        </p:nvSpPr>
        <p:spPr>
          <a:xfrm>
            <a:off x="4588907" y="3086100"/>
            <a:ext cx="310461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A398"/>
                </a:solidFill>
                <a:latin typeface="JetBrains Mono" pitchFamily="49" charset="0"/>
                <a:ea typeface="JetBrains Mono" pitchFamily="49" charset="-122"/>
                <a:cs typeface="JetBrains Mono" pitchFamily="49" charset="-120"/>
              </a:rPr>
              <a:t>SRTP</a:t>
            </a:r>
            <a:endParaRPr lang="en-US" sz="1400" dirty="0"/>
          </a:p>
        </p:txBody>
      </p:sp>
      <p:sp>
        <p:nvSpPr>
          <p:cNvPr id="19" name="Text 17"/>
          <p:cNvSpPr/>
          <p:nvPr/>
        </p:nvSpPr>
        <p:spPr>
          <a:xfrm>
            <a:off x="4588907" y="3360421"/>
            <a:ext cx="310461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RTP protégé : confidentialité et authentification.</a:t>
            </a:r>
            <a:endParaRPr lang="en-US" sz="1200" dirty="0"/>
          </a:p>
        </p:txBody>
      </p:sp>
      <p:sp>
        <p:nvSpPr>
          <p:cNvPr id="20" name="Text 18"/>
          <p:cNvSpPr/>
          <p:nvPr/>
        </p:nvSpPr>
        <p:spPr>
          <a:xfrm>
            <a:off x="4588907" y="3898900"/>
            <a:ext cx="310461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A398"/>
                </a:solidFill>
                <a:latin typeface="JetBrains Mono" pitchFamily="49" charset="0"/>
                <a:ea typeface="JetBrains Mono" pitchFamily="49" charset="-122"/>
                <a:cs typeface="JetBrains Mono" pitchFamily="49" charset="-120"/>
              </a:rPr>
              <a:t>Codecs</a:t>
            </a:r>
            <a:endParaRPr lang="en-US" sz="1400" dirty="0"/>
          </a:p>
        </p:txBody>
      </p:sp>
      <p:sp>
        <p:nvSpPr>
          <p:cNvPr id="21" name="Text 19"/>
          <p:cNvSpPr/>
          <p:nvPr/>
        </p:nvSpPr>
        <p:spPr>
          <a:xfrm>
            <a:off x="4588907" y="4173221"/>
            <a:ext cx="310461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Opus, G.711, H.264 : selon plateformes et terminaux.</a:t>
            </a:r>
            <a:endParaRPr lang="en-US" sz="1200" dirty="0"/>
          </a:p>
        </p:txBody>
      </p:sp>
      <p:sp>
        <p:nvSpPr>
          <p:cNvPr id="22" name="Shape 20"/>
          <p:cNvSpPr/>
          <p:nvPr/>
        </p:nvSpPr>
        <p:spPr>
          <a:xfrm>
            <a:off x="7958693" y="1823721"/>
            <a:ext cx="3420507" cy="3571240"/>
          </a:xfrm>
          <a:prstGeom prst="roundRect">
            <a:avLst>
              <a:gd name="adj" fmla="val 2970"/>
            </a:avLst>
          </a:prstGeom>
          <a:solidFill>
            <a:srgbClr val="12305A"/>
          </a:solidFill>
          <a:ln/>
        </p:spPr>
        <p:txBody>
          <a:bodyPr/>
          <a:lstStyle/>
          <a:p>
            <a:endParaRPr lang="fr-FR"/>
          </a:p>
        </p:txBody>
      </p:sp>
      <p:sp>
        <p:nvSpPr>
          <p:cNvPr id="23" name="Shape 21"/>
          <p:cNvSpPr/>
          <p:nvPr/>
        </p:nvSpPr>
        <p:spPr>
          <a:xfrm>
            <a:off x="7958693" y="1823721"/>
            <a:ext cx="3420507" cy="3571240"/>
          </a:xfrm>
          <a:custGeom>
            <a:avLst/>
            <a:gdLst/>
            <a:ahLst/>
            <a:cxnLst/>
            <a:rect l="l" t="t" r="r" b="b"/>
            <a:pathLst>
              <a:path w="3420507" h="3571240">
                <a:moveTo>
                  <a:pt x="0" y="101600"/>
                </a:moveTo>
                <a:lnTo>
                  <a:pt x="0" y="101600"/>
                </a:lnTo>
                <a:arcTo wR="101600" hR="101600" stAng="10800000" swAng="5400000"/>
                <a:lnTo>
                  <a:pt x="3318907" y="0"/>
                </a:lnTo>
                <a:arcTo wR="101600" hR="101600" stAng="16200000" swAng="5400000"/>
                <a:lnTo>
                  <a:pt x="3420507" y="101600"/>
                </a:lnTo>
                <a:arcTo wR="101600" hR="50800" stAng="0" swAng="-5400000"/>
                <a:lnTo>
                  <a:pt x="101600" y="50800"/>
                </a:lnTo>
                <a:arcTo wR="101600" hR="50800" stAng="16200000" swAng="-5400000"/>
                <a:close/>
              </a:path>
            </a:pathLst>
          </a:custGeom>
          <a:solidFill>
            <a:srgbClr val="B7C4D6"/>
          </a:solidFill>
          <a:ln/>
        </p:spPr>
        <p:txBody>
          <a:bodyPr/>
          <a:lstStyle/>
          <a:p>
            <a:endParaRPr lang="fr-FR"/>
          </a:p>
        </p:txBody>
      </p:sp>
      <p:sp>
        <p:nvSpPr>
          <p:cNvPr id="24" name="Text 22"/>
          <p:cNvSpPr/>
          <p:nvPr/>
        </p:nvSpPr>
        <p:spPr>
          <a:xfrm>
            <a:off x="8161893" y="2077721"/>
            <a:ext cx="310453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6FA"/>
                </a:solidFill>
                <a:latin typeface="Space Grotesk" pitchFamily="34" charset="0"/>
                <a:ea typeface="Space Grotesk" pitchFamily="34" charset="-122"/>
                <a:cs typeface="Space Grotesk" pitchFamily="34" charset="-120"/>
              </a:rPr>
              <a:t>Services réseau</a:t>
            </a:r>
            <a:endParaRPr lang="en-US" sz="1800" dirty="0"/>
          </a:p>
        </p:txBody>
      </p:sp>
      <p:sp>
        <p:nvSpPr>
          <p:cNvPr id="25" name="Text 23"/>
          <p:cNvSpPr/>
          <p:nvPr/>
        </p:nvSpPr>
        <p:spPr>
          <a:xfrm>
            <a:off x="8161893" y="2479042"/>
            <a:ext cx="310453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7C4D6"/>
                </a:solidFill>
                <a:latin typeface="JetBrains Mono" pitchFamily="49" charset="0"/>
                <a:ea typeface="JetBrains Mono" pitchFamily="49" charset="-122"/>
                <a:cs typeface="JetBrains Mono" pitchFamily="49" charset="-120"/>
              </a:rPr>
              <a:t>DNS · DHCP</a:t>
            </a:r>
            <a:endParaRPr lang="en-US" sz="1400" dirty="0"/>
          </a:p>
        </p:txBody>
      </p:sp>
      <p:sp>
        <p:nvSpPr>
          <p:cNvPr id="26" name="Text 24"/>
          <p:cNvSpPr/>
          <p:nvPr/>
        </p:nvSpPr>
        <p:spPr>
          <a:xfrm>
            <a:off x="8161893" y="2753364"/>
            <a:ext cx="310453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Trouver les serveurs, configurer les terminaux.</a:t>
            </a:r>
            <a:endParaRPr lang="en-US" sz="1200" dirty="0"/>
          </a:p>
        </p:txBody>
      </p:sp>
      <p:sp>
        <p:nvSpPr>
          <p:cNvPr id="27" name="Text 25"/>
          <p:cNvSpPr/>
          <p:nvPr/>
        </p:nvSpPr>
        <p:spPr>
          <a:xfrm>
            <a:off x="8161893" y="3291842"/>
            <a:ext cx="310453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7C4D6"/>
                </a:solidFill>
                <a:latin typeface="JetBrains Mono" pitchFamily="49" charset="0"/>
                <a:ea typeface="JetBrains Mono" pitchFamily="49" charset="-122"/>
                <a:cs typeface="JetBrains Mono" pitchFamily="49" charset="-120"/>
              </a:rPr>
              <a:t>NTP</a:t>
            </a:r>
            <a:endParaRPr lang="en-US" sz="1400" dirty="0"/>
          </a:p>
        </p:txBody>
      </p:sp>
      <p:sp>
        <p:nvSpPr>
          <p:cNvPr id="28" name="Text 26"/>
          <p:cNvSpPr/>
          <p:nvPr/>
        </p:nvSpPr>
        <p:spPr>
          <a:xfrm>
            <a:off x="8161893" y="3566164"/>
            <a:ext cx="310453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Horloges synchronisées (journaux, certificats).</a:t>
            </a:r>
            <a:endParaRPr lang="en-US" sz="1200" dirty="0"/>
          </a:p>
        </p:txBody>
      </p:sp>
      <p:sp>
        <p:nvSpPr>
          <p:cNvPr id="29" name="Text 27"/>
          <p:cNvSpPr/>
          <p:nvPr/>
        </p:nvSpPr>
        <p:spPr>
          <a:xfrm>
            <a:off x="8161893" y="4104642"/>
            <a:ext cx="310453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7C4D6"/>
                </a:solidFill>
                <a:latin typeface="JetBrains Mono" pitchFamily="49" charset="0"/>
                <a:ea typeface="JetBrains Mono" pitchFamily="49" charset="-122"/>
                <a:cs typeface="JetBrains Mono" pitchFamily="49" charset="-120"/>
              </a:rPr>
              <a:t>LDAP · AD</a:t>
            </a:r>
            <a:endParaRPr lang="en-US" sz="1400" dirty="0"/>
          </a:p>
        </p:txBody>
      </p:sp>
      <p:sp>
        <p:nvSpPr>
          <p:cNvPr id="30" name="Text 28"/>
          <p:cNvSpPr/>
          <p:nvPr/>
        </p:nvSpPr>
        <p:spPr>
          <a:xfrm>
            <a:off x="8161893" y="4378964"/>
            <a:ext cx="310453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Annuaire et identités.</a:t>
            </a:r>
            <a:endParaRPr lang="en-US" sz="1200" dirty="0"/>
          </a:p>
        </p:txBody>
      </p:sp>
      <p:sp>
        <p:nvSpPr>
          <p:cNvPr id="31" name="Text 29"/>
          <p:cNvSpPr/>
          <p:nvPr/>
        </p:nvSpPr>
        <p:spPr>
          <a:xfrm>
            <a:off x="8161893" y="4711700"/>
            <a:ext cx="310453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7C4D6"/>
                </a:solidFill>
                <a:latin typeface="JetBrains Mono" pitchFamily="49" charset="0"/>
                <a:ea typeface="JetBrains Mono" pitchFamily="49" charset="-122"/>
                <a:cs typeface="JetBrains Mono" pitchFamily="49" charset="-120"/>
              </a:rPr>
              <a:t>QoS</a:t>
            </a:r>
            <a:endParaRPr lang="en-US" sz="1400" dirty="0"/>
          </a:p>
        </p:txBody>
      </p:sp>
      <p:sp>
        <p:nvSpPr>
          <p:cNvPr id="32" name="Text 30"/>
          <p:cNvSpPr/>
          <p:nvPr/>
        </p:nvSpPr>
        <p:spPr>
          <a:xfrm>
            <a:off x="8161893" y="4986021"/>
            <a:ext cx="310453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Priorité au trafic temps réel.</a:t>
            </a:r>
            <a:endParaRPr lang="en-US" sz="1200" dirty="0"/>
          </a:p>
        </p:txBody>
      </p:sp>
      <p:sp>
        <p:nvSpPr>
          <p:cNvPr id="33" name="Text 3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Sources : RFC 3261 (SIP), RFC 3550 (RTP), RFC 3711 (SRTP), RFC 8866 (SDP).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838200" y="812800"/>
            <a:ext cx="0" cy="213360"/>
          </a:xfrm>
          <a:prstGeom prst="line">
            <a:avLst/>
          </a:prstGeom>
          <a:noFill/>
          <a:ln w="50800">
            <a:solidFill>
              <a:srgbClr val="FF7A1A"/>
            </a:solidFill>
            <a:prstDash val="solid"/>
          </a:ln>
        </p:spPr>
        <p:txBody>
          <a:bodyPr/>
          <a:lstStyle/>
          <a:p>
            <a:endParaRPr lang="fr-FR"/>
          </a:p>
        </p:txBody>
      </p:sp>
      <p:sp>
        <p:nvSpPr>
          <p:cNvPr id="3" name="Text 1"/>
          <p:cNvSpPr/>
          <p:nvPr/>
        </p:nvSpPr>
        <p:spPr>
          <a:xfrm>
            <a:off x="965200" y="812800"/>
            <a:ext cx="107264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EXEMPLE DÉTAILLÉ</a:t>
            </a:r>
            <a:endParaRPr lang="en-US" sz="1200" dirty="0"/>
          </a:p>
        </p:txBody>
      </p:sp>
      <p:sp>
        <p:nvSpPr>
          <p:cNvPr id="4" name="Text 2"/>
          <p:cNvSpPr>
            <a:spLocks noGrp="1"/>
          </p:cNvSpPr>
          <p:nvPr>
            <p:ph type="title"/>
          </p:nvPr>
        </p:nvSpPr>
        <p:spPr>
          <a:xfrm>
            <a:off x="812800" y="1229364"/>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1F3A"/>
                </a:solidFill>
                <a:latin typeface="Space Grotesk" pitchFamily="34" charset="0"/>
                <a:ea typeface="Space Grotesk" pitchFamily="34" charset="-122"/>
                <a:cs typeface="Space Grotesk" pitchFamily="34" charset="-120"/>
              </a:rPr>
              <a:t>Un INVITE SIP avec offre SDP</a:t>
            </a:r>
            <a:endParaRPr lang="en-US" sz="2800" dirty="0"/>
          </a:p>
        </p:txBody>
      </p:sp>
      <p:sp>
        <p:nvSpPr>
          <p:cNvPr id="5" name="Shape 3"/>
          <p:cNvSpPr/>
          <p:nvPr/>
        </p:nvSpPr>
        <p:spPr>
          <a:xfrm>
            <a:off x="812800" y="1823721"/>
            <a:ext cx="6096000" cy="3378200"/>
          </a:xfrm>
          <a:prstGeom prst="roundRect">
            <a:avLst>
              <a:gd name="adj" fmla="val 3008"/>
            </a:avLst>
          </a:prstGeom>
          <a:solidFill>
            <a:srgbClr val="0B1F3A"/>
          </a:solidFill>
          <a:ln/>
        </p:spPr>
        <p:txBody>
          <a:bodyPr/>
          <a:lstStyle/>
          <a:p>
            <a:endParaRPr lang="fr-FR"/>
          </a:p>
        </p:txBody>
      </p:sp>
      <p:sp>
        <p:nvSpPr>
          <p:cNvPr id="6" name="Text 4"/>
          <p:cNvSpPr/>
          <p:nvPr/>
        </p:nvSpPr>
        <p:spPr>
          <a:xfrm>
            <a:off x="1066800" y="2026921"/>
            <a:ext cx="5755640"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FF7A1A"/>
                </a:solidFill>
                <a:latin typeface="JetBrains Mono" pitchFamily="49" charset="0"/>
                <a:ea typeface="JetBrains Mono" pitchFamily="49" charset="-122"/>
                <a:cs typeface="JetBrains Mono" pitchFamily="49" charset="-120"/>
              </a:rPr>
              <a:t>INVITE sip:bob@example.org SIP/2.0</a:t>
            </a:r>
            <a:endParaRPr lang="en-US" sz="1200" dirty="0"/>
          </a:p>
        </p:txBody>
      </p:sp>
      <p:sp>
        <p:nvSpPr>
          <p:cNvPr id="7" name="Text 5"/>
          <p:cNvSpPr/>
          <p:nvPr/>
        </p:nvSpPr>
        <p:spPr>
          <a:xfrm>
            <a:off x="1066800" y="2255521"/>
            <a:ext cx="5755640"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FF7A1A"/>
                </a:solidFill>
                <a:latin typeface="JetBrains Mono" pitchFamily="49" charset="0"/>
                <a:ea typeface="JetBrains Mono" pitchFamily="49" charset="-122"/>
                <a:cs typeface="JetBrains Mono" pitchFamily="49" charset="-120"/>
              </a:rPr>
              <a:t>From: &lt;sip:alice@example.org&gt;</a:t>
            </a:r>
            <a:endParaRPr lang="en-US" sz="1200" dirty="0"/>
          </a:p>
        </p:txBody>
      </p:sp>
      <p:sp>
        <p:nvSpPr>
          <p:cNvPr id="8" name="Text 6"/>
          <p:cNvSpPr/>
          <p:nvPr/>
        </p:nvSpPr>
        <p:spPr>
          <a:xfrm>
            <a:off x="1066800" y="2484121"/>
            <a:ext cx="5755640"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FF7A1A"/>
                </a:solidFill>
                <a:latin typeface="JetBrains Mono" pitchFamily="49" charset="0"/>
                <a:ea typeface="JetBrains Mono" pitchFamily="49" charset="-122"/>
                <a:cs typeface="JetBrains Mono" pitchFamily="49" charset="-120"/>
              </a:rPr>
              <a:t>To: &lt;sip:bob@example.org&gt;</a:t>
            </a:r>
            <a:endParaRPr lang="en-US" sz="1200" dirty="0"/>
          </a:p>
        </p:txBody>
      </p:sp>
      <p:sp>
        <p:nvSpPr>
          <p:cNvPr id="9" name="Text 7"/>
          <p:cNvSpPr/>
          <p:nvPr/>
        </p:nvSpPr>
        <p:spPr>
          <a:xfrm>
            <a:off x="1066800" y="2712721"/>
            <a:ext cx="5755640"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FF7A1A"/>
                </a:solidFill>
                <a:latin typeface="JetBrains Mono" pitchFamily="49" charset="0"/>
                <a:ea typeface="JetBrains Mono" pitchFamily="49" charset="-122"/>
                <a:cs typeface="JetBrains Mono" pitchFamily="49" charset="-120"/>
              </a:rPr>
              <a:t>Content-Type: application/sdp</a:t>
            </a:r>
            <a:endParaRPr lang="en-US" sz="1200" dirty="0"/>
          </a:p>
        </p:txBody>
      </p:sp>
      <p:sp>
        <p:nvSpPr>
          <p:cNvPr id="10" name="Text 8"/>
          <p:cNvSpPr/>
          <p:nvPr/>
        </p:nvSpPr>
        <p:spPr>
          <a:xfrm>
            <a:off x="1066800" y="3169921"/>
            <a:ext cx="5755640"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17A398"/>
                </a:solidFill>
                <a:latin typeface="JetBrains Mono" pitchFamily="49" charset="0"/>
                <a:ea typeface="JetBrains Mono" pitchFamily="49" charset="-122"/>
                <a:cs typeface="JetBrains Mono" pitchFamily="49" charset="-120"/>
              </a:rPr>
              <a:t>v=0</a:t>
            </a:r>
            <a:endParaRPr lang="en-US" sz="1200" dirty="0"/>
          </a:p>
        </p:txBody>
      </p:sp>
      <p:sp>
        <p:nvSpPr>
          <p:cNvPr id="11" name="Text 9"/>
          <p:cNvSpPr/>
          <p:nvPr/>
        </p:nvSpPr>
        <p:spPr>
          <a:xfrm>
            <a:off x="1066800" y="3398521"/>
            <a:ext cx="5755640"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17A398"/>
                </a:solidFill>
                <a:latin typeface="JetBrains Mono" pitchFamily="49" charset="0"/>
                <a:ea typeface="JetBrains Mono" pitchFamily="49" charset="-122"/>
                <a:cs typeface="JetBrains Mono" pitchFamily="49" charset="-120"/>
              </a:rPr>
              <a:t>o=alice 2890844526 2890844526 IN IP4 192.0.2.10</a:t>
            </a:r>
            <a:endParaRPr lang="en-US" sz="1200" dirty="0"/>
          </a:p>
        </p:txBody>
      </p:sp>
      <p:sp>
        <p:nvSpPr>
          <p:cNvPr id="12" name="Text 10"/>
          <p:cNvSpPr/>
          <p:nvPr/>
        </p:nvSpPr>
        <p:spPr>
          <a:xfrm>
            <a:off x="1066800" y="3627121"/>
            <a:ext cx="5755640"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17A398"/>
                </a:solidFill>
                <a:latin typeface="JetBrains Mono" pitchFamily="49" charset="0"/>
                <a:ea typeface="JetBrains Mono" pitchFamily="49" charset="-122"/>
                <a:cs typeface="JetBrains Mono" pitchFamily="49" charset="-120"/>
              </a:rPr>
              <a:t>s=Appel</a:t>
            </a:r>
            <a:endParaRPr lang="en-US" sz="1200" dirty="0"/>
          </a:p>
        </p:txBody>
      </p:sp>
      <p:sp>
        <p:nvSpPr>
          <p:cNvPr id="13" name="Text 11"/>
          <p:cNvSpPr/>
          <p:nvPr/>
        </p:nvSpPr>
        <p:spPr>
          <a:xfrm>
            <a:off x="1066800" y="3855721"/>
            <a:ext cx="5755640"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17A398"/>
                </a:solidFill>
                <a:latin typeface="JetBrains Mono" pitchFamily="49" charset="0"/>
                <a:ea typeface="JetBrains Mono" pitchFamily="49" charset="-122"/>
                <a:cs typeface="JetBrains Mono" pitchFamily="49" charset="-120"/>
              </a:rPr>
              <a:t>c=IN IP4 192.0.2.10</a:t>
            </a:r>
            <a:endParaRPr lang="en-US" sz="1200" dirty="0"/>
          </a:p>
        </p:txBody>
      </p:sp>
      <p:sp>
        <p:nvSpPr>
          <p:cNvPr id="14" name="Text 12"/>
          <p:cNvSpPr/>
          <p:nvPr/>
        </p:nvSpPr>
        <p:spPr>
          <a:xfrm>
            <a:off x="1066800" y="4084321"/>
            <a:ext cx="5755640"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17A398"/>
                </a:solidFill>
                <a:latin typeface="JetBrains Mono" pitchFamily="49" charset="0"/>
                <a:ea typeface="JetBrains Mono" pitchFamily="49" charset="-122"/>
                <a:cs typeface="JetBrains Mono" pitchFamily="49" charset="-120"/>
              </a:rPr>
              <a:t>t=0 0</a:t>
            </a:r>
            <a:endParaRPr lang="en-US" sz="1200" dirty="0"/>
          </a:p>
        </p:txBody>
      </p:sp>
      <p:sp>
        <p:nvSpPr>
          <p:cNvPr id="15" name="Text 13"/>
          <p:cNvSpPr/>
          <p:nvPr/>
        </p:nvSpPr>
        <p:spPr>
          <a:xfrm>
            <a:off x="1066800" y="4312921"/>
            <a:ext cx="5755640"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17A398"/>
                </a:solidFill>
                <a:latin typeface="JetBrains Mono" pitchFamily="49" charset="0"/>
                <a:ea typeface="JetBrains Mono" pitchFamily="49" charset="-122"/>
                <a:cs typeface="JetBrains Mono" pitchFamily="49" charset="-120"/>
              </a:rPr>
              <a:t>m=audio 49170 RTP/AVP 0 111</a:t>
            </a:r>
            <a:endParaRPr lang="en-US" sz="1200" dirty="0"/>
          </a:p>
        </p:txBody>
      </p:sp>
      <p:sp>
        <p:nvSpPr>
          <p:cNvPr id="16" name="Text 14"/>
          <p:cNvSpPr/>
          <p:nvPr/>
        </p:nvSpPr>
        <p:spPr>
          <a:xfrm>
            <a:off x="1066800" y="4541521"/>
            <a:ext cx="5755640"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17A398"/>
                </a:solidFill>
                <a:latin typeface="JetBrains Mono" pitchFamily="49" charset="0"/>
                <a:ea typeface="JetBrains Mono" pitchFamily="49" charset="-122"/>
                <a:cs typeface="JetBrains Mono" pitchFamily="49" charset="-120"/>
              </a:rPr>
              <a:t>a=rtpmap:0 PCMU/8000</a:t>
            </a:r>
            <a:endParaRPr lang="en-US" sz="1200" dirty="0"/>
          </a:p>
        </p:txBody>
      </p:sp>
      <p:sp>
        <p:nvSpPr>
          <p:cNvPr id="17" name="Text 15"/>
          <p:cNvSpPr/>
          <p:nvPr/>
        </p:nvSpPr>
        <p:spPr>
          <a:xfrm>
            <a:off x="1066800" y="4770121"/>
            <a:ext cx="5755640"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17A398"/>
                </a:solidFill>
                <a:latin typeface="JetBrains Mono" pitchFamily="49" charset="0"/>
                <a:ea typeface="JetBrains Mono" pitchFamily="49" charset="-122"/>
                <a:cs typeface="JetBrains Mono" pitchFamily="49" charset="-120"/>
              </a:rPr>
              <a:t>a=rtpmap:111 opus/48000/2</a:t>
            </a:r>
            <a:endParaRPr lang="en-US" sz="1200" dirty="0"/>
          </a:p>
        </p:txBody>
      </p:sp>
      <p:sp>
        <p:nvSpPr>
          <p:cNvPr id="18" name="Shape 16"/>
          <p:cNvSpPr/>
          <p:nvPr/>
        </p:nvSpPr>
        <p:spPr>
          <a:xfrm>
            <a:off x="7115175" y="1826896"/>
            <a:ext cx="4260850" cy="742950"/>
          </a:xfrm>
          <a:prstGeom prst="roundRect">
            <a:avLst>
              <a:gd name="adj" fmla="val 9829"/>
            </a:avLst>
          </a:prstGeom>
          <a:solidFill>
            <a:srgbClr val="FBFDFF"/>
          </a:solidFill>
          <a:ln w="6350">
            <a:solidFill>
              <a:srgbClr val="D5DEE9"/>
            </a:solidFill>
            <a:prstDash val="solid"/>
          </a:ln>
        </p:spPr>
        <p:txBody>
          <a:bodyPr/>
          <a:lstStyle/>
          <a:p>
            <a:endParaRPr lang="fr-FR"/>
          </a:p>
        </p:txBody>
      </p:sp>
      <p:sp>
        <p:nvSpPr>
          <p:cNvPr id="19" name="Text 17"/>
          <p:cNvSpPr/>
          <p:nvPr/>
        </p:nvSpPr>
        <p:spPr>
          <a:xfrm>
            <a:off x="7269480" y="1955800"/>
            <a:ext cx="407080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SIP : qui appelle qui</a:t>
            </a:r>
            <a:endParaRPr lang="en-US" sz="1500" dirty="0"/>
          </a:p>
        </p:txBody>
      </p:sp>
      <p:sp>
        <p:nvSpPr>
          <p:cNvPr id="20" name="Text 18"/>
          <p:cNvSpPr/>
          <p:nvPr/>
        </p:nvSpPr>
        <p:spPr>
          <a:xfrm>
            <a:off x="7269480" y="2235200"/>
            <a:ext cx="4070807"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Adresses de l’appelant et de l’appelé.</a:t>
            </a:r>
            <a:endParaRPr lang="en-US" sz="1200" dirty="0"/>
          </a:p>
        </p:txBody>
      </p:sp>
      <p:sp>
        <p:nvSpPr>
          <p:cNvPr id="21" name="Shape 19"/>
          <p:cNvSpPr/>
          <p:nvPr/>
        </p:nvSpPr>
        <p:spPr>
          <a:xfrm>
            <a:off x="7115175" y="2703196"/>
            <a:ext cx="4260850" cy="742950"/>
          </a:xfrm>
          <a:prstGeom prst="roundRect">
            <a:avLst>
              <a:gd name="adj" fmla="val 9829"/>
            </a:avLst>
          </a:prstGeom>
          <a:solidFill>
            <a:srgbClr val="FBFDFF"/>
          </a:solidFill>
          <a:ln w="6350">
            <a:solidFill>
              <a:srgbClr val="D5DEE9"/>
            </a:solidFill>
            <a:prstDash val="solid"/>
          </a:ln>
        </p:spPr>
        <p:txBody>
          <a:bodyPr/>
          <a:lstStyle/>
          <a:p>
            <a:endParaRPr lang="fr-FR"/>
          </a:p>
        </p:txBody>
      </p:sp>
      <p:sp>
        <p:nvSpPr>
          <p:cNvPr id="22" name="Text 20"/>
          <p:cNvSpPr/>
          <p:nvPr/>
        </p:nvSpPr>
        <p:spPr>
          <a:xfrm>
            <a:off x="7269480" y="2832100"/>
            <a:ext cx="407080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SDP : comment parler</a:t>
            </a:r>
            <a:endParaRPr lang="en-US" sz="1500" dirty="0"/>
          </a:p>
        </p:txBody>
      </p:sp>
      <p:sp>
        <p:nvSpPr>
          <p:cNvPr id="23" name="Text 21"/>
          <p:cNvSpPr/>
          <p:nvPr/>
        </p:nvSpPr>
        <p:spPr>
          <a:xfrm>
            <a:off x="7269480" y="3111500"/>
            <a:ext cx="4070807"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Deux codecs proposés : PCMU (G.711) et Opus.</a:t>
            </a:r>
            <a:endParaRPr lang="en-US" sz="1200" dirty="0"/>
          </a:p>
        </p:txBody>
      </p:sp>
      <p:sp>
        <p:nvSpPr>
          <p:cNvPr id="24" name="Shape 22"/>
          <p:cNvSpPr/>
          <p:nvPr/>
        </p:nvSpPr>
        <p:spPr>
          <a:xfrm>
            <a:off x="7115175" y="3579496"/>
            <a:ext cx="4260850" cy="742950"/>
          </a:xfrm>
          <a:prstGeom prst="roundRect">
            <a:avLst>
              <a:gd name="adj" fmla="val 9829"/>
            </a:avLst>
          </a:prstGeom>
          <a:solidFill>
            <a:srgbClr val="FBFDFF"/>
          </a:solidFill>
          <a:ln w="6350">
            <a:solidFill>
              <a:srgbClr val="D5DEE9"/>
            </a:solidFill>
            <a:prstDash val="solid"/>
          </a:ln>
        </p:spPr>
        <p:txBody>
          <a:bodyPr/>
          <a:lstStyle/>
          <a:p>
            <a:endParaRPr lang="fr-FR"/>
          </a:p>
        </p:txBody>
      </p:sp>
      <p:sp>
        <p:nvSpPr>
          <p:cNvPr id="25" name="Text 23"/>
          <p:cNvSpPr/>
          <p:nvPr/>
        </p:nvSpPr>
        <p:spPr>
          <a:xfrm>
            <a:off x="7269480" y="3708400"/>
            <a:ext cx="407080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RTP : où envoyer</a:t>
            </a:r>
            <a:endParaRPr lang="en-US" sz="1500" dirty="0"/>
          </a:p>
        </p:txBody>
      </p:sp>
      <p:sp>
        <p:nvSpPr>
          <p:cNvPr id="26" name="Text 24"/>
          <p:cNvSpPr/>
          <p:nvPr/>
        </p:nvSpPr>
        <p:spPr>
          <a:xfrm>
            <a:off x="7269480" y="3987800"/>
            <a:ext cx="4070807"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L’audio est attendu sur 192.0.2.10, port 49170.</a:t>
            </a:r>
            <a:endParaRPr lang="en-US" sz="1200" dirty="0"/>
          </a:p>
        </p:txBody>
      </p:sp>
      <p:sp>
        <p:nvSpPr>
          <p:cNvPr id="27" name="Text 2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Inter" pitchFamily="34" charset="0"/>
                <a:ea typeface="Inter" pitchFamily="34" charset="-122"/>
                <a:cs typeface="Inter" pitchFamily="34" charset="-120"/>
              </a:rPr>
              <a:t>Exemple simplifié, adresses et noms fictifs. Source : RFC 3261 (SIP), RFC 8866 (SDP), RFC 3550 (RTP).</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838200" y="812800"/>
            <a:ext cx="0" cy="213360"/>
          </a:xfrm>
          <a:prstGeom prst="line">
            <a:avLst/>
          </a:prstGeom>
          <a:noFill/>
          <a:ln w="50800">
            <a:solidFill>
              <a:srgbClr val="FF7A1A"/>
            </a:solidFill>
            <a:prstDash val="solid"/>
          </a:ln>
        </p:spPr>
        <p:txBody>
          <a:bodyPr/>
          <a:lstStyle/>
          <a:p>
            <a:endParaRPr lang="fr-FR"/>
          </a:p>
        </p:txBody>
      </p:sp>
      <p:sp>
        <p:nvSpPr>
          <p:cNvPr id="3" name="Text 1"/>
          <p:cNvSpPr/>
          <p:nvPr/>
        </p:nvSpPr>
        <p:spPr>
          <a:xfrm>
            <a:off x="965200" y="812800"/>
            <a:ext cx="107264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WEBRTC ET CONNECTIVITÉ</a:t>
            </a:r>
            <a:endParaRPr lang="en-US" sz="1200" dirty="0"/>
          </a:p>
        </p:txBody>
      </p:sp>
      <p:sp>
        <p:nvSpPr>
          <p:cNvPr id="4" name="Text 2"/>
          <p:cNvSpPr>
            <a:spLocks noGrp="1"/>
          </p:cNvSpPr>
          <p:nvPr>
            <p:ph type="title"/>
          </p:nvPr>
        </p:nvSpPr>
        <p:spPr>
          <a:xfrm>
            <a:off x="812800" y="1203964"/>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1F3A"/>
                </a:solidFill>
                <a:latin typeface="Space Grotesk" pitchFamily="34" charset="0"/>
                <a:ea typeface="Space Grotesk" pitchFamily="34" charset="-122"/>
                <a:cs typeface="Space Grotesk" pitchFamily="34" charset="-120"/>
              </a:rPr>
              <a:t>Se connecter malgré le NAT</a:t>
            </a:r>
            <a:endParaRPr lang="en-US" sz="2800" dirty="0"/>
          </a:p>
        </p:txBody>
      </p:sp>
      <p:sp>
        <p:nvSpPr>
          <p:cNvPr id="5" name="Shape 3"/>
          <p:cNvSpPr/>
          <p:nvPr/>
        </p:nvSpPr>
        <p:spPr>
          <a:xfrm>
            <a:off x="815975" y="1776096"/>
            <a:ext cx="4921250" cy="730250"/>
          </a:xfrm>
          <a:prstGeom prst="roundRect">
            <a:avLst>
              <a:gd name="adj" fmla="val 10000"/>
            </a:avLst>
          </a:prstGeom>
          <a:solidFill>
            <a:srgbClr val="FBFDFF"/>
          </a:solidFill>
          <a:ln w="6350">
            <a:solidFill>
              <a:srgbClr val="D5DEE9"/>
            </a:solidFill>
            <a:prstDash val="solid"/>
          </a:ln>
        </p:spPr>
        <p:txBody>
          <a:bodyPr/>
          <a:lstStyle/>
          <a:p>
            <a:endParaRPr lang="fr-FR"/>
          </a:p>
        </p:txBody>
      </p:sp>
      <p:sp>
        <p:nvSpPr>
          <p:cNvPr id="6" name="Text 4"/>
          <p:cNvSpPr/>
          <p:nvPr/>
        </p:nvSpPr>
        <p:spPr>
          <a:xfrm>
            <a:off x="970280" y="1927864"/>
            <a:ext cx="4064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1F3A"/>
                </a:solidFill>
                <a:latin typeface="Space Grotesk" pitchFamily="34" charset="0"/>
                <a:ea typeface="Space Grotesk" pitchFamily="34" charset="-122"/>
                <a:cs typeface="Space Grotesk" pitchFamily="34" charset="-120"/>
              </a:rPr>
              <a:t>1</a:t>
            </a:r>
            <a:endParaRPr lang="en-US" sz="2400" dirty="0"/>
          </a:p>
        </p:txBody>
      </p:sp>
      <p:sp>
        <p:nvSpPr>
          <p:cNvPr id="7" name="Text 5"/>
          <p:cNvSpPr/>
          <p:nvPr/>
        </p:nvSpPr>
        <p:spPr>
          <a:xfrm>
            <a:off x="1452880" y="1905000"/>
            <a:ext cx="425394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Host</a:t>
            </a:r>
            <a:endParaRPr lang="en-US" sz="1500" dirty="0"/>
          </a:p>
        </p:txBody>
      </p:sp>
      <p:sp>
        <p:nvSpPr>
          <p:cNvPr id="8" name="Text 6"/>
          <p:cNvSpPr/>
          <p:nvPr/>
        </p:nvSpPr>
        <p:spPr>
          <a:xfrm>
            <a:off x="1452880" y="2171700"/>
            <a:ext cx="4253941"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Adresse locale : essai direct sur le réseau.</a:t>
            </a:r>
            <a:endParaRPr lang="en-US" sz="1200" dirty="0"/>
          </a:p>
        </p:txBody>
      </p:sp>
      <p:sp>
        <p:nvSpPr>
          <p:cNvPr id="9" name="Shape 7"/>
          <p:cNvSpPr/>
          <p:nvPr/>
        </p:nvSpPr>
        <p:spPr>
          <a:xfrm>
            <a:off x="815975" y="2614296"/>
            <a:ext cx="4921250" cy="730250"/>
          </a:xfrm>
          <a:prstGeom prst="roundRect">
            <a:avLst>
              <a:gd name="adj" fmla="val 10000"/>
            </a:avLst>
          </a:prstGeom>
          <a:solidFill>
            <a:srgbClr val="FBFDFF"/>
          </a:solidFill>
          <a:ln w="6350">
            <a:solidFill>
              <a:srgbClr val="D5DEE9"/>
            </a:solidFill>
            <a:prstDash val="solid"/>
          </a:ln>
        </p:spPr>
        <p:txBody>
          <a:bodyPr/>
          <a:lstStyle/>
          <a:p>
            <a:endParaRPr lang="fr-FR"/>
          </a:p>
        </p:txBody>
      </p:sp>
      <p:sp>
        <p:nvSpPr>
          <p:cNvPr id="10" name="Text 8"/>
          <p:cNvSpPr/>
          <p:nvPr/>
        </p:nvSpPr>
        <p:spPr>
          <a:xfrm>
            <a:off x="970280" y="2766064"/>
            <a:ext cx="4064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1F3A"/>
                </a:solidFill>
                <a:latin typeface="Space Grotesk" pitchFamily="34" charset="0"/>
                <a:ea typeface="Space Grotesk" pitchFamily="34" charset="-122"/>
                <a:cs typeface="Space Grotesk" pitchFamily="34" charset="-120"/>
              </a:rPr>
              <a:t>2</a:t>
            </a:r>
            <a:endParaRPr lang="en-US" sz="2400" dirty="0"/>
          </a:p>
        </p:txBody>
      </p:sp>
      <p:sp>
        <p:nvSpPr>
          <p:cNvPr id="11" name="Text 9"/>
          <p:cNvSpPr/>
          <p:nvPr/>
        </p:nvSpPr>
        <p:spPr>
          <a:xfrm>
            <a:off x="1452880" y="2743200"/>
            <a:ext cx="425394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Server reflexive</a:t>
            </a:r>
            <a:endParaRPr lang="en-US" sz="1500" dirty="0"/>
          </a:p>
        </p:txBody>
      </p:sp>
      <p:sp>
        <p:nvSpPr>
          <p:cNvPr id="12" name="Text 10"/>
          <p:cNvSpPr/>
          <p:nvPr/>
        </p:nvSpPr>
        <p:spPr>
          <a:xfrm>
            <a:off x="1452880" y="3009900"/>
            <a:ext cx="4253941"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Adresse publique découverte grâce à STUN.</a:t>
            </a:r>
            <a:endParaRPr lang="en-US" sz="1200" dirty="0"/>
          </a:p>
        </p:txBody>
      </p:sp>
      <p:sp>
        <p:nvSpPr>
          <p:cNvPr id="13" name="Shape 11"/>
          <p:cNvSpPr/>
          <p:nvPr/>
        </p:nvSpPr>
        <p:spPr>
          <a:xfrm>
            <a:off x="815975" y="3452496"/>
            <a:ext cx="4921250" cy="730250"/>
          </a:xfrm>
          <a:prstGeom prst="roundRect">
            <a:avLst>
              <a:gd name="adj" fmla="val 10000"/>
            </a:avLst>
          </a:prstGeom>
          <a:solidFill>
            <a:srgbClr val="FBFDFF"/>
          </a:solidFill>
          <a:ln w="6350">
            <a:solidFill>
              <a:srgbClr val="D5DEE9"/>
            </a:solidFill>
            <a:prstDash val="solid"/>
          </a:ln>
        </p:spPr>
        <p:txBody>
          <a:bodyPr/>
          <a:lstStyle/>
          <a:p>
            <a:endParaRPr lang="fr-FR"/>
          </a:p>
        </p:txBody>
      </p:sp>
      <p:sp>
        <p:nvSpPr>
          <p:cNvPr id="14" name="Text 12"/>
          <p:cNvSpPr/>
          <p:nvPr/>
        </p:nvSpPr>
        <p:spPr>
          <a:xfrm>
            <a:off x="970280" y="3604264"/>
            <a:ext cx="4064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1F3A"/>
                </a:solidFill>
                <a:latin typeface="Space Grotesk" pitchFamily="34" charset="0"/>
                <a:ea typeface="Space Grotesk" pitchFamily="34" charset="-122"/>
                <a:cs typeface="Space Grotesk" pitchFamily="34" charset="-120"/>
              </a:rPr>
              <a:t>3</a:t>
            </a:r>
            <a:endParaRPr lang="en-US" sz="2400" dirty="0"/>
          </a:p>
        </p:txBody>
      </p:sp>
      <p:sp>
        <p:nvSpPr>
          <p:cNvPr id="15" name="Text 13"/>
          <p:cNvSpPr/>
          <p:nvPr/>
        </p:nvSpPr>
        <p:spPr>
          <a:xfrm>
            <a:off x="1452880" y="3581400"/>
            <a:ext cx="425394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Relay</a:t>
            </a:r>
            <a:endParaRPr lang="en-US" sz="1500" dirty="0"/>
          </a:p>
        </p:txBody>
      </p:sp>
      <p:sp>
        <p:nvSpPr>
          <p:cNvPr id="16" name="Text 14"/>
          <p:cNvSpPr/>
          <p:nvPr/>
        </p:nvSpPr>
        <p:spPr>
          <a:xfrm>
            <a:off x="1452880" y="3848100"/>
            <a:ext cx="4253941"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Flux relayé par un serveur TURN, en dernier recours.</a:t>
            </a:r>
            <a:endParaRPr lang="en-US" sz="1200" dirty="0"/>
          </a:p>
        </p:txBody>
      </p:sp>
      <p:sp>
        <p:nvSpPr>
          <p:cNvPr id="17" name="Shape 15"/>
          <p:cNvSpPr/>
          <p:nvPr/>
        </p:nvSpPr>
        <p:spPr>
          <a:xfrm>
            <a:off x="5943600" y="1772921"/>
            <a:ext cx="5435600" cy="2413000"/>
          </a:xfrm>
          <a:prstGeom prst="roundRect">
            <a:avLst>
              <a:gd name="adj" fmla="val 4211"/>
            </a:avLst>
          </a:prstGeom>
          <a:solidFill>
            <a:srgbClr val="0B1F3A"/>
          </a:solidFill>
          <a:ln/>
        </p:spPr>
        <p:txBody>
          <a:bodyPr/>
          <a:lstStyle/>
          <a:p>
            <a:endParaRPr lang="fr-FR"/>
          </a:p>
        </p:txBody>
      </p:sp>
      <p:sp>
        <p:nvSpPr>
          <p:cNvPr id="18" name="Shape 16"/>
          <p:cNvSpPr/>
          <p:nvPr/>
        </p:nvSpPr>
        <p:spPr>
          <a:xfrm>
            <a:off x="5943600" y="1772921"/>
            <a:ext cx="5435600" cy="2413000"/>
          </a:xfrm>
          <a:custGeom>
            <a:avLst/>
            <a:gdLst/>
            <a:ahLst/>
            <a:cxnLst/>
            <a:rect l="l" t="t" r="r" b="b"/>
            <a:pathLst>
              <a:path w="5435600" h="2413000">
                <a:moveTo>
                  <a:pt x="101600" y="2413000"/>
                </a:moveTo>
                <a:lnTo>
                  <a:pt x="101600" y="2413000"/>
                </a:lnTo>
                <a:arcTo wR="101600" hR="101600" stAng="5400000" swAng="5400000"/>
                <a:lnTo>
                  <a:pt x="0" y="101600"/>
                </a:lnTo>
                <a:arcTo wR="101600" hR="101600" stAng="10800000" swAng="5400000"/>
                <a:lnTo>
                  <a:pt x="101600" y="0"/>
                </a:lnTo>
                <a:arcTo wR="50800" hR="101600" stAng="16200000" swAng="-5400000"/>
                <a:lnTo>
                  <a:pt x="50800" y="2311400"/>
                </a:lnTo>
                <a:arcTo wR="50800" hR="101600" stAng="10800000" swAng="-5400000"/>
                <a:close/>
              </a:path>
            </a:pathLst>
          </a:custGeom>
          <a:solidFill>
            <a:srgbClr val="17A398"/>
          </a:solidFill>
          <a:ln/>
        </p:spPr>
        <p:txBody>
          <a:bodyPr/>
          <a:lstStyle/>
          <a:p>
            <a:endParaRPr lang="fr-FR"/>
          </a:p>
        </p:txBody>
      </p:sp>
      <p:sp>
        <p:nvSpPr>
          <p:cNvPr id="19" name="Text 17"/>
          <p:cNvSpPr/>
          <p:nvPr/>
        </p:nvSpPr>
        <p:spPr>
          <a:xfrm>
            <a:off x="6223000" y="1976121"/>
            <a:ext cx="507542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6FA"/>
                </a:solidFill>
                <a:latin typeface="Space Grotesk" pitchFamily="34" charset="0"/>
                <a:ea typeface="Space Grotesk" pitchFamily="34" charset="-122"/>
                <a:cs typeface="Space Grotesk" pitchFamily="34" charset="-120"/>
              </a:rPr>
              <a:t>Une visio dans le navigateur</a:t>
            </a:r>
            <a:endParaRPr lang="en-US" sz="1600" dirty="0"/>
          </a:p>
        </p:txBody>
      </p:sp>
      <p:sp>
        <p:nvSpPr>
          <p:cNvPr id="20" name="Text 18"/>
          <p:cNvSpPr/>
          <p:nvPr/>
        </p:nvSpPr>
        <p:spPr>
          <a:xfrm>
            <a:off x="6223000" y="2321564"/>
            <a:ext cx="5075428"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7A1A"/>
                </a:solidFill>
                <a:latin typeface="Inter" pitchFamily="34" charset="0"/>
                <a:ea typeface="Inter" pitchFamily="34" charset="-122"/>
                <a:cs typeface="Inter" pitchFamily="34" charset="-120"/>
              </a:rPr>
              <a:t>1.</a:t>
            </a:r>
            <a:r>
              <a:rPr lang="en-US" sz="1200" dirty="0">
                <a:solidFill>
                  <a:srgbClr val="D5DEE9"/>
                </a:solidFill>
                <a:latin typeface="Inter" pitchFamily="34" charset="0"/>
                <a:ea typeface="Inter" pitchFamily="34" charset="-122"/>
                <a:cs typeface="Inter" pitchFamily="34" charset="-120"/>
              </a:rPr>
              <a:t> L’application échange SDP et candidats via son serveur de signalisation.</a:t>
            </a:r>
            <a:endParaRPr lang="en-US" sz="1200" dirty="0"/>
          </a:p>
        </p:txBody>
      </p:sp>
      <p:sp>
        <p:nvSpPr>
          <p:cNvPr id="21" name="Text 19"/>
          <p:cNvSpPr/>
          <p:nvPr/>
        </p:nvSpPr>
        <p:spPr>
          <a:xfrm>
            <a:off x="6223000" y="2849879"/>
            <a:ext cx="507542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7A1A"/>
                </a:solidFill>
                <a:latin typeface="Inter" pitchFamily="34" charset="0"/>
                <a:ea typeface="Inter" pitchFamily="34" charset="-122"/>
                <a:cs typeface="Inter" pitchFamily="34" charset="-120"/>
              </a:rPr>
              <a:t>2.</a:t>
            </a:r>
            <a:r>
              <a:rPr lang="en-US" sz="1200" dirty="0">
                <a:solidFill>
                  <a:srgbClr val="D5DEE9"/>
                </a:solidFill>
                <a:latin typeface="Inter" pitchFamily="34" charset="0"/>
                <a:ea typeface="Inter" pitchFamily="34" charset="-122"/>
                <a:cs typeface="Inter" pitchFamily="34" charset="-120"/>
              </a:rPr>
              <a:t> Chaque navigateur interroge un serveur STUN.</a:t>
            </a:r>
            <a:endParaRPr lang="en-US" sz="1200" dirty="0"/>
          </a:p>
        </p:txBody>
      </p:sp>
      <p:sp>
        <p:nvSpPr>
          <p:cNvPr id="22" name="Text 20"/>
          <p:cNvSpPr/>
          <p:nvPr/>
        </p:nvSpPr>
        <p:spPr>
          <a:xfrm>
            <a:off x="6223000" y="3164842"/>
            <a:ext cx="507542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7A1A"/>
                </a:solidFill>
                <a:latin typeface="Inter" pitchFamily="34" charset="0"/>
                <a:ea typeface="Inter" pitchFamily="34" charset="-122"/>
                <a:cs typeface="Inter" pitchFamily="34" charset="-120"/>
              </a:rPr>
              <a:t>3.</a:t>
            </a:r>
            <a:r>
              <a:rPr lang="en-US" sz="1200" dirty="0">
                <a:solidFill>
                  <a:srgbClr val="D5DEE9"/>
                </a:solidFill>
                <a:latin typeface="Inter" pitchFamily="34" charset="0"/>
                <a:ea typeface="Inter" pitchFamily="34" charset="-122"/>
                <a:cs typeface="Inter" pitchFamily="34" charset="-120"/>
              </a:rPr>
              <a:t> ICE teste les paires de candidats.</a:t>
            </a:r>
            <a:endParaRPr lang="en-US" sz="1200" dirty="0"/>
          </a:p>
        </p:txBody>
      </p:sp>
      <p:sp>
        <p:nvSpPr>
          <p:cNvPr id="23" name="Text 21"/>
          <p:cNvSpPr/>
          <p:nvPr/>
        </p:nvSpPr>
        <p:spPr>
          <a:xfrm>
            <a:off x="6223000" y="3479800"/>
            <a:ext cx="507542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7A1A"/>
                </a:solidFill>
                <a:latin typeface="Inter" pitchFamily="34" charset="0"/>
                <a:ea typeface="Inter" pitchFamily="34" charset="-122"/>
                <a:cs typeface="Inter" pitchFamily="34" charset="-120"/>
              </a:rPr>
              <a:t>4.</a:t>
            </a:r>
            <a:r>
              <a:rPr lang="en-US" sz="1200" dirty="0">
                <a:solidFill>
                  <a:srgbClr val="D5DEE9"/>
                </a:solidFill>
                <a:latin typeface="Inter" pitchFamily="34" charset="0"/>
                <a:ea typeface="Inter" pitchFamily="34" charset="-122"/>
                <a:cs typeface="Inter" pitchFamily="34" charset="-120"/>
              </a:rPr>
              <a:t> Le meilleur chemin est retenu ; sinon, TURN relaie.</a:t>
            </a:r>
            <a:endParaRPr lang="en-US" sz="1200" dirty="0"/>
          </a:p>
        </p:txBody>
      </p:sp>
      <p:sp>
        <p:nvSpPr>
          <p:cNvPr id="24" name="Text 2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Inter" pitchFamily="34" charset="0"/>
                <a:ea typeface="Inter" pitchFamily="34" charset="-122"/>
                <a:cs typeface="Inter" pitchFamily="34" charset="-120"/>
              </a:rPr>
              <a:t>Sources : RFC 8445 (ICE), RFC 8489 (STUN), RFC 8656 (TURN), MDN Web Docs (glossaire ICE).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F7A1A"/>
                </a:solidFill>
                <a:latin typeface="JetBrains Mono" pitchFamily="49" charset="0"/>
                <a:ea typeface="JetBrains Mono" pitchFamily="49" charset="-122"/>
                <a:cs typeface="JetBrains Mono" pitchFamily="49" charset="-120"/>
              </a:rPr>
              <a:t>SCÉNARIO COMPLET</a:t>
            </a:r>
            <a:endParaRPr lang="en-US" sz="1200" dirty="0"/>
          </a:p>
        </p:txBody>
      </p:sp>
      <p:sp>
        <p:nvSpPr>
          <p:cNvPr id="3" name="Text 1"/>
          <p:cNvSpPr>
            <a:spLocks noGrp="1"/>
          </p:cNvSpPr>
          <p:nvPr>
            <p:ph type="title"/>
          </p:nvPr>
        </p:nvSpPr>
        <p:spPr>
          <a:xfrm>
            <a:off x="812800" y="1203964"/>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3F6FA"/>
                </a:solidFill>
                <a:latin typeface="Space Grotesk" pitchFamily="34" charset="0"/>
                <a:ea typeface="Space Grotesk" pitchFamily="34" charset="-122"/>
                <a:cs typeface="Space Grotesk" pitchFamily="34" charset="-120"/>
              </a:rPr>
              <a:t>Une visioconférence, du clic au flux</a:t>
            </a:r>
            <a:endParaRPr lang="en-US" sz="2800" dirty="0"/>
          </a:p>
        </p:txBody>
      </p:sp>
      <p:sp>
        <p:nvSpPr>
          <p:cNvPr id="4" name="Shape 2"/>
          <p:cNvSpPr/>
          <p:nvPr/>
        </p:nvSpPr>
        <p:spPr>
          <a:xfrm>
            <a:off x="812800" y="1772921"/>
            <a:ext cx="3437414" cy="998220"/>
          </a:xfrm>
          <a:prstGeom prst="roundRect">
            <a:avLst>
              <a:gd name="adj" fmla="val 7634"/>
            </a:avLst>
          </a:prstGeom>
          <a:solidFill>
            <a:srgbClr val="12305A"/>
          </a:solidFill>
          <a:ln/>
        </p:spPr>
        <p:txBody>
          <a:bodyPr/>
          <a:lstStyle/>
          <a:p>
            <a:endParaRPr lang="fr-FR"/>
          </a:p>
        </p:txBody>
      </p:sp>
      <p:sp>
        <p:nvSpPr>
          <p:cNvPr id="5" name="Text 3"/>
          <p:cNvSpPr/>
          <p:nvPr/>
        </p:nvSpPr>
        <p:spPr>
          <a:xfrm>
            <a:off x="965200" y="1925321"/>
            <a:ext cx="32265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7A1A"/>
                </a:solidFill>
                <a:latin typeface="JetBrains Mono" pitchFamily="49" charset="0"/>
                <a:ea typeface="JetBrains Mono" pitchFamily="49" charset="-122"/>
                <a:cs typeface="JetBrains Mono" pitchFamily="49" charset="-120"/>
              </a:rPr>
              <a:t>1 · DHCP, DNS</a:t>
            </a:r>
            <a:endParaRPr lang="en-US" sz="1300" dirty="0"/>
          </a:p>
        </p:txBody>
      </p:sp>
      <p:sp>
        <p:nvSpPr>
          <p:cNvPr id="6" name="Text 4"/>
          <p:cNvSpPr/>
          <p:nvPr/>
        </p:nvSpPr>
        <p:spPr>
          <a:xfrm>
            <a:off x="965200" y="2207264"/>
            <a:ext cx="322659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Le poste obtient son adresse et trouve le serveur.</a:t>
            </a:r>
            <a:endParaRPr lang="en-US" sz="1200" dirty="0"/>
          </a:p>
        </p:txBody>
      </p:sp>
      <p:sp>
        <p:nvSpPr>
          <p:cNvPr id="7" name="Shape 5"/>
          <p:cNvSpPr/>
          <p:nvPr/>
        </p:nvSpPr>
        <p:spPr>
          <a:xfrm>
            <a:off x="4377214" y="1772921"/>
            <a:ext cx="3437493" cy="998220"/>
          </a:xfrm>
          <a:prstGeom prst="roundRect">
            <a:avLst>
              <a:gd name="adj" fmla="val 7634"/>
            </a:avLst>
          </a:prstGeom>
          <a:solidFill>
            <a:srgbClr val="12305A"/>
          </a:solidFill>
          <a:ln/>
        </p:spPr>
        <p:txBody>
          <a:bodyPr/>
          <a:lstStyle/>
          <a:p>
            <a:endParaRPr lang="fr-FR"/>
          </a:p>
        </p:txBody>
      </p:sp>
      <p:sp>
        <p:nvSpPr>
          <p:cNvPr id="8" name="Text 6"/>
          <p:cNvSpPr/>
          <p:nvPr/>
        </p:nvSpPr>
        <p:spPr>
          <a:xfrm>
            <a:off x="4529614" y="1925321"/>
            <a:ext cx="322667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7A1A"/>
                </a:solidFill>
                <a:latin typeface="JetBrains Mono" pitchFamily="49" charset="0"/>
                <a:ea typeface="JetBrains Mono" pitchFamily="49" charset="-122"/>
                <a:cs typeface="JetBrains Mono" pitchFamily="49" charset="-120"/>
              </a:rPr>
              <a:t>2 · LDAP, AD</a:t>
            </a:r>
            <a:endParaRPr lang="en-US" sz="1300" dirty="0"/>
          </a:p>
        </p:txBody>
      </p:sp>
      <p:sp>
        <p:nvSpPr>
          <p:cNvPr id="9" name="Text 7"/>
          <p:cNvSpPr/>
          <p:nvPr/>
        </p:nvSpPr>
        <p:spPr>
          <a:xfrm>
            <a:off x="4529614" y="2207264"/>
            <a:ext cx="322667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L’utilisateur s’authentifie auprès de l’annuaire.</a:t>
            </a:r>
            <a:endParaRPr lang="en-US" sz="1200" dirty="0"/>
          </a:p>
        </p:txBody>
      </p:sp>
      <p:sp>
        <p:nvSpPr>
          <p:cNvPr id="10" name="Shape 8"/>
          <p:cNvSpPr/>
          <p:nvPr/>
        </p:nvSpPr>
        <p:spPr>
          <a:xfrm>
            <a:off x="7941707" y="1772921"/>
            <a:ext cx="3437493" cy="998220"/>
          </a:xfrm>
          <a:prstGeom prst="roundRect">
            <a:avLst>
              <a:gd name="adj" fmla="val 7634"/>
            </a:avLst>
          </a:prstGeom>
          <a:solidFill>
            <a:srgbClr val="12305A"/>
          </a:solidFill>
          <a:ln/>
        </p:spPr>
        <p:txBody>
          <a:bodyPr/>
          <a:lstStyle/>
          <a:p>
            <a:endParaRPr lang="fr-FR"/>
          </a:p>
        </p:txBody>
      </p:sp>
      <p:sp>
        <p:nvSpPr>
          <p:cNvPr id="11" name="Text 9"/>
          <p:cNvSpPr/>
          <p:nvPr/>
        </p:nvSpPr>
        <p:spPr>
          <a:xfrm>
            <a:off x="8094107" y="1925321"/>
            <a:ext cx="322667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7A1A"/>
                </a:solidFill>
                <a:latin typeface="JetBrains Mono" pitchFamily="49" charset="0"/>
                <a:ea typeface="JetBrains Mono" pitchFamily="49" charset="-122"/>
                <a:cs typeface="JetBrains Mono" pitchFamily="49" charset="-120"/>
              </a:rPr>
              <a:t>3 · SIP, TLS</a:t>
            </a:r>
            <a:endParaRPr lang="en-US" sz="1300" dirty="0"/>
          </a:p>
        </p:txBody>
      </p:sp>
      <p:sp>
        <p:nvSpPr>
          <p:cNvPr id="12" name="Text 10"/>
          <p:cNvSpPr/>
          <p:nvPr/>
        </p:nvSpPr>
        <p:spPr>
          <a:xfrm>
            <a:off x="8094107" y="2207264"/>
            <a:ext cx="322667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Le client s’enregistre, puis envoie l’invitation.</a:t>
            </a:r>
            <a:endParaRPr lang="en-US" sz="1200" dirty="0"/>
          </a:p>
        </p:txBody>
      </p:sp>
      <p:sp>
        <p:nvSpPr>
          <p:cNvPr id="13" name="Shape 11"/>
          <p:cNvSpPr/>
          <p:nvPr/>
        </p:nvSpPr>
        <p:spPr>
          <a:xfrm>
            <a:off x="812800" y="2898142"/>
            <a:ext cx="3437414" cy="998220"/>
          </a:xfrm>
          <a:prstGeom prst="roundRect">
            <a:avLst>
              <a:gd name="adj" fmla="val 7634"/>
            </a:avLst>
          </a:prstGeom>
          <a:solidFill>
            <a:srgbClr val="12305A"/>
          </a:solidFill>
          <a:ln/>
        </p:spPr>
        <p:txBody>
          <a:bodyPr/>
          <a:lstStyle/>
          <a:p>
            <a:endParaRPr lang="fr-FR"/>
          </a:p>
        </p:txBody>
      </p:sp>
      <p:sp>
        <p:nvSpPr>
          <p:cNvPr id="14" name="Text 12"/>
          <p:cNvSpPr/>
          <p:nvPr/>
        </p:nvSpPr>
        <p:spPr>
          <a:xfrm>
            <a:off x="965200" y="3050542"/>
            <a:ext cx="32265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A398"/>
                </a:solidFill>
                <a:latin typeface="JetBrains Mono" pitchFamily="49" charset="0"/>
                <a:ea typeface="JetBrains Mono" pitchFamily="49" charset="-122"/>
                <a:cs typeface="JetBrains Mono" pitchFamily="49" charset="-120"/>
              </a:rPr>
              <a:t>4 · SDP</a:t>
            </a:r>
            <a:endParaRPr lang="en-US" sz="1300" dirty="0"/>
          </a:p>
        </p:txBody>
      </p:sp>
      <p:sp>
        <p:nvSpPr>
          <p:cNvPr id="15" name="Text 13"/>
          <p:cNvSpPr/>
          <p:nvPr/>
        </p:nvSpPr>
        <p:spPr>
          <a:xfrm>
            <a:off x="965200" y="3332479"/>
            <a:ext cx="3226592"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Les participants choisissent des codecs communs.</a:t>
            </a:r>
            <a:endParaRPr lang="en-US" sz="1200" dirty="0"/>
          </a:p>
        </p:txBody>
      </p:sp>
      <p:sp>
        <p:nvSpPr>
          <p:cNvPr id="16" name="Shape 14"/>
          <p:cNvSpPr/>
          <p:nvPr/>
        </p:nvSpPr>
        <p:spPr>
          <a:xfrm>
            <a:off x="4377214" y="2898142"/>
            <a:ext cx="3437493" cy="998220"/>
          </a:xfrm>
          <a:prstGeom prst="roundRect">
            <a:avLst>
              <a:gd name="adj" fmla="val 7634"/>
            </a:avLst>
          </a:prstGeom>
          <a:solidFill>
            <a:srgbClr val="12305A"/>
          </a:solidFill>
          <a:ln/>
        </p:spPr>
        <p:txBody>
          <a:bodyPr/>
          <a:lstStyle/>
          <a:p>
            <a:endParaRPr lang="fr-FR"/>
          </a:p>
        </p:txBody>
      </p:sp>
      <p:sp>
        <p:nvSpPr>
          <p:cNvPr id="17" name="Text 15"/>
          <p:cNvSpPr/>
          <p:nvPr/>
        </p:nvSpPr>
        <p:spPr>
          <a:xfrm>
            <a:off x="4529614" y="3050542"/>
            <a:ext cx="322667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A398"/>
                </a:solidFill>
                <a:latin typeface="JetBrains Mono" pitchFamily="49" charset="0"/>
                <a:ea typeface="JetBrains Mono" pitchFamily="49" charset="-122"/>
                <a:cs typeface="JetBrains Mono" pitchFamily="49" charset="-120"/>
              </a:rPr>
              <a:t>5 · ICE, STUN, TURN</a:t>
            </a:r>
            <a:endParaRPr lang="en-US" sz="1300" dirty="0"/>
          </a:p>
        </p:txBody>
      </p:sp>
      <p:sp>
        <p:nvSpPr>
          <p:cNvPr id="18" name="Text 16"/>
          <p:cNvSpPr/>
          <p:nvPr/>
        </p:nvSpPr>
        <p:spPr>
          <a:xfrm>
            <a:off x="4529614" y="3332479"/>
            <a:ext cx="322667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Un chemin réseau est trouvé malgré le NAT.</a:t>
            </a:r>
            <a:endParaRPr lang="en-US" sz="1200" dirty="0"/>
          </a:p>
        </p:txBody>
      </p:sp>
      <p:sp>
        <p:nvSpPr>
          <p:cNvPr id="19" name="Shape 17"/>
          <p:cNvSpPr/>
          <p:nvPr/>
        </p:nvSpPr>
        <p:spPr>
          <a:xfrm>
            <a:off x="7941707" y="2898142"/>
            <a:ext cx="3437493" cy="998220"/>
          </a:xfrm>
          <a:prstGeom prst="roundRect">
            <a:avLst>
              <a:gd name="adj" fmla="val 7634"/>
            </a:avLst>
          </a:prstGeom>
          <a:solidFill>
            <a:srgbClr val="12305A"/>
          </a:solidFill>
          <a:ln/>
        </p:spPr>
        <p:txBody>
          <a:bodyPr/>
          <a:lstStyle/>
          <a:p>
            <a:endParaRPr lang="fr-FR"/>
          </a:p>
        </p:txBody>
      </p:sp>
      <p:sp>
        <p:nvSpPr>
          <p:cNvPr id="20" name="Text 18"/>
          <p:cNvSpPr/>
          <p:nvPr/>
        </p:nvSpPr>
        <p:spPr>
          <a:xfrm>
            <a:off x="8094107" y="3050542"/>
            <a:ext cx="3226674"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A398"/>
                </a:solidFill>
                <a:latin typeface="JetBrains Mono" pitchFamily="49" charset="0"/>
                <a:ea typeface="JetBrains Mono" pitchFamily="49" charset="-122"/>
                <a:cs typeface="JetBrains Mono" pitchFamily="49" charset="-120"/>
              </a:rPr>
              <a:t>6 · SRTP, QoS</a:t>
            </a:r>
            <a:endParaRPr lang="en-US" sz="1300" dirty="0"/>
          </a:p>
        </p:txBody>
      </p:sp>
      <p:sp>
        <p:nvSpPr>
          <p:cNvPr id="21" name="Text 19"/>
          <p:cNvSpPr/>
          <p:nvPr/>
        </p:nvSpPr>
        <p:spPr>
          <a:xfrm>
            <a:off x="8094107" y="3332479"/>
            <a:ext cx="3226674"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Le média circule, protégé et priorisé.</a:t>
            </a:r>
            <a:endParaRPr lang="en-US" sz="1200" dirty="0"/>
          </a:p>
        </p:txBody>
      </p:sp>
      <p:sp>
        <p:nvSpPr>
          <p:cNvPr id="22" name="Shape 20"/>
          <p:cNvSpPr/>
          <p:nvPr/>
        </p:nvSpPr>
        <p:spPr>
          <a:xfrm>
            <a:off x="831850" y="4074164"/>
            <a:ext cx="0" cy="492760"/>
          </a:xfrm>
          <a:prstGeom prst="line">
            <a:avLst/>
          </a:prstGeom>
          <a:noFill/>
          <a:ln w="38100">
            <a:solidFill>
              <a:srgbClr val="17A398"/>
            </a:solidFill>
            <a:prstDash val="solid"/>
          </a:ln>
        </p:spPr>
        <p:txBody>
          <a:bodyPr/>
          <a:lstStyle/>
          <a:p>
            <a:endParaRPr lang="fr-FR"/>
          </a:p>
        </p:txBody>
      </p:sp>
      <p:sp>
        <p:nvSpPr>
          <p:cNvPr id="23" name="Text 21"/>
          <p:cNvSpPr/>
          <p:nvPr/>
        </p:nvSpPr>
        <p:spPr>
          <a:xfrm>
            <a:off x="975360" y="4074164"/>
            <a:ext cx="33731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6FA"/>
                </a:solidFill>
                <a:latin typeface="JetBrains Mono" pitchFamily="49" charset="0"/>
                <a:ea typeface="JetBrains Mono" pitchFamily="49" charset="-122"/>
                <a:cs typeface="JetBrains Mono" pitchFamily="49" charset="-120"/>
              </a:rPr>
              <a:t>Opus</a:t>
            </a:r>
            <a:endParaRPr lang="en-US" sz="1400" dirty="0"/>
          </a:p>
        </p:txBody>
      </p:sp>
      <p:sp>
        <p:nvSpPr>
          <p:cNvPr id="24" name="Text 22"/>
          <p:cNvSpPr/>
          <p:nvPr/>
        </p:nvSpPr>
        <p:spPr>
          <a:xfrm>
            <a:off x="975360" y="4361179"/>
            <a:ext cx="337310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Audio, parole et musique.</a:t>
            </a:r>
            <a:endParaRPr lang="en-US" sz="1200" dirty="0"/>
          </a:p>
        </p:txBody>
      </p:sp>
      <p:sp>
        <p:nvSpPr>
          <p:cNvPr id="25" name="Shape 23"/>
          <p:cNvSpPr/>
          <p:nvPr/>
        </p:nvSpPr>
        <p:spPr>
          <a:xfrm>
            <a:off x="4396264" y="4074164"/>
            <a:ext cx="0" cy="492760"/>
          </a:xfrm>
          <a:prstGeom prst="line">
            <a:avLst/>
          </a:prstGeom>
          <a:noFill/>
          <a:ln w="38100">
            <a:solidFill>
              <a:srgbClr val="17A398"/>
            </a:solidFill>
            <a:prstDash val="solid"/>
          </a:ln>
        </p:spPr>
        <p:txBody>
          <a:bodyPr/>
          <a:lstStyle/>
          <a:p>
            <a:endParaRPr lang="fr-FR"/>
          </a:p>
        </p:txBody>
      </p:sp>
      <p:sp>
        <p:nvSpPr>
          <p:cNvPr id="26" name="Text 24"/>
          <p:cNvSpPr/>
          <p:nvPr/>
        </p:nvSpPr>
        <p:spPr>
          <a:xfrm>
            <a:off x="4539774" y="4074164"/>
            <a:ext cx="337318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6FA"/>
                </a:solidFill>
                <a:latin typeface="JetBrains Mono" pitchFamily="49" charset="0"/>
                <a:ea typeface="JetBrains Mono" pitchFamily="49" charset="-122"/>
                <a:cs typeface="JetBrains Mono" pitchFamily="49" charset="-120"/>
              </a:rPr>
              <a:t>G.711</a:t>
            </a:r>
            <a:endParaRPr lang="en-US" sz="1400" dirty="0"/>
          </a:p>
        </p:txBody>
      </p:sp>
      <p:sp>
        <p:nvSpPr>
          <p:cNvPr id="27" name="Text 25"/>
          <p:cNvSpPr/>
          <p:nvPr/>
        </p:nvSpPr>
        <p:spPr>
          <a:xfrm>
            <a:off x="4539774" y="4361179"/>
            <a:ext cx="3373181"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Audio, très répandu en téléphonie.</a:t>
            </a:r>
            <a:endParaRPr lang="en-US" sz="1200" dirty="0"/>
          </a:p>
        </p:txBody>
      </p:sp>
      <p:sp>
        <p:nvSpPr>
          <p:cNvPr id="28" name="Shape 26"/>
          <p:cNvSpPr/>
          <p:nvPr/>
        </p:nvSpPr>
        <p:spPr>
          <a:xfrm>
            <a:off x="7960757" y="4074164"/>
            <a:ext cx="0" cy="492760"/>
          </a:xfrm>
          <a:prstGeom prst="line">
            <a:avLst/>
          </a:prstGeom>
          <a:noFill/>
          <a:ln w="38100">
            <a:solidFill>
              <a:srgbClr val="17A398"/>
            </a:solidFill>
            <a:prstDash val="solid"/>
          </a:ln>
        </p:spPr>
        <p:txBody>
          <a:bodyPr/>
          <a:lstStyle/>
          <a:p>
            <a:endParaRPr lang="fr-FR"/>
          </a:p>
        </p:txBody>
      </p:sp>
      <p:sp>
        <p:nvSpPr>
          <p:cNvPr id="29" name="Text 27"/>
          <p:cNvSpPr/>
          <p:nvPr/>
        </p:nvSpPr>
        <p:spPr>
          <a:xfrm>
            <a:off x="8104267" y="4074164"/>
            <a:ext cx="337318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6FA"/>
                </a:solidFill>
                <a:latin typeface="JetBrains Mono" pitchFamily="49" charset="0"/>
                <a:ea typeface="JetBrains Mono" pitchFamily="49" charset="-122"/>
                <a:cs typeface="JetBrains Mono" pitchFamily="49" charset="-120"/>
              </a:rPr>
              <a:t>H.264</a:t>
            </a:r>
            <a:endParaRPr lang="en-US" sz="1400" dirty="0"/>
          </a:p>
        </p:txBody>
      </p:sp>
      <p:sp>
        <p:nvSpPr>
          <p:cNvPr id="30" name="Text 28"/>
          <p:cNvSpPr/>
          <p:nvPr/>
        </p:nvSpPr>
        <p:spPr>
          <a:xfrm>
            <a:off x="8104267" y="4361179"/>
            <a:ext cx="3373181"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Vidéo, selon plateformes.</a:t>
            </a:r>
            <a:endParaRPr lang="en-US" sz="1200" dirty="0"/>
          </a:p>
        </p:txBody>
      </p:sp>
      <p:sp>
        <p:nvSpPr>
          <p:cNvPr id="31" name="Text 29"/>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Scénario pédagogique : l’ordre exact varie selon la plateforme. Les codecs disponibles dépendent des terminaux.</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838200" y="812800"/>
            <a:ext cx="0" cy="213360"/>
          </a:xfrm>
          <a:prstGeom prst="line">
            <a:avLst/>
          </a:prstGeom>
          <a:noFill/>
          <a:ln w="50800">
            <a:solidFill>
              <a:srgbClr val="FF7A1A"/>
            </a:solidFill>
            <a:prstDash val="solid"/>
          </a:ln>
        </p:spPr>
        <p:txBody>
          <a:bodyPr/>
          <a:lstStyle/>
          <a:p>
            <a:endParaRPr lang="fr-FR"/>
          </a:p>
        </p:txBody>
      </p:sp>
      <p:sp>
        <p:nvSpPr>
          <p:cNvPr id="3" name="Text 1"/>
          <p:cNvSpPr/>
          <p:nvPr/>
        </p:nvSpPr>
        <p:spPr>
          <a:xfrm>
            <a:off x="965200" y="812800"/>
            <a:ext cx="107264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SOLUTIONS EXISTANTES</a:t>
            </a:r>
            <a:endParaRPr lang="en-US" sz="1200" dirty="0"/>
          </a:p>
        </p:txBody>
      </p:sp>
      <p:sp>
        <p:nvSpPr>
          <p:cNvPr id="4" name="Text 2"/>
          <p:cNvSpPr>
            <a:spLocks noGrp="1"/>
          </p:cNvSpPr>
          <p:nvPr>
            <p:ph type="title"/>
          </p:nvPr>
        </p:nvSpPr>
        <p:spPr>
          <a:xfrm>
            <a:off x="812800" y="1229364"/>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1F3A"/>
                </a:solidFill>
                <a:latin typeface="Space Grotesk" pitchFamily="34" charset="0"/>
                <a:ea typeface="Space Grotesk" pitchFamily="34" charset="-122"/>
                <a:cs typeface="Space Grotesk" pitchFamily="34" charset="-120"/>
              </a:rPr>
              <a:t>Cloud collaboratif ou téléphonie auto-hébergée</a:t>
            </a:r>
            <a:endParaRPr lang="en-US" sz="2800" dirty="0"/>
          </a:p>
        </p:txBody>
      </p:sp>
      <p:sp>
        <p:nvSpPr>
          <p:cNvPr id="5" name="Text 3"/>
          <p:cNvSpPr/>
          <p:nvPr/>
        </p:nvSpPr>
        <p:spPr>
          <a:xfrm>
            <a:off x="812800" y="1823721"/>
            <a:ext cx="6404458"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1F3A"/>
                </a:solidFill>
                <a:latin typeface="JetBrains Mono" pitchFamily="49" charset="0"/>
                <a:ea typeface="JetBrains Mono" pitchFamily="49" charset="-122"/>
                <a:cs typeface="JetBrains Mono" pitchFamily="49" charset="-120"/>
              </a:rPr>
              <a:t>PLATEFORMES CLOUD COLLABORATIVES</a:t>
            </a:r>
            <a:endParaRPr lang="en-US" sz="1200" dirty="0"/>
          </a:p>
        </p:txBody>
      </p:sp>
      <p:sp>
        <p:nvSpPr>
          <p:cNvPr id="6" name="Shape 4"/>
          <p:cNvSpPr/>
          <p:nvPr/>
        </p:nvSpPr>
        <p:spPr>
          <a:xfrm>
            <a:off x="815975" y="2141854"/>
            <a:ext cx="6211570" cy="730250"/>
          </a:xfrm>
          <a:prstGeom prst="roundRect">
            <a:avLst>
              <a:gd name="adj" fmla="val 10000"/>
            </a:avLst>
          </a:prstGeom>
          <a:solidFill>
            <a:srgbClr val="FBFDFF"/>
          </a:solidFill>
          <a:ln w="6350">
            <a:solidFill>
              <a:srgbClr val="D5DEE9"/>
            </a:solidFill>
            <a:prstDash val="solid"/>
          </a:ln>
        </p:spPr>
        <p:txBody>
          <a:bodyPr/>
          <a:lstStyle/>
          <a:p>
            <a:endParaRPr lang="fr-FR"/>
          </a:p>
        </p:txBody>
      </p:sp>
      <p:sp>
        <p:nvSpPr>
          <p:cNvPr id="7" name="Text 5"/>
          <p:cNvSpPr/>
          <p:nvPr/>
        </p:nvSpPr>
        <p:spPr>
          <a:xfrm>
            <a:off x="970280" y="2270764"/>
            <a:ext cx="608004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Microsoft Teams</a:t>
            </a:r>
            <a:endParaRPr lang="en-US" sz="1500" dirty="0"/>
          </a:p>
        </p:txBody>
      </p:sp>
      <p:sp>
        <p:nvSpPr>
          <p:cNvPr id="8" name="Text 6"/>
          <p:cNvSpPr/>
          <p:nvPr/>
        </p:nvSpPr>
        <p:spPr>
          <a:xfrm>
            <a:off x="970280" y="2537464"/>
            <a:ext cx="6080049"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Réunions, messagerie et appels, intégrés à Microsoft 365.</a:t>
            </a:r>
            <a:endParaRPr lang="en-US" sz="1200" dirty="0"/>
          </a:p>
        </p:txBody>
      </p:sp>
      <p:sp>
        <p:nvSpPr>
          <p:cNvPr id="9" name="Shape 7"/>
          <p:cNvSpPr/>
          <p:nvPr/>
        </p:nvSpPr>
        <p:spPr>
          <a:xfrm>
            <a:off x="815975" y="2980054"/>
            <a:ext cx="6211570" cy="730250"/>
          </a:xfrm>
          <a:prstGeom prst="roundRect">
            <a:avLst>
              <a:gd name="adj" fmla="val 10000"/>
            </a:avLst>
          </a:prstGeom>
          <a:solidFill>
            <a:srgbClr val="FBFDFF"/>
          </a:solidFill>
          <a:ln w="6350">
            <a:solidFill>
              <a:srgbClr val="D5DEE9"/>
            </a:solidFill>
            <a:prstDash val="solid"/>
          </a:ln>
        </p:spPr>
        <p:txBody>
          <a:bodyPr/>
          <a:lstStyle/>
          <a:p>
            <a:endParaRPr lang="fr-FR"/>
          </a:p>
        </p:txBody>
      </p:sp>
      <p:sp>
        <p:nvSpPr>
          <p:cNvPr id="10" name="Text 8"/>
          <p:cNvSpPr/>
          <p:nvPr/>
        </p:nvSpPr>
        <p:spPr>
          <a:xfrm>
            <a:off x="970280" y="3108964"/>
            <a:ext cx="608004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Cisco Webex</a:t>
            </a:r>
            <a:endParaRPr lang="en-US" sz="1500" dirty="0"/>
          </a:p>
        </p:txBody>
      </p:sp>
      <p:sp>
        <p:nvSpPr>
          <p:cNvPr id="11" name="Text 9"/>
          <p:cNvSpPr/>
          <p:nvPr/>
        </p:nvSpPr>
        <p:spPr>
          <a:xfrm>
            <a:off x="970280" y="3375664"/>
            <a:ext cx="6080049"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Appels, réunions et messagerie en suite cloud.</a:t>
            </a:r>
            <a:endParaRPr lang="en-US" sz="1200" dirty="0"/>
          </a:p>
        </p:txBody>
      </p:sp>
      <p:sp>
        <p:nvSpPr>
          <p:cNvPr id="12" name="Shape 10"/>
          <p:cNvSpPr/>
          <p:nvPr/>
        </p:nvSpPr>
        <p:spPr>
          <a:xfrm>
            <a:off x="815975" y="3818254"/>
            <a:ext cx="6211570" cy="730250"/>
          </a:xfrm>
          <a:prstGeom prst="roundRect">
            <a:avLst>
              <a:gd name="adj" fmla="val 10000"/>
            </a:avLst>
          </a:prstGeom>
          <a:solidFill>
            <a:srgbClr val="FBFDFF"/>
          </a:solidFill>
          <a:ln w="6350">
            <a:solidFill>
              <a:srgbClr val="D5DEE9"/>
            </a:solidFill>
            <a:prstDash val="solid"/>
          </a:ln>
        </p:spPr>
        <p:txBody>
          <a:bodyPr/>
          <a:lstStyle/>
          <a:p>
            <a:endParaRPr lang="fr-FR"/>
          </a:p>
        </p:txBody>
      </p:sp>
      <p:sp>
        <p:nvSpPr>
          <p:cNvPr id="13" name="Text 11"/>
          <p:cNvSpPr/>
          <p:nvPr/>
        </p:nvSpPr>
        <p:spPr>
          <a:xfrm>
            <a:off x="970280" y="3947164"/>
            <a:ext cx="608004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Zoom Workplace</a:t>
            </a:r>
            <a:endParaRPr lang="en-US" sz="1500" dirty="0"/>
          </a:p>
        </p:txBody>
      </p:sp>
      <p:sp>
        <p:nvSpPr>
          <p:cNvPr id="14" name="Text 12"/>
          <p:cNvSpPr/>
          <p:nvPr/>
        </p:nvSpPr>
        <p:spPr>
          <a:xfrm>
            <a:off x="970280" y="4213864"/>
            <a:ext cx="6080049"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Réunions, téléphonie et chat sur une même plateforme.</a:t>
            </a:r>
            <a:endParaRPr lang="en-US" sz="1200" dirty="0"/>
          </a:p>
        </p:txBody>
      </p:sp>
      <p:sp>
        <p:nvSpPr>
          <p:cNvPr id="15" name="Text 13"/>
          <p:cNvSpPr/>
          <p:nvPr/>
        </p:nvSpPr>
        <p:spPr>
          <a:xfrm>
            <a:off x="7233920" y="1823721"/>
            <a:ext cx="4269638"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B1F3A"/>
                </a:solidFill>
                <a:latin typeface="JetBrains Mono" pitchFamily="49" charset="0"/>
                <a:ea typeface="JetBrains Mono" pitchFamily="49" charset="-122"/>
                <a:cs typeface="JetBrains Mono" pitchFamily="49" charset="-120"/>
              </a:rPr>
              <a:t>TÉLÉPHONIE AUTO-HÉBERGEABLE</a:t>
            </a:r>
            <a:endParaRPr lang="en-US" sz="1200" dirty="0"/>
          </a:p>
        </p:txBody>
      </p:sp>
      <p:sp>
        <p:nvSpPr>
          <p:cNvPr id="16" name="Shape 14"/>
          <p:cNvSpPr/>
          <p:nvPr/>
        </p:nvSpPr>
        <p:spPr>
          <a:xfrm>
            <a:off x="7237095" y="2141854"/>
            <a:ext cx="4138930" cy="730250"/>
          </a:xfrm>
          <a:prstGeom prst="roundRect">
            <a:avLst>
              <a:gd name="adj" fmla="val 10000"/>
            </a:avLst>
          </a:prstGeom>
          <a:solidFill>
            <a:srgbClr val="FBFDFF"/>
          </a:solidFill>
          <a:ln w="6350">
            <a:solidFill>
              <a:srgbClr val="D5DEE9"/>
            </a:solidFill>
            <a:prstDash val="solid"/>
          </a:ln>
        </p:spPr>
        <p:txBody>
          <a:bodyPr/>
          <a:lstStyle/>
          <a:p>
            <a:endParaRPr lang="fr-FR"/>
          </a:p>
        </p:txBody>
      </p:sp>
      <p:sp>
        <p:nvSpPr>
          <p:cNvPr id="17" name="Text 15"/>
          <p:cNvSpPr/>
          <p:nvPr/>
        </p:nvSpPr>
        <p:spPr>
          <a:xfrm>
            <a:off x="7391400" y="2270764"/>
            <a:ext cx="39452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Asterisk</a:t>
            </a:r>
            <a:endParaRPr lang="en-US" sz="1500" dirty="0"/>
          </a:p>
        </p:txBody>
      </p:sp>
      <p:sp>
        <p:nvSpPr>
          <p:cNvPr id="18" name="Text 16"/>
          <p:cNvSpPr/>
          <p:nvPr/>
        </p:nvSpPr>
        <p:spPr>
          <a:xfrm>
            <a:off x="7391400" y="2537464"/>
            <a:ext cx="3945230"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PBX logiciel open source ; SIP via PJSIP.</a:t>
            </a:r>
            <a:endParaRPr lang="en-US" sz="1200" dirty="0"/>
          </a:p>
        </p:txBody>
      </p:sp>
      <p:sp>
        <p:nvSpPr>
          <p:cNvPr id="19" name="Shape 17"/>
          <p:cNvSpPr/>
          <p:nvPr/>
        </p:nvSpPr>
        <p:spPr>
          <a:xfrm>
            <a:off x="7237095" y="2980054"/>
            <a:ext cx="4138930" cy="935990"/>
          </a:xfrm>
          <a:prstGeom prst="roundRect">
            <a:avLst>
              <a:gd name="adj" fmla="val 7802"/>
            </a:avLst>
          </a:prstGeom>
          <a:solidFill>
            <a:srgbClr val="FBFDFF"/>
          </a:solidFill>
          <a:ln w="6350">
            <a:solidFill>
              <a:srgbClr val="D5DEE9"/>
            </a:solidFill>
            <a:prstDash val="solid"/>
          </a:ln>
        </p:spPr>
        <p:txBody>
          <a:bodyPr/>
          <a:lstStyle/>
          <a:p>
            <a:endParaRPr lang="fr-FR"/>
          </a:p>
        </p:txBody>
      </p:sp>
      <p:sp>
        <p:nvSpPr>
          <p:cNvPr id="20" name="Text 18"/>
          <p:cNvSpPr/>
          <p:nvPr/>
        </p:nvSpPr>
        <p:spPr>
          <a:xfrm>
            <a:off x="7391400" y="3108964"/>
            <a:ext cx="39452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3CX</a:t>
            </a:r>
            <a:endParaRPr lang="en-US" sz="1500" dirty="0"/>
          </a:p>
        </p:txBody>
      </p:sp>
      <p:sp>
        <p:nvSpPr>
          <p:cNvPr id="21" name="Text 19"/>
          <p:cNvSpPr/>
          <p:nvPr/>
        </p:nvSpPr>
        <p:spPr>
          <a:xfrm>
            <a:off x="7391400" y="3375664"/>
            <a:ext cx="3945230"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PBX et UC logiciels, sur Windows, Linux ou hébergés.</a:t>
            </a:r>
            <a:endParaRPr lang="en-US" sz="1200" dirty="0"/>
          </a:p>
        </p:txBody>
      </p:sp>
      <p:sp>
        <p:nvSpPr>
          <p:cNvPr id="22" name="Text 20"/>
          <p:cNvSpPr/>
          <p:nvPr/>
        </p:nvSpPr>
        <p:spPr>
          <a:xfrm>
            <a:off x="7233920" y="4020821"/>
            <a:ext cx="4145280" cy="459740"/>
          </a:xfrm>
          <a:prstGeom prst="roundRect">
            <a:avLst>
              <a:gd name="adj" fmla="val 16575"/>
            </a:avLst>
          </a:prstGeom>
          <a:solidFill>
            <a:srgbClr val="0B1F3A"/>
          </a:solidFill>
          <a:ln/>
        </p:spPr>
        <p:txBody>
          <a:bodyPr wrap="square" lIns="130082" tIns="104682" rIns="14867" bIns="79282" rtlCol="0" anchor="t">
            <a:normAutofit/>
          </a:bodyPr>
          <a:lstStyle/>
          <a:p>
            <a:pPr marL="0" indent="0" algn="l">
              <a:lnSpc>
                <a:spcPts val="1620"/>
              </a:lnSpc>
              <a:buNone/>
            </a:pPr>
            <a:r>
              <a:rPr lang="en-US" sz="1200" dirty="0">
                <a:solidFill>
                  <a:srgbClr val="F3F6FA"/>
                </a:solidFill>
                <a:latin typeface="Inter" pitchFamily="34" charset="0"/>
                <a:ea typeface="Inter" pitchFamily="34" charset="-122"/>
                <a:cs typeface="Inter" pitchFamily="34" charset="-120"/>
              </a:rPr>
              <a:t>Différence clé : qui exploite l’infrastructure.</a:t>
            </a:r>
            <a:endParaRPr lang="en-US" sz="1200" dirty="0"/>
          </a:p>
        </p:txBody>
      </p:sp>
      <p:sp>
        <p:nvSpPr>
          <p:cNvPr id="23" name="Text 2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Inter" pitchFamily="34" charset="0"/>
                <a:ea typeface="Inter" pitchFamily="34" charset="-122"/>
                <a:cs typeface="Inter" pitchFamily="34" charset="-120"/>
              </a:rPr>
              <a:t>Descriptions générales, sans comparaison commerciale. Fonctions et offres évoluent : voir les documentations officielles.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838200" y="812800"/>
            <a:ext cx="0" cy="213360"/>
          </a:xfrm>
          <a:prstGeom prst="line">
            <a:avLst/>
          </a:prstGeom>
          <a:noFill/>
          <a:ln w="50800">
            <a:solidFill>
              <a:srgbClr val="FF7A1A"/>
            </a:solidFill>
            <a:prstDash val="solid"/>
          </a:ln>
        </p:spPr>
        <p:txBody>
          <a:bodyPr/>
          <a:lstStyle/>
          <a:p>
            <a:endParaRPr lang="fr-FR"/>
          </a:p>
        </p:txBody>
      </p:sp>
      <p:sp>
        <p:nvSpPr>
          <p:cNvPr id="3" name="Text 1"/>
          <p:cNvSpPr/>
          <p:nvPr/>
        </p:nvSpPr>
        <p:spPr>
          <a:xfrm>
            <a:off x="965200" y="812800"/>
            <a:ext cx="107264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CAS D’UTILISATION</a:t>
            </a:r>
            <a:endParaRPr lang="en-US" sz="1200" dirty="0"/>
          </a:p>
        </p:txBody>
      </p:sp>
      <p:sp>
        <p:nvSpPr>
          <p:cNvPr id="4" name="Text 2"/>
          <p:cNvSpPr>
            <a:spLocks noGrp="1"/>
          </p:cNvSpPr>
          <p:nvPr>
            <p:ph type="title"/>
          </p:nvPr>
        </p:nvSpPr>
        <p:spPr>
          <a:xfrm>
            <a:off x="812800" y="1229358"/>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1F3A"/>
                </a:solidFill>
                <a:latin typeface="Space Grotesk" pitchFamily="34" charset="0"/>
                <a:ea typeface="Space Grotesk" pitchFamily="34" charset="-122"/>
                <a:cs typeface="Space Grotesk" pitchFamily="34" charset="-120"/>
              </a:rPr>
              <a:t>Six contextes, un même besoin de cohérence</a:t>
            </a:r>
            <a:endParaRPr lang="en-US" sz="2800" dirty="0"/>
          </a:p>
        </p:txBody>
      </p:sp>
      <p:sp>
        <p:nvSpPr>
          <p:cNvPr id="5" name="Shape 3"/>
          <p:cNvSpPr/>
          <p:nvPr/>
        </p:nvSpPr>
        <p:spPr>
          <a:xfrm>
            <a:off x="815975" y="1826902"/>
            <a:ext cx="3431064" cy="1062990"/>
          </a:xfrm>
          <a:prstGeom prst="roundRect">
            <a:avLst>
              <a:gd name="adj" fmla="val 6870"/>
            </a:avLst>
          </a:prstGeom>
          <a:solidFill>
            <a:srgbClr val="FBFDFF"/>
          </a:solidFill>
          <a:ln w="6350">
            <a:solidFill>
              <a:srgbClr val="D5DEE9"/>
            </a:solidFill>
            <a:prstDash val="solid"/>
          </a:ln>
        </p:spPr>
        <p:txBody>
          <a:bodyPr/>
          <a:lstStyle/>
          <a:p>
            <a:endParaRPr lang="fr-FR"/>
          </a:p>
        </p:txBody>
      </p:sp>
      <p:sp>
        <p:nvSpPr>
          <p:cNvPr id="6" name="Text 4"/>
          <p:cNvSpPr/>
          <p:nvPr/>
        </p:nvSpPr>
        <p:spPr>
          <a:xfrm>
            <a:off x="995680" y="2006600"/>
            <a:ext cx="31638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Entreprises</a:t>
            </a:r>
            <a:endParaRPr lang="en-US" sz="1500" dirty="0"/>
          </a:p>
        </p:txBody>
      </p:sp>
      <p:sp>
        <p:nvSpPr>
          <p:cNvPr id="7" name="Text 5"/>
          <p:cNvSpPr/>
          <p:nvPr/>
        </p:nvSpPr>
        <p:spPr>
          <a:xfrm>
            <a:off x="995680" y="2298700"/>
            <a:ext cx="3163803"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Standard unique, annuaire commun, appels vers les clients.</a:t>
            </a:r>
            <a:endParaRPr lang="en-US" sz="1200" dirty="0"/>
          </a:p>
        </p:txBody>
      </p:sp>
      <p:sp>
        <p:nvSpPr>
          <p:cNvPr id="8" name="Shape 6"/>
          <p:cNvSpPr/>
          <p:nvPr/>
        </p:nvSpPr>
        <p:spPr>
          <a:xfrm>
            <a:off x="4380389" y="1826902"/>
            <a:ext cx="3431143" cy="1062990"/>
          </a:xfrm>
          <a:prstGeom prst="roundRect">
            <a:avLst>
              <a:gd name="adj" fmla="val 6870"/>
            </a:avLst>
          </a:prstGeom>
          <a:solidFill>
            <a:srgbClr val="FBFDFF"/>
          </a:solidFill>
          <a:ln w="6350">
            <a:solidFill>
              <a:srgbClr val="D5DEE9"/>
            </a:solidFill>
            <a:prstDash val="solid"/>
          </a:ln>
        </p:spPr>
        <p:txBody>
          <a:bodyPr/>
          <a:lstStyle/>
          <a:p>
            <a:endParaRPr lang="fr-FR"/>
          </a:p>
        </p:txBody>
      </p:sp>
      <p:sp>
        <p:nvSpPr>
          <p:cNvPr id="9" name="Text 7"/>
          <p:cNvSpPr/>
          <p:nvPr/>
        </p:nvSpPr>
        <p:spPr>
          <a:xfrm>
            <a:off x="4560094" y="2006600"/>
            <a:ext cx="316388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Universités et écoles</a:t>
            </a:r>
            <a:endParaRPr lang="en-US" sz="1500" dirty="0"/>
          </a:p>
        </p:txBody>
      </p:sp>
      <p:sp>
        <p:nvSpPr>
          <p:cNvPr id="10" name="Text 8"/>
          <p:cNvSpPr/>
          <p:nvPr/>
        </p:nvSpPr>
        <p:spPr>
          <a:xfrm>
            <a:off x="4560094" y="2298700"/>
            <a:ext cx="3163885"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Cours à distance, annonces, échanges enseignants et étudiants.</a:t>
            </a:r>
            <a:endParaRPr lang="en-US" sz="1200" dirty="0"/>
          </a:p>
        </p:txBody>
      </p:sp>
      <p:sp>
        <p:nvSpPr>
          <p:cNvPr id="11" name="Shape 9"/>
          <p:cNvSpPr/>
          <p:nvPr/>
        </p:nvSpPr>
        <p:spPr>
          <a:xfrm>
            <a:off x="7944882" y="1826902"/>
            <a:ext cx="3431143" cy="1062990"/>
          </a:xfrm>
          <a:prstGeom prst="roundRect">
            <a:avLst>
              <a:gd name="adj" fmla="val 6870"/>
            </a:avLst>
          </a:prstGeom>
          <a:solidFill>
            <a:srgbClr val="FBFDFF"/>
          </a:solidFill>
          <a:ln w="6350">
            <a:solidFill>
              <a:srgbClr val="D5DEE9"/>
            </a:solidFill>
            <a:prstDash val="solid"/>
          </a:ln>
        </p:spPr>
        <p:txBody>
          <a:bodyPr/>
          <a:lstStyle/>
          <a:p>
            <a:endParaRPr lang="fr-FR"/>
          </a:p>
        </p:txBody>
      </p:sp>
      <p:sp>
        <p:nvSpPr>
          <p:cNvPr id="12" name="Text 10"/>
          <p:cNvSpPr/>
          <p:nvPr/>
        </p:nvSpPr>
        <p:spPr>
          <a:xfrm>
            <a:off x="8124587" y="2006600"/>
            <a:ext cx="316388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Télétravail</a:t>
            </a:r>
            <a:endParaRPr lang="en-US" sz="1500" dirty="0"/>
          </a:p>
        </p:txBody>
      </p:sp>
      <p:sp>
        <p:nvSpPr>
          <p:cNvPr id="13" name="Text 11"/>
          <p:cNvSpPr/>
          <p:nvPr/>
        </p:nvSpPr>
        <p:spPr>
          <a:xfrm>
            <a:off x="8124587" y="2298700"/>
            <a:ext cx="3163885"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Même compte et même présence, où que l’on soit.</a:t>
            </a:r>
            <a:endParaRPr lang="en-US" sz="1200" dirty="0"/>
          </a:p>
        </p:txBody>
      </p:sp>
      <p:sp>
        <p:nvSpPr>
          <p:cNvPr id="14" name="Shape 12"/>
          <p:cNvSpPr/>
          <p:nvPr/>
        </p:nvSpPr>
        <p:spPr>
          <a:xfrm>
            <a:off x="815975" y="3023233"/>
            <a:ext cx="3431064" cy="1062990"/>
          </a:xfrm>
          <a:prstGeom prst="roundRect">
            <a:avLst>
              <a:gd name="adj" fmla="val 6870"/>
            </a:avLst>
          </a:prstGeom>
          <a:solidFill>
            <a:srgbClr val="FBFDFF"/>
          </a:solidFill>
          <a:ln w="6350">
            <a:solidFill>
              <a:srgbClr val="D5DEE9"/>
            </a:solidFill>
            <a:prstDash val="solid"/>
          </a:ln>
        </p:spPr>
        <p:txBody>
          <a:bodyPr/>
          <a:lstStyle/>
          <a:p>
            <a:endParaRPr lang="fr-FR"/>
          </a:p>
        </p:txBody>
      </p:sp>
      <p:sp>
        <p:nvSpPr>
          <p:cNvPr id="15" name="Text 13"/>
          <p:cNvSpPr/>
          <p:nvPr/>
        </p:nvSpPr>
        <p:spPr>
          <a:xfrm>
            <a:off x="995680" y="3202942"/>
            <a:ext cx="31638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Centres de contact</a:t>
            </a:r>
            <a:endParaRPr lang="en-US" sz="1500" dirty="0"/>
          </a:p>
        </p:txBody>
      </p:sp>
      <p:sp>
        <p:nvSpPr>
          <p:cNvPr id="16" name="Text 14"/>
          <p:cNvSpPr/>
          <p:nvPr/>
        </p:nvSpPr>
        <p:spPr>
          <a:xfrm>
            <a:off x="995680" y="3495042"/>
            <a:ext cx="3163803"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Files d’attente, transferts d’appel, historique des échanges.</a:t>
            </a:r>
            <a:endParaRPr lang="en-US" sz="1200" dirty="0"/>
          </a:p>
        </p:txBody>
      </p:sp>
      <p:sp>
        <p:nvSpPr>
          <p:cNvPr id="17" name="Shape 15"/>
          <p:cNvSpPr/>
          <p:nvPr/>
        </p:nvSpPr>
        <p:spPr>
          <a:xfrm>
            <a:off x="4380389" y="3023233"/>
            <a:ext cx="3431143" cy="1062990"/>
          </a:xfrm>
          <a:prstGeom prst="roundRect">
            <a:avLst>
              <a:gd name="adj" fmla="val 6870"/>
            </a:avLst>
          </a:prstGeom>
          <a:solidFill>
            <a:srgbClr val="FBFDFF"/>
          </a:solidFill>
          <a:ln w="6350">
            <a:solidFill>
              <a:srgbClr val="D5DEE9"/>
            </a:solidFill>
            <a:prstDash val="solid"/>
          </a:ln>
        </p:spPr>
        <p:txBody>
          <a:bodyPr/>
          <a:lstStyle/>
          <a:p>
            <a:endParaRPr lang="fr-FR"/>
          </a:p>
        </p:txBody>
      </p:sp>
      <p:sp>
        <p:nvSpPr>
          <p:cNvPr id="18" name="Text 16"/>
          <p:cNvSpPr/>
          <p:nvPr/>
        </p:nvSpPr>
        <p:spPr>
          <a:xfrm>
            <a:off x="4560094" y="3202942"/>
            <a:ext cx="316388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Administrations</a:t>
            </a:r>
            <a:endParaRPr lang="en-US" sz="1500" dirty="0"/>
          </a:p>
        </p:txBody>
      </p:sp>
      <p:sp>
        <p:nvSpPr>
          <p:cNvPr id="19" name="Text 17"/>
          <p:cNvSpPr/>
          <p:nvPr/>
        </p:nvSpPr>
        <p:spPr>
          <a:xfrm>
            <a:off x="4560094" y="3495042"/>
            <a:ext cx="3163885"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Échanges entre services, avec contrôle des accès et des données.</a:t>
            </a:r>
            <a:endParaRPr lang="en-US" sz="1200" dirty="0"/>
          </a:p>
        </p:txBody>
      </p:sp>
      <p:sp>
        <p:nvSpPr>
          <p:cNvPr id="20" name="Shape 18"/>
          <p:cNvSpPr/>
          <p:nvPr/>
        </p:nvSpPr>
        <p:spPr>
          <a:xfrm>
            <a:off x="7944882" y="3023233"/>
            <a:ext cx="3431143" cy="1062990"/>
          </a:xfrm>
          <a:prstGeom prst="roundRect">
            <a:avLst>
              <a:gd name="adj" fmla="val 6870"/>
            </a:avLst>
          </a:prstGeom>
          <a:solidFill>
            <a:srgbClr val="FBFDFF"/>
          </a:solidFill>
          <a:ln w="6350">
            <a:solidFill>
              <a:srgbClr val="D5DEE9"/>
            </a:solidFill>
            <a:prstDash val="solid"/>
          </a:ln>
        </p:spPr>
        <p:txBody>
          <a:bodyPr/>
          <a:lstStyle/>
          <a:p>
            <a:endParaRPr lang="fr-FR"/>
          </a:p>
        </p:txBody>
      </p:sp>
      <p:sp>
        <p:nvSpPr>
          <p:cNvPr id="21" name="Text 19"/>
          <p:cNvSpPr/>
          <p:nvPr/>
        </p:nvSpPr>
        <p:spPr>
          <a:xfrm>
            <a:off x="8124587" y="3202942"/>
            <a:ext cx="316388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Équipes techniques</a:t>
            </a:r>
            <a:endParaRPr lang="en-US" sz="1500" dirty="0"/>
          </a:p>
        </p:txBody>
      </p:sp>
      <p:sp>
        <p:nvSpPr>
          <p:cNvPr id="22" name="Text 20"/>
          <p:cNvSpPr/>
          <p:nvPr/>
        </p:nvSpPr>
        <p:spPr>
          <a:xfrm>
            <a:off x="8124587" y="3495042"/>
            <a:ext cx="3163885"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Supervision : alerte, appel et partage d’écran au même endroit.</a:t>
            </a:r>
            <a:endParaRPr lang="en-US" sz="1200" dirty="0"/>
          </a:p>
        </p:txBody>
      </p:sp>
      <p:sp>
        <p:nvSpPr>
          <p:cNvPr id="23" name="Text 2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Inter" pitchFamily="34" charset="0"/>
                <a:ea typeface="Inter" pitchFamily="34" charset="-122"/>
                <a:cs typeface="Inter" pitchFamily="34" charset="-120"/>
              </a:rPr>
              <a:t>Usages typiques, présentés à titre d’illustration.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F7A1A"/>
                </a:solidFill>
                <a:latin typeface="JetBrains Mono" pitchFamily="49" charset="0"/>
                <a:ea typeface="JetBrains Mono" pitchFamily="49" charset="-122"/>
                <a:cs typeface="JetBrains Mono" pitchFamily="49" charset="-120"/>
              </a:rPr>
              <a:t>SÉCURITÉ ET CONFIDENTIALITÉ</a:t>
            </a:r>
            <a:endParaRPr lang="en-US" sz="1200" dirty="0"/>
          </a:p>
        </p:txBody>
      </p:sp>
      <p:sp>
        <p:nvSpPr>
          <p:cNvPr id="3" name="Text 1"/>
          <p:cNvSpPr>
            <a:spLocks noGrp="1"/>
          </p:cNvSpPr>
          <p:nvPr>
            <p:ph type="title"/>
          </p:nvPr>
        </p:nvSpPr>
        <p:spPr>
          <a:xfrm>
            <a:off x="812800" y="1229358"/>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3F6FA"/>
                </a:solidFill>
                <a:latin typeface="Space Grotesk" pitchFamily="34" charset="0"/>
                <a:ea typeface="Space Grotesk" pitchFamily="34" charset="-122"/>
                <a:cs typeface="Space Grotesk" pitchFamily="34" charset="-120"/>
              </a:rPr>
              <a:t>Protéger les flux, les comptes et les données</a:t>
            </a:r>
            <a:endParaRPr lang="en-US" sz="2800" dirty="0"/>
          </a:p>
        </p:txBody>
      </p:sp>
      <p:sp>
        <p:nvSpPr>
          <p:cNvPr id="4" name="Shape 2"/>
          <p:cNvSpPr/>
          <p:nvPr/>
        </p:nvSpPr>
        <p:spPr>
          <a:xfrm>
            <a:off x="812800" y="1823727"/>
            <a:ext cx="2908300" cy="1300480"/>
          </a:xfrm>
          <a:prstGeom prst="roundRect">
            <a:avLst>
              <a:gd name="adj" fmla="val 7813"/>
            </a:avLst>
          </a:prstGeom>
          <a:solidFill>
            <a:srgbClr val="12305A"/>
          </a:solidFill>
          <a:ln/>
        </p:spPr>
        <p:txBody>
          <a:bodyPr/>
          <a:lstStyle/>
          <a:p>
            <a:endParaRPr lang="fr-FR"/>
          </a:p>
        </p:txBody>
      </p:sp>
      <p:sp>
        <p:nvSpPr>
          <p:cNvPr id="5" name="Shape 3"/>
          <p:cNvSpPr/>
          <p:nvPr/>
        </p:nvSpPr>
        <p:spPr>
          <a:xfrm>
            <a:off x="812800" y="1823727"/>
            <a:ext cx="2908300" cy="1300480"/>
          </a:xfrm>
          <a:custGeom>
            <a:avLst/>
            <a:gdLst/>
            <a:ahLst/>
            <a:cxnLst/>
            <a:rect l="l" t="t" r="r" b="b"/>
            <a:pathLst>
              <a:path w="2908300" h="1300480">
                <a:moveTo>
                  <a:pt x="0" y="101600"/>
                </a:moveTo>
                <a:lnTo>
                  <a:pt x="0" y="101600"/>
                </a:lnTo>
                <a:arcTo wR="101600" hR="101600" stAng="10800000" swAng="5400000"/>
                <a:lnTo>
                  <a:pt x="2806700" y="0"/>
                </a:lnTo>
                <a:arcTo wR="101600" hR="101600" stAng="16200000" swAng="5400000"/>
                <a:lnTo>
                  <a:pt x="2908300" y="101600"/>
                </a:lnTo>
                <a:arcTo wR="101600" hR="63500" stAng="0" swAng="-5400000"/>
                <a:lnTo>
                  <a:pt x="101600" y="38100"/>
                </a:lnTo>
                <a:arcTo wR="101600" hR="63500" stAng="16200000" swAng="-5400000"/>
                <a:close/>
              </a:path>
            </a:pathLst>
          </a:custGeom>
          <a:solidFill>
            <a:srgbClr val="17A398"/>
          </a:solidFill>
          <a:ln/>
        </p:spPr>
        <p:txBody>
          <a:bodyPr/>
          <a:lstStyle/>
          <a:p>
            <a:endParaRPr lang="fr-FR"/>
          </a:p>
        </p:txBody>
      </p:sp>
      <p:sp>
        <p:nvSpPr>
          <p:cNvPr id="6" name="Text 4"/>
          <p:cNvSpPr/>
          <p:nvPr/>
        </p:nvSpPr>
        <p:spPr>
          <a:xfrm>
            <a:off x="990600" y="2037085"/>
            <a:ext cx="26292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F6FA"/>
                </a:solidFill>
                <a:latin typeface="Space Grotesk" pitchFamily="34" charset="0"/>
                <a:ea typeface="Space Grotesk" pitchFamily="34" charset="-122"/>
                <a:cs typeface="Space Grotesk" pitchFamily="34" charset="-120"/>
              </a:rPr>
              <a:t>Identité et accès</a:t>
            </a:r>
            <a:endParaRPr lang="en-US" sz="1500" dirty="0"/>
          </a:p>
        </p:txBody>
      </p:sp>
      <p:sp>
        <p:nvSpPr>
          <p:cNvPr id="7" name="Text 5"/>
          <p:cNvSpPr/>
          <p:nvPr/>
        </p:nvSpPr>
        <p:spPr>
          <a:xfrm>
            <a:off x="990600" y="2329185"/>
            <a:ext cx="2629281"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Authentification multifacteur, droits minimaux, comptes administrateur séparés.</a:t>
            </a:r>
            <a:endParaRPr lang="en-US" sz="1200" dirty="0"/>
          </a:p>
        </p:txBody>
      </p:sp>
      <p:sp>
        <p:nvSpPr>
          <p:cNvPr id="8" name="Shape 6"/>
          <p:cNvSpPr/>
          <p:nvPr/>
        </p:nvSpPr>
        <p:spPr>
          <a:xfrm>
            <a:off x="3848100" y="1823727"/>
            <a:ext cx="2908300" cy="1300480"/>
          </a:xfrm>
          <a:prstGeom prst="roundRect">
            <a:avLst>
              <a:gd name="adj" fmla="val 7813"/>
            </a:avLst>
          </a:prstGeom>
          <a:solidFill>
            <a:srgbClr val="12305A"/>
          </a:solidFill>
          <a:ln/>
        </p:spPr>
        <p:txBody>
          <a:bodyPr/>
          <a:lstStyle/>
          <a:p>
            <a:endParaRPr lang="fr-FR"/>
          </a:p>
        </p:txBody>
      </p:sp>
      <p:sp>
        <p:nvSpPr>
          <p:cNvPr id="9" name="Shape 7"/>
          <p:cNvSpPr/>
          <p:nvPr/>
        </p:nvSpPr>
        <p:spPr>
          <a:xfrm>
            <a:off x="3848100" y="1823727"/>
            <a:ext cx="2908300" cy="1300480"/>
          </a:xfrm>
          <a:custGeom>
            <a:avLst/>
            <a:gdLst/>
            <a:ahLst/>
            <a:cxnLst/>
            <a:rect l="l" t="t" r="r" b="b"/>
            <a:pathLst>
              <a:path w="2908300" h="1300480">
                <a:moveTo>
                  <a:pt x="0" y="101600"/>
                </a:moveTo>
                <a:lnTo>
                  <a:pt x="0" y="101600"/>
                </a:lnTo>
                <a:arcTo wR="101600" hR="101600" stAng="10800000" swAng="5400000"/>
                <a:lnTo>
                  <a:pt x="2806700" y="0"/>
                </a:lnTo>
                <a:arcTo wR="101600" hR="101600" stAng="16200000" swAng="5400000"/>
                <a:lnTo>
                  <a:pt x="2908300" y="101600"/>
                </a:lnTo>
                <a:arcTo wR="101600" hR="63500" stAng="0" swAng="-5400000"/>
                <a:lnTo>
                  <a:pt x="101600" y="38100"/>
                </a:lnTo>
                <a:arcTo wR="101600" hR="63500" stAng="16200000" swAng="-5400000"/>
                <a:close/>
              </a:path>
            </a:pathLst>
          </a:custGeom>
          <a:solidFill>
            <a:srgbClr val="17A398"/>
          </a:solidFill>
          <a:ln/>
        </p:spPr>
        <p:txBody>
          <a:bodyPr/>
          <a:lstStyle/>
          <a:p>
            <a:endParaRPr lang="fr-FR"/>
          </a:p>
        </p:txBody>
      </p:sp>
      <p:sp>
        <p:nvSpPr>
          <p:cNvPr id="10" name="Text 8"/>
          <p:cNvSpPr/>
          <p:nvPr/>
        </p:nvSpPr>
        <p:spPr>
          <a:xfrm>
            <a:off x="4025900" y="2037085"/>
            <a:ext cx="26292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F6FA"/>
                </a:solidFill>
                <a:latin typeface="Space Grotesk" pitchFamily="34" charset="0"/>
                <a:ea typeface="Space Grotesk" pitchFamily="34" charset="-122"/>
                <a:cs typeface="Space Grotesk" pitchFamily="34" charset="-120"/>
              </a:rPr>
              <a:t>Chiffrement</a:t>
            </a:r>
            <a:endParaRPr lang="en-US" sz="1500" dirty="0"/>
          </a:p>
        </p:txBody>
      </p:sp>
      <p:sp>
        <p:nvSpPr>
          <p:cNvPr id="11" name="Text 9"/>
          <p:cNvSpPr/>
          <p:nvPr/>
        </p:nvSpPr>
        <p:spPr>
          <a:xfrm>
            <a:off x="4025900" y="2329185"/>
            <a:ext cx="2629281"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TLS pour la signalisation, SRTP pour les médias.</a:t>
            </a:r>
            <a:endParaRPr lang="en-US" sz="1200" dirty="0"/>
          </a:p>
        </p:txBody>
      </p:sp>
      <p:sp>
        <p:nvSpPr>
          <p:cNvPr id="12" name="Shape 10"/>
          <p:cNvSpPr/>
          <p:nvPr/>
        </p:nvSpPr>
        <p:spPr>
          <a:xfrm>
            <a:off x="812800" y="3251200"/>
            <a:ext cx="2908300" cy="1300480"/>
          </a:xfrm>
          <a:prstGeom prst="roundRect">
            <a:avLst>
              <a:gd name="adj" fmla="val 7813"/>
            </a:avLst>
          </a:prstGeom>
          <a:solidFill>
            <a:srgbClr val="12305A"/>
          </a:solidFill>
          <a:ln/>
        </p:spPr>
        <p:txBody>
          <a:bodyPr/>
          <a:lstStyle/>
          <a:p>
            <a:endParaRPr lang="fr-FR"/>
          </a:p>
        </p:txBody>
      </p:sp>
      <p:sp>
        <p:nvSpPr>
          <p:cNvPr id="13" name="Shape 11"/>
          <p:cNvSpPr/>
          <p:nvPr/>
        </p:nvSpPr>
        <p:spPr>
          <a:xfrm>
            <a:off x="812800" y="3251200"/>
            <a:ext cx="2908300" cy="1300480"/>
          </a:xfrm>
          <a:custGeom>
            <a:avLst/>
            <a:gdLst/>
            <a:ahLst/>
            <a:cxnLst/>
            <a:rect l="l" t="t" r="r" b="b"/>
            <a:pathLst>
              <a:path w="2908300" h="1300480">
                <a:moveTo>
                  <a:pt x="0" y="101600"/>
                </a:moveTo>
                <a:lnTo>
                  <a:pt x="0" y="101600"/>
                </a:lnTo>
                <a:arcTo wR="101600" hR="101600" stAng="10800000" swAng="5400000"/>
                <a:lnTo>
                  <a:pt x="2806700" y="0"/>
                </a:lnTo>
                <a:arcTo wR="101600" hR="101600" stAng="16200000" swAng="5400000"/>
                <a:lnTo>
                  <a:pt x="2908300" y="101600"/>
                </a:lnTo>
                <a:arcTo wR="101600" hR="63500" stAng="0" swAng="-5400000"/>
                <a:lnTo>
                  <a:pt x="101600" y="38100"/>
                </a:lnTo>
                <a:arcTo wR="101600" hR="63500" stAng="16200000" swAng="-5400000"/>
                <a:close/>
              </a:path>
            </a:pathLst>
          </a:custGeom>
          <a:solidFill>
            <a:srgbClr val="17A398"/>
          </a:solidFill>
          <a:ln/>
        </p:spPr>
        <p:txBody>
          <a:bodyPr/>
          <a:lstStyle/>
          <a:p>
            <a:endParaRPr lang="fr-FR"/>
          </a:p>
        </p:txBody>
      </p:sp>
      <p:sp>
        <p:nvSpPr>
          <p:cNvPr id="14" name="Text 12"/>
          <p:cNvSpPr/>
          <p:nvPr/>
        </p:nvSpPr>
        <p:spPr>
          <a:xfrm>
            <a:off x="990600" y="3464558"/>
            <a:ext cx="26292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F6FA"/>
                </a:solidFill>
                <a:latin typeface="Space Grotesk" pitchFamily="34" charset="0"/>
                <a:ea typeface="Space Grotesk" pitchFamily="34" charset="-122"/>
                <a:cs typeface="Space Grotesk" pitchFamily="34" charset="-120"/>
              </a:rPr>
              <a:t>Serveurs et équipements</a:t>
            </a:r>
            <a:endParaRPr lang="en-US" sz="1500" dirty="0"/>
          </a:p>
        </p:txBody>
      </p:sp>
      <p:sp>
        <p:nvSpPr>
          <p:cNvPr id="15" name="Text 13"/>
          <p:cNvSpPr/>
          <p:nvPr/>
        </p:nvSpPr>
        <p:spPr>
          <a:xfrm>
            <a:off x="990600" y="3756658"/>
            <a:ext cx="2629281"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Mises à jour, services inutiles désactivés, pare-feu, administration limitée.</a:t>
            </a:r>
            <a:endParaRPr lang="en-US" sz="1200" dirty="0"/>
          </a:p>
        </p:txBody>
      </p:sp>
      <p:sp>
        <p:nvSpPr>
          <p:cNvPr id="16" name="Shape 14"/>
          <p:cNvSpPr/>
          <p:nvPr/>
        </p:nvSpPr>
        <p:spPr>
          <a:xfrm>
            <a:off x="3848100" y="3251200"/>
            <a:ext cx="2908300" cy="1300480"/>
          </a:xfrm>
          <a:prstGeom prst="roundRect">
            <a:avLst>
              <a:gd name="adj" fmla="val 7813"/>
            </a:avLst>
          </a:prstGeom>
          <a:solidFill>
            <a:srgbClr val="12305A"/>
          </a:solidFill>
          <a:ln/>
        </p:spPr>
        <p:txBody>
          <a:bodyPr/>
          <a:lstStyle/>
          <a:p>
            <a:endParaRPr lang="fr-FR"/>
          </a:p>
        </p:txBody>
      </p:sp>
      <p:sp>
        <p:nvSpPr>
          <p:cNvPr id="17" name="Shape 15"/>
          <p:cNvSpPr/>
          <p:nvPr/>
        </p:nvSpPr>
        <p:spPr>
          <a:xfrm>
            <a:off x="3848100" y="3251200"/>
            <a:ext cx="2908300" cy="1300480"/>
          </a:xfrm>
          <a:custGeom>
            <a:avLst/>
            <a:gdLst/>
            <a:ahLst/>
            <a:cxnLst/>
            <a:rect l="l" t="t" r="r" b="b"/>
            <a:pathLst>
              <a:path w="2908300" h="1300480">
                <a:moveTo>
                  <a:pt x="0" y="101600"/>
                </a:moveTo>
                <a:lnTo>
                  <a:pt x="0" y="101600"/>
                </a:lnTo>
                <a:arcTo wR="101600" hR="101600" stAng="10800000" swAng="5400000"/>
                <a:lnTo>
                  <a:pt x="2806700" y="0"/>
                </a:lnTo>
                <a:arcTo wR="101600" hR="101600" stAng="16200000" swAng="5400000"/>
                <a:lnTo>
                  <a:pt x="2908300" y="101600"/>
                </a:lnTo>
                <a:arcTo wR="101600" hR="63500" stAng="0" swAng="-5400000"/>
                <a:lnTo>
                  <a:pt x="101600" y="38100"/>
                </a:lnTo>
                <a:arcTo wR="101600" hR="63500" stAng="16200000" swAng="-5400000"/>
                <a:close/>
              </a:path>
            </a:pathLst>
          </a:custGeom>
          <a:solidFill>
            <a:srgbClr val="17A398"/>
          </a:solidFill>
          <a:ln/>
        </p:spPr>
        <p:txBody>
          <a:bodyPr/>
          <a:lstStyle/>
          <a:p>
            <a:endParaRPr lang="fr-FR"/>
          </a:p>
        </p:txBody>
      </p:sp>
      <p:sp>
        <p:nvSpPr>
          <p:cNvPr id="18" name="Text 16"/>
          <p:cNvSpPr/>
          <p:nvPr/>
        </p:nvSpPr>
        <p:spPr>
          <a:xfrm>
            <a:off x="4025900" y="3464558"/>
            <a:ext cx="262928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F6FA"/>
                </a:solidFill>
                <a:latin typeface="Space Grotesk" pitchFamily="34" charset="0"/>
                <a:ea typeface="Space Grotesk" pitchFamily="34" charset="-122"/>
                <a:cs typeface="Space Grotesk" pitchFamily="34" charset="-120"/>
              </a:rPr>
              <a:t>Données et continuité</a:t>
            </a:r>
            <a:endParaRPr lang="en-US" sz="1500" dirty="0"/>
          </a:p>
        </p:txBody>
      </p:sp>
      <p:sp>
        <p:nvSpPr>
          <p:cNvPr id="19" name="Text 17"/>
          <p:cNvSpPr/>
          <p:nvPr/>
        </p:nvSpPr>
        <p:spPr>
          <a:xfrm>
            <a:off x="4025900" y="3756658"/>
            <a:ext cx="2629281"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EE9"/>
                </a:solidFill>
                <a:latin typeface="Inter" pitchFamily="34" charset="0"/>
                <a:ea typeface="Inter" pitchFamily="34" charset="-122"/>
                <a:cs typeface="Inter" pitchFamily="34" charset="-120"/>
              </a:rPr>
              <a:t>Sauvegardes testées, journalisation, gestion des incidents, vie privée.</a:t>
            </a:r>
            <a:endParaRPr lang="en-US" sz="1200" dirty="0"/>
          </a:p>
        </p:txBody>
      </p:sp>
      <p:sp>
        <p:nvSpPr>
          <p:cNvPr id="20" name="Shape 18"/>
          <p:cNvSpPr/>
          <p:nvPr/>
        </p:nvSpPr>
        <p:spPr>
          <a:xfrm>
            <a:off x="6959600" y="1823727"/>
            <a:ext cx="4419600" cy="2727960"/>
          </a:xfrm>
          <a:prstGeom prst="roundRect">
            <a:avLst>
              <a:gd name="adj" fmla="val 3724"/>
            </a:avLst>
          </a:prstGeom>
          <a:solidFill>
            <a:srgbClr val="F3F6FA"/>
          </a:solidFill>
          <a:ln/>
        </p:spPr>
        <p:txBody>
          <a:bodyPr/>
          <a:lstStyle/>
          <a:p>
            <a:endParaRPr lang="fr-FR"/>
          </a:p>
        </p:txBody>
      </p:sp>
      <p:sp>
        <p:nvSpPr>
          <p:cNvPr id="21" name="Shape 19"/>
          <p:cNvSpPr/>
          <p:nvPr/>
        </p:nvSpPr>
        <p:spPr>
          <a:xfrm>
            <a:off x="6959600" y="1823727"/>
            <a:ext cx="4419600" cy="2727960"/>
          </a:xfrm>
          <a:custGeom>
            <a:avLst/>
            <a:gdLst/>
            <a:ahLst/>
            <a:cxnLst/>
            <a:rect l="l" t="t" r="r" b="b"/>
            <a:pathLst>
              <a:path w="4419600" h="2727960">
                <a:moveTo>
                  <a:pt x="101600" y="2727960"/>
                </a:moveTo>
                <a:lnTo>
                  <a:pt x="101600" y="2727960"/>
                </a:lnTo>
                <a:arcTo wR="101600" hR="101600" stAng="5400000" swAng="5400000"/>
                <a:lnTo>
                  <a:pt x="0" y="101600"/>
                </a:lnTo>
                <a:arcTo wR="101600" hR="101600" stAng="10800000" swAng="5400000"/>
                <a:lnTo>
                  <a:pt x="101600" y="0"/>
                </a:lnTo>
                <a:arcTo wR="50800" hR="101600" stAng="16200000" swAng="-5400000"/>
                <a:lnTo>
                  <a:pt x="50800" y="2626360"/>
                </a:lnTo>
                <a:arcTo wR="50800" hR="101600" stAng="10800000" swAng="-5400000"/>
                <a:close/>
              </a:path>
            </a:pathLst>
          </a:custGeom>
          <a:solidFill>
            <a:srgbClr val="FF7A1A"/>
          </a:solidFill>
          <a:ln/>
        </p:spPr>
        <p:txBody>
          <a:bodyPr/>
          <a:lstStyle/>
          <a:p>
            <a:endParaRPr lang="fr-FR"/>
          </a:p>
        </p:txBody>
      </p:sp>
      <p:sp>
        <p:nvSpPr>
          <p:cNvPr id="22" name="Text 20"/>
          <p:cNvSpPr/>
          <p:nvPr/>
        </p:nvSpPr>
        <p:spPr>
          <a:xfrm>
            <a:off x="7213600" y="2001527"/>
            <a:ext cx="408127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A"/>
                </a:solidFill>
                <a:latin typeface="Space Grotesk" pitchFamily="34" charset="0"/>
                <a:ea typeface="Space Grotesk" pitchFamily="34" charset="-122"/>
                <a:cs typeface="Space Grotesk" pitchFamily="34" charset="-120"/>
              </a:rPr>
              <a:t>Risques principaux</a:t>
            </a:r>
            <a:endParaRPr lang="en-US" sz="1600" dirty="0"/>
          </a:p>
        </p:txBody>
      </p:sp>
      <p:sp>
        <p:nvSpPr>
          <p:cNvPr id="23" name="Text 21"/>
          <p:cNvSpPr/>
          <p:nvPr/>
        </p:nvSpPr>
        <p:spPr>
          <a:xfrm>
            <a:off x="7213600" y="2346958"/>
            <a:ext cx="4081272" cy="4368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B1F3A"/>
                </a:solidFill>
                <a:latin typeface="Inter" pitchFamily="34" charset="0"/>
                <a:ea typeface="Inter" pitchFamily="34" charset="-122"/>
                <a:cs typeface="Inter" pitchFamily="34" charset="-120"/>
              </a:rPr>
              <a:t>Mauvaise configuration :</a:t>
            </a:r>
            <a:r>
              <a:rPr lang="en-US" sz="1200" dirty="0">
                <a:solidFill>
                  <a:srgbClr val="334155"/>
                </a:solidFill>
                <a:latin typeface="Inter" pitchFamily="34" charset="0"/>
                <a:ea typeface="Inter" pitchFamily="34" charset="-122"/>
                <a:cs typeface="Inter" pitchFamily="34" charset="-120"/>
              </a:rPr>
              <a:t> service exposé, mots de passe faibles.</a:t>
            </a:r>
            <a:endParaRPr lang="en-US" sz="1200" dirty="0"/>
          </a:p>
        </p:txBody>
      </p:sp>
      <p:sp>
        <p:nvSpPr>
          <p:cNvPr id="24" name="Text 22"/>
          <p:cNvSpPr/>
          <p:nvPr/>
        </p:nvSpPr>
        <p:spPr>
          <a:xfrm>
            <a:off x="7213600" y="2860042"/>
            <a:ext cx="4081272"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B1F3A"/>
                </a:solidFill>
                <a:latin typeface="Inter" pitchFamily="34" charset="0"/>
                <a:ea typeface="Inter" pitchFamily="34" charset="-122"/>
                <a:cs typeface="Inter" pitchFamily="34" charset="-120"/>
              </a:rPr>
              <a:t>Interception :</a:t>
            </a:r>
            <a:r>
              <a:rPr lang="en-US" sz="1200" dirty="0">
                <a:solidFill>
                  <a:srgbClr val="334155"/>
                </a:solidFill>
                <a:latin typeface="Inter" pitchFamily="34" charset="0"/>
                <a:ea typeface="Inter" pitchFamily="34" charset="-122"/>
                <a:cs typeface="Inter" pitchFamily="34" charset="-120"/>
              </a:rPr>
              <a:t> signalisation ou média non chiffrés.</a:t>
            </a:r>
            <a:endParaRPr lang="en-US" sz="1200" dirty="0"/>
          </a:p>
        </p:txBody>
      </p:sp>
      <p:sp>
        <p:nvSpPr>
          <p:cNvPr id="25" name="Text 23"/>
          <p:cNvSpPr/>
          <p:nvPr/>
        </p:nvSpPr>
        <p:spPr>
          <a:xfrm>
            <a:off x="7213600" y="3167385"/>
            <a:ext cx="4081272" cy="2311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B1F3A"/>
                </a:solidFill>
                <a:latin typeface="Inter" pitchFamily="34" charset="0"/>
                <a:ea typeface="Inter" pitchFamily="34" charset="-122"/>
                <a:cs typeface="Inter" pitchFamily="34" charset="-120"/>
              </a:rPr>
              <a:t>Indisponibilité :</a:t>
            </a:r>
            <a:r>
              <a:rPr lang="en-US" sz="1200" dirty="0">
                <a:solidFill>
                  <a:srgbClr val="334155"/>
                </a:solidFill>
                <a:latin typeface="Inter" pitchFamily="34" charset="0"/>
                <a:ea typeface="Inter" pitchFamily="34" charset="-122"/>
                <a:cs typeface="Inter" pitchFamily="34" charset="-120"/>
              </a:rPr>
              <a:t> panne, attaque, coupure de lien.</a:t>
            </a:r>
            <a:endParaRPr lang="en-US" sz="1200" dirty="0"/>
          </a:p>
        </p:txBody>
      </p:sp>
      <p:sp>
        <p:nvSpPr>
          <p:cNvPr id="26" name="Text 2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Mesures générales, à adapter à la plateforme et à la réglementation applicable. Source : RFC 3711 (SRTP).</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838200" y="812800"/>
            <a:ext cx="0" cy="213360"/>
          </a:xfrm>
          <a:prstGeom prst="line">
            <a:avLst/>
          </a:prstGeom>
          <a:noFill/>
          <a:ln w="50800">
            <a:solidFill>
              <a:srgbClr val="FF7A1A"/>
            </a:solidFill>
            <a:prstDash val="solid"/>
          </a:ln>
        </p:spPr>
        <p:txBody>
          <a:bodyPr/>
          <a:lstStyle/>
          <a:p>
            <a:endParaRPr lang="fr-FR"/>
          </a:p>
        </p:txBody>
      </p:sp>
      <p:sp>
        <p:nvSpPr>
          <p:cNvPr id="3" name="Text 1"/>
          <p:cNvSpPr/>
          <p:nvPr/>
        </p:nvSpPr>
        <p:spPr>
          <a:xfrm>
            <a:off x="965200" y="812800"/>
            <a:ext cx="107264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BILAN</a:t>
            </a:r>
            <a:endParaRPr lang="en-US" sz="1200" dirty="0"/>
          </a:p>
        </p:txBody>
      </p:sp>
      <p:sp>
        <p:nvSpPr>
          <p:cNvPr id="4" name="Text 2"/>
          <p:cNvSpPr>
            <a:spLocks noGrp="1"/>
          </p:cNvSpPr>
          <p:nvPr>
            <p:ph type="title"/>
          </p:nvPr>
        </p:nvSpPr>
        <p:spPr>
          <a:xfrm>
            <a:off x="812800" y="1229358"/>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1F3A"/>
                </a:solidFill>
                <a:latin typeface="Space Grotesk" pitchFamily="34" charset="0"/>
                <a:ea typeface="Space Grotesk" pitchFamily="34" charset="-122"/>
                <a:cs typeface="Space Grotesk" pitchFamily="34" charset="-120"/>
              </a:rPr>
              <a:t>Des avantages réels, des limites à connaître</a:t>
            </a:r>
            <a:endParaRPr lang="en-US" sz="2800" dirty="0"/>
          </a:p>
        </p:txBody>
      </p:sp>
      <p:sp>
        <p:nvSpPr>
          <p:cNvPr id="5" name="Shape 3"/>
          <p:cNvSpPr/>
          <p:nvPr/>
        </p:nvSpPr>
        <p:spPr>
          <a:xfrm>
            <a:off x="815975" y="1826902"/>
            <a:ext cx="5175250" cy="2386330"/>
          </a:xfrm>
          <a:prstGeom prst="roundRect">
            <a:avLst>
              <a:gd name="adj" fmla="val 4125"/>
            </a:avLst>
          </a:prstGeom>
          <a:solidFill>
            <a:srgbClr val="FBFDFF"/>
          </a:solidFill>
          <a:ln w="6350">
            <a:solidFill>
              <a:srgbClr val="D5DEE9"/>
            </a:solidFill>
            <a:prstDash val="solid"/>
          </a:ln>
        </p:spPr>
        <p:txBody>
          <a:bodyPr/>
          <a:lstStyle/>
          <a:p>
            <a:endParaRPr lang="fr-FR"/>
          </a:p>
        </p:txBody>
      </p:sp>
      <p:sp>
        <p:nvSpPr>
          <p:cNvPr id="6" name="Text 4"/>
          <p:cNvSpPr/>
          <p:nvPr/>
        </p:nvSpPr>
        <p:spPr>
          <a:xfrm>
            <a:off x="1046480" y="2032000"/>
            <a:ext cx="485566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A"/>
                </a:solidFill>
                <a:latin typeface="Space Grotesk" pitchFamily="34" charset="0"/>
                <a:ea typeface="Space Grotesk" pitchFamily="34" charset="-122"/>
                <a:cs typeface="Space Grotesk" pitchFamily="34" charset="-120"/>
              </a:rPr>
              <a:t>Avantages</a:t>
            </a:r>
            <a:endParaRPr lang="en-US" sz="1800" dirty="0"/>
          </a:p>
        </p:txBody>
      </p:sp>
      <p:sp>
        <p:nvSpPr>
          <p:cNvPr id="7" name="Text 5"/>
          <p:cNvSpPr/>
          <p:nvPr/>
        </p:nvSpPr>
        <p:spPr>
          <a:xfrm>
            <a:off x="1131062" y="2407927"/>
            <a:ext cx="4763465" cy="13589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334155"/>
                </a:solidFill>
                <a:latin typeface="Inter" pitchFamily="34" charset="0"/>
                <a:ea typeface="Inter" pitchFamily="34" charset="-122"/>
                <a:cs typeface="Inter" pitchFamily="34" charset="-120"/>
              </a:rPr>
              <a:t>Centralisation des outils</a:t>
            </a:r>
            <a:endParaRPr lang="en-US" sz="1400" dirty="0"/>
          </a:p>
          <a:p>
            <a:pPr marL="169418" indent="-169418" algn="l">
              <a:lnSpc>
                <a:spcPts val="2100"/>
              </a:lnSpc>
              <a:buSzPct val="100000"/>
              <a:buChar char="•"/>
            </a:pPr>
            <a:r>
              <a:rPr lang="en-US" sz="1400" dirty="0">
                <a:solidFill>
                  <a:srgbClr val="334155"/>
                </a:solidFill>
                <a:latin typeface="Inter" pitchFamily="34" charset="0"/>
                <a:ea typeface="Inter" pitchFamily="34" charset="-122"/>
                <a:cs typeface="Inter" pitchFamily="34" charset="-120"/>
              </a:rPr>
              <a:t>Échanges simplifiés</a:t>
            </a:r>
            <a:endParaRPr lang="en-US" sz="1400" dirty="0"/>
          </a:p>
          <a:p>
            <a:pPr marL="169418" indent="-169418" algn="l">
              <a:lnSpc>
                <a:spcPts val="2100"/>
              </a:lnSpc>
              <a:buSzPct val="100000"/>
              <a:buChar char="•"/>
            </a:pPr>
            <a:r>
              <a:rPr lang="en-US" sz="1400" dirty="0">
                <a:solidFill>
                  <a:srgbClr val="334155"/>
                </a:solidFill>
                <a:latin typeface="Inter" pitchFamily="34" charset="0"/>
                <a:ea typeface="Inter" pitchFamily="34" charset="-122"/>
                <a:cs typeface="Inter" pitchFamily="34" charset="-120"/>
              </a:rPr>
              <a:t>Mobilité et travail à distance</a:t>
            </a:r>
            <a:endParaRPr lang="en-US" sz="1400" dirty="0"/>
          </a:p>
          <a:p>
            <a:pPr marL="169418" indent="-169418" algn="l">
              <a:lnSpc>
                <a:spcPts val="2100"/>
              </a:lnSpc>
              <a:buSzPct val="100000"/>
              <a:buChar char="•"/>
            </a:pPr>
            <a:r>
              <a:rPr lang="en-US" sz="1400" dirty="0">
                <a:solidFill>
                  <a:srgbClr val="334155"/>
                </a:solidFill>
                <a:latin typeface="Inter" pitchFamily="34" charset="0"/>
                <a:ea typeface="Inter" pitchFamily="34" charset="-122"/>
                <a:cs typeface="Inter" pitchFamily="34" charset="-120"/>
              </a:rPr>
              <a:t>Administration plus cohérente</a:t>
            </a:r>
            <a:endParaRPr lang="en-US" sz="1400" dirty="0"/>
          </a:p>
          <a:p>
            <a:pPr marL="169418" indent="-169418" algn="l">
              <a:lnSpc>
                <a:spcPts val="2100"/>
              </a:lnSpc>
              <a:buSzPct val="100000"/>
              <a:buChar char="•"/>
            </a:pPr>
            <a:r>
              <a:rPr lang="en-US" sz="1400" dirty="0">
                <a:solidFill>
                  <a:srgbClr val="334155"/>
                </a:solidFill>
                <a:latin typeface="Inter" pitchFamily="34" charset="0"/>
                <a:ea typeface="Inter" pitchFamily="34" charset="-122"/>
                <a:cs typeface="Inter" pitchFamily="34" charset="-120"/>
              </a:rPr>
              <a:t>Intégration avec d’autres systèmes</a:t>
            </a:r>
            <a:endParaRPr lang="en-US" sz="1400" dirty="0"/>
          </a:p>
        </p:txBody>
      </p:sp>
      <p:sp>
        <p:nvSpPr>
          <p:cNvPr id="8" name="Shape 6"/>
          <p:cNvSpPr/>
          <p:nvPr/>
        </p:nvSpPr>
        <p:spPr>
          <a:xfrm>
            <a:off x="6200775" y="1826902"/>
            <a:ext cx="5175250" cy="2386330"/>
          </a:xfrm>
          <a:prstGeom prst="roundRect">
            <a:avLst>
              <a:gd name="adj" fmla="val 4125"/>
            </a:avLst>
          </a:prstGeom>
          <a:solidFill>
            <a:srgbClr val="FBFDFF"/>
          </a:solidFill>
          <a:ln w="6350">
            <a:solidFill>
              <a:srgbClr val="D5DEE9"/>
            </a:solidFill>
            <a:prstDash val="solid"/>
          </a:ln>
        </p:spPr>
        <p:txBody>
          <a:bodyPr/>
          <a:lstStyle/>
          <a:p>
            <a:endParaRPr lang="fr-FR"/>
          </a:p>
        </p:txBody>
      </p:sp>
      <p:sp>
        <p:nvSpPr>
          <p:cNvPr id="9" name="Text 7"/>
          <p:cNvSpPr/>
          <p:nvPr/>
        </p:nvSpPr>
        <p:spPr>
          <a:xfrm>
            <a:off x="6431280" y="2032000"/>
            <a:ext cx="485566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A"/>
                </a:solidFill>
                <a:latin typeface="Space Grotesk" pitchFamily="34" charset="0"/>
                <a:ea typeface="Space Grotesk" pitchFamily="34" charset="-122"/>
                <a:cs typeface="Space Grotesk" pitchFamily="34" charset="-120"/>
              </a:rPr>
              <a:t>Limites et défis</a:t>
            </a:r>
            <a:endParaRPr lang="en-US" sz="1800" dirty="0"/>
          </a:p>
        </p:txBody>
      </p:sp>
      <p:sp>
        <p:nvSpPr>
          <p:cNvPr id="10" name="Text 8"/>
          <p:cNvSpPr/>
          <p:nvPr/>
        </p:nvSpPr>
        <p:spPr>
          <a:xfrm>
            <a:off x="6515862" y="2407927"/>
            <a:ext cx="4763465" cy="16256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334155"/>
                </a:solidFill>
                <a:latin typeface="Inter" pitchFamily="34" charset="0"/>
                <a:ea typeface="Inter" pitchFamily="34" charset="-122"/>
                <a:cs typeface="Inter" pitchFamily="34" charset="-120"/>
              </a:rPr>
              <a:t>Dépendance au réseau et à Internet</a:t>
            </a:r>
            <a:endParaRPr lang="en-US" sz="1400" dirty="0"/>
          </a:p>
          <a:p>
            <a:pPr marL="169418" indent="-169418" algn="l">
              <a:lnSpc>
                <a:spcPts val="2100"/>
              </a:lnSpc>
              <a:buSzPct val="100000"/>
              <a:buChar char="•"/>
            </a:pPr>
            <a:r>
              <a:rPr lang="en-US" sz="1400" dirty="0">
                <a:solidFill>
                  <a:srgbClr val="334155"/>
                </a:solidFill>
                <a:latin typeface="Inter" pitchFamily="34" charset="0"/>
                <a:ea typeface="Inter" pitchFamily="34" charset="-122"/>
                <a:cs typeface="Inter" pitchFamily="34" charset="-120"/>
              </a:rPr>
              <a:t>Coûts de migration et d’abonnement</a:t>
            </a:r>
            <a:endParaRPr lang="en-US" sz="1400" dirty="0"/>
          </a:p>
          <a:p>
            <a:pPr marL="169418" indent="-169418" algn="l">
              <a:lnSpc>
                <a:spcPts val="2100"/>
              </a:lnSpc>
              <a:buSzPct val="100000"/>
              <a:buChar char="•"/>
            </a:pPr>
            <a:r>
              <a:rPr lang="en-US" sz="1400" dirty="0">
                <a:solidFill>
                  <a:srgbClr val="334155"/>
                </a:solidFill>
                <a:latin typeface="Inter" pitchFamily="34" charset="0"/>
                <a:ea typeface="Inter" pitchFamily="34" charset="-122"/>
                <a:cs typeface="Inter" pitchFamily="34" charset="-120"/>
              </a:rPr>
              <a:t>Complexité d’intégration</a:t>
            </a:r>
            <a:endParaRPr lang="en-US" sz="1400" dirty="0"/>
          </a:p>
          <a:p>
            <a:pPr marL="169418" indent="-169418" algn="l">
              <a:lnSpc>
                <a:spcPts val="2100"/>
              </a:lnSpc>
              <a:buSzPct val="100000"/>
              <a:buChar char="•"/>
            </a:pPr>
            <a:r>
              <a:rPr lang="en-US" sz="1400" dirty="0">
                <a:solidFill>
                  <a:srgbClr val="334155"/>
                </a:solidFill>
                <a:latin typeface="Inter" pitchFamily="34" charset="0"/>
                <a:ea typeface="Inter" pitchFamily="34" charset="-122"/>
                <a:cs typeface="Inter" pitchFamily="34" charset="-120"/>
              </a:rPr>
              <a:t>Dépendance à un fournisseur</a:t>
            </a:r>
            <a:endParaRPr lang="en-US" sz="1400" dirty="0"/>
          </a:p>
          <a:p>
            <a:pPr marL="169418" indent="-169418" algn="l">
              <a:lnSpc>
                <a:spcPts val="2100"/>
              </a:lnSpc>
              <a:buSzPct val="100000"/>
              <a:buChar char="•"/>
            </a:pPr>
            <a:r>
              <a:rPr lang="en-US" sz="1400" dirty="0">
                <a:solidFill>
                  <a:srgbClr val="334155"/>
                </a:solidFill>
                <a:latin typeface="Inter" pitchFamily="34" charset="0"/>
                <a:ea typeface="Inter" pitchFamily="34" charset="-122"/>
                <a:cs typeface="Inter" pitchFamily="34" charset="-120"/>
              </a:rPr>
              <a:t>Enjeux de confidentialité</a:t>
            </a:r>
            <a:endParaRPr lang="en-US" sz="1400" dirty="0"/>
          </a:p>
          <a:p>
            <a:pPr marL="169418" indent="-169418" algn="l">
              <a:lnSpc>
                <a:spcPts val="2100"/>
              </a:lnSpc>
              <a:buSzPct val="100000"/>
              <a:buChar char="•"/>
            </a:pPr>
            <a:r>
              <a:rPr lang="en-US" sz="1400" dirty="0">
                <a:solidFill>
                  <a:srgbClr val="334155"/>
                </a:solidFill>
                <a:latin typeface="Inter" pitchFamily="34" charset="0"/>
                <a:ea typeface="Inter" pitchFamily="34" charset="-122"/>
                <a:cs typeface="Inter" pitchFamily="34" charset="-120"/>
              </a:rPr>
              <a:t>Formation, maintenance, supervision</a:t>
            </a:r>
            <a:endParaRPr lang="en-US" sz="1400" dirty="0"/>
          </a:p>
        </p:txBody>
      </p:sp>
      <p:sp>
        <p:nvSpPr>
          <p:cNvPr id="11" name="Text 9"/>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Inter" pitchFamily="34" charset="0"/>
                <a:ea typeface="Inter" pitchFamily="34" charset="-122"/>
                <a:cs typeface="Inter" pitchFamily="34" charset="-120"/>
              </a:rPr>
              <a:t>La communication unifiée n’est pas une solution parfaite : elle déplace une partie de la complexité.</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838200" y="812800"/>
            <a:ext cx="0" cy="213360"/>
          </a:xfrm>
          <a:prstGeom prst="line">
            <a:avLst/>
          </a:prstGeom>
          <a:noFill/>
          <a:ln w="50800">
            <a:solidFill>
              <a:srgbClr val="FF7A1A"/>
            </a:solidFill>
            <a:prstDash val="solid"/>
          </a:ln>
        </p:spPr>
        <p:txBody>
          <a:bodyPr/>
          <a:lstStyle/>
          <a:p>
            <a:endParaRPr lang="fr-FR"/>
          </a:p>
        </p:txBody>
      </p:sp>
      <p:sp>
        <p:nvSpPr>
          <p:cNvPr id="3" name="Text 1"/>
          <p:cNvSpPr/>
          <p:nvPr/>
        </p:nvSpPr>
        <p:spPr>
          <a:xfrm>
            <a:off x="965200" y="812800"/>
            <a:ext cx="10726420"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B1F3A"/>
                </a:solidFill>
                <a:latin typeface="JetBrains Mono" pitchFamily="49" charset="0"/>
                <a:ea typeface="JetBrains Mono" pitchFamily="49" charset="-122"/>
                <a:cs typeface="JetBrains Mono" pitchFamily="49" charset="-120"/>
              </a:rPr>
              <a:t>RECOMMANDATIONS</a:t>
            </a:r>
            <a:endParaRPr lang="en-US" sz="1200" dirty="0"/>
          </a:p>
        </p:txBody>
      </p:sp>
      <p:sp>
        <p:nvSpPr>
          <p:cNvPr id="4" name="Text 2"/>
          <p:cNvSpPr>
            <a:spLocks noGrp="1"/>
          </p:cNvSpPr>
          <p:nvPr>
            <p:ph type="title"/>
          </p:nvPr>
        </p:nvSpPr>
        <p:spPr>
          <a:xfrm>
            <a:off x="812800" y="1229358"/>
            <a:ext cx="10883392"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1F3A"/>
                </a:solidFill>
                <a:latin typeface="Space Grotesk" pitchFamily="34" charset="0"/>
                <a:ea typeface="Space Grotesk" pitchFamily="34" charset="-122"/>
                <a:cs typeface="Space Grotesk" pitchFamily="34" charset="-120"/>
              </a:rPr>
              <a:t>Six étapes pour un déploiement réussi</a:t>
            </a:r>
            <a:endParaRPr lang="en-US" sz="2800" dirty="0"/>
          </a:p>
        </p:txBody>
      </p:sp>
      <p:sp>
        <p:nvSpPr>
          <p:cNvPr id="5" name="Shape 3"/>
          <p:cNvSpPr/>
          <p:nvPr/>
        </p:nvSpPr>
        <p:spPr>
          <a:xfrm>
            <a:off x="815975" y="1826902"/>
            <a:ext cx="3431064" cy="1276350"/>
          </a:xfrm>
          <a:prstGeom prst="roundRect">
            <a:avLst>
              <a:gd name="adj" fmla="val 7711"/>
            </a:avLst>
          </a:prstGeom>
          <a:solidFill>
            <a:srgbClr val="FBFDFF"/>
          </a:solidFill>
          <a:ln w="6350">
            <a:solidFill>
              <a:srgbClr val="D5DEE9"/>
            </a:solidFill>
            <a:prstDash val="solid"/>
          </a:ln>
        </p:spPr>
        <p:txBody>
          <a:bodyPr/>
          <a:lstStyle/>
          <a:p>
            <a:endParaRPr lang="fr-FR"/>
          </a:p>
        </p:txBody>
      </p:sp>
      <p:sp>
        <p:nvSpPr>
          <p:cNvPr id="6" name="Text 4"/>
          <p:cNvSpPr/>
          <p:nvPr/>
        </p:nvSpPr>
        <p:spPr>
          <a:xfrm>
            <a:off x="995680" y="2006600"/>
            <a:ext cx="3163803"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7A1A"/>
                </a:solidFill>
                <a:latin typeface="Space Grotesk" pitchFamily="34" charset="0"/>
                <a:ea typeface="Space Grotesk" pitchFamily="34" charset="-122"/>
                <a:cs typeface="Space Grotesk" pitchFamily="34" charset="-120"/>
              </a:rPr>
              <a:t>1</a:t>
            </a:r>
            <a:endParaRPr lang="en-US" sz="2800" dirty="0"/>
          </a:p>
        </p:txBody>
      </p:sp>
      <p:sp>
        <p:nvSpPr>
          <p:cNvPr id="7" name="Text 5"/>
          <p:cNvSpPr/>
          <p:nvPr/>
        </p:nvSpPr>
        <p:spPr>
          <a:xfrm>
            <a:off x="995680" y="2425700"/>
            <a:ext cx="31638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Analyser les besoins</a:t>
            </a:r>
            <a:endParaRPr lang="en-US" sz="1500" dirty="0"/>
          </a:p>
        </p:txBody>
      </p:sp>
      <p:sp>
        <p:nvSpPr>
          <p:cNvPr id="8" name="Text 6"/>
          <p:cNvSpPr/>
          <p:nvPr/>
        </p:nvSpPr>
        <p:spPr>
          <a:xfrm>
            <a:off x="995680" y="2717800"/>
            <a:ext cx="3163803"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Utilisateurs, usages, contraintes.</a:t>
            </a:r>
            <a:endParaRPr lang="en-US" sz="1200" dirty="0"/>
          </a:p>
        </p:txBody>
      </p:sp>
      <p:sp>
        <p:nvSpPr>
          <p:cNvPr id="9" name="Shape 7"/>
          <p:cNvSpPr/>
          <p:nvPr/>
        </p:nvSpPr>
        <p:spPr>
          <a:xfrm>
            <a:off x="4380389" y="1826902"/>
            <a:ext cx="3431143" cy="1276350"/>
          </a:xfrm>
          <a:prstGeom prst="roundRect">
            <a:avLst>
              <a:gd name="adj" fmla="val 7711"/>
            </a:avLst>
          </a:prstGeom>
          <a:solidFill>
            <a:srgbClr val="FBFDFF"/>
          </a:solidFill>
          <a:ln w="6350">
            <a:solidFill>
              <a:srgbClr val="D5DEE9"/>
            </a:solidFill>
            <a:prstDash val="solid"/>
          </a:ln>
        </p:spPr>
        <p:txBody>
          <a:bodyPr/>
          <a:lstStyle/>
          <a:p>
            <a:endParaRPr lang="fr-FR"/>
          </a:p>
        </p:txBody>
      </p:sp>
      <p:sp>
        <p:nvSpPr>
          <p:cNvPr id="10" name="Text 8"/>
          <p:cNvSpPr/>
          <p:nvPr/>
        </p:nvSpPr>
        <p:spPr>
          <a:xfrm>
            <a:off x="4560094" y="2006600"/>
            <a:ext cx="3163885"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7A1A"/>
                </a:solidFill>
                <a:latin typeface="Space Grotesk" pitchFamily="34" charset="0"/>
                <a:ea typeface="Space Grotesk" pitchFamily="34" charset="-122"/>
                <a:cs typeface="Space Grotesk" pitchFamily="34" charset="-120"/>
              </a:rPr>
              <a:t>2</a:t>
            </a:r>
            <a:endParaRPr lang="en-US" sz="2800" dirty="0"/>
          </a:p>
        </p:txBody>
      </p:sp>
      <p:sp>
        <p:nvSpPr>
          <p:cNvPr id="11" name="Text 9"/>
          <p:cNvSpPr/>
          <p:nvPr/>
        </p:nvSpPr>
        <p:spPr>
          <a:xfrm>
            <a:off x="4560094" y="2425700"/>
            <a:ext cx="316388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Auditer le réseau</a:t>
            </a:r>
            <a:endParaRPr lang="en-US" sz="1500" dirty="0"/>
          </a:p>
        </p:txBody>
      </p:sp>
      <p:sp>
        <p:nvSpPr>
          <p:cNvPr id="12" name="Text 10"/>
          <p:cNvSpPr/>
          <p:nvPr/>
        </p:nvSpPr>
        <p:spPr>
          <a:xfrm>
            <a:off x="4560094" y="2717800"/>
            <a:ext cx="3163885"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Bande passante, latence, QoS, pare-feu.</a:t>
            </a:r>
            <a:endParaRPr lang="en-US" sz="1200" dirty="0"/>
          </a:p>
        </p:txBody>
      </p:sp>
      <p:sp>
        <p:nvSpPr>
          <p:cNvPr id="13" name="Shape 11"/>
          <p:cNvSpPr/>
          <p:nvPr/>
        </p:nvSpPr>
        <p:spPr>
          <a:xfrm>
            <a:off x="7944882" y="1826902"/>
            <a:ext cx="3431143" cy="1276350"/>
          </a:xfrm>
          <a:prstGeom prst="roundRect">
            <a:avLst>
              <a:gd name="adj" fmla="val 7711"/>
            </a:avLst>
          </a:prstGeom>
          <a:solidFill>
            <a:srgbClr val="FBFDFF"/>
          </a:solidFill>
          <a:ln w="6350">
            <a:solidFill>
              <a:srgbClr val="D5DEE9"/>
            </a:solidFill>
            <a:prstDash val="solid"/>
          </a:ln>
        </p:spPr>
        <p:txBody>
          <a:bodyPr/>
          <a:lstStyle/>
          <a:p>
            <a:endParaRPr lang="fr-FR"/>
          </a:p>
        </p:txBody>
      </p:sp>
      <p:sp>
        <p:nvSpPr>
          <p:cNvPr id="14" name="Text 12"/>
          <p:cNvSpPr/>
          <p:nvPr/>
        </p:nvSpPr>
        <p:spPr>
          <a:xfrm>
            <a:off x="8124587" y="2006600"/>
            <a:ext cx="3163885"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7A1A"/>
                </a:solidFill>
                <a:latin typeface="Space Grotesk" pitchFamily="34" charset="0"/>
                <a:ea typeface="Space Grotesk" pitchFamily="34" charset="-122"/>
                <a:cs typeface="Space Grotesk" pitchFamily="34" charset="-120"/>
              </a:rPr>
              <a:t>3</a:t>
            </a:r>
            <a:endParaRPr lang="en-US" sz="2800" dirty="0"/>
          </a:p>
        </p:txBody>
      </p:sp>
      <p:sp>
        <p:nvSpPr>
          <p:cNvPr id="15" name="Text 13"/>
          <p:cNvSpPr/>
          <p:nvPr/>
        </p:nvSpPr>
        <p:spPr>
          <a:xfrm>
            <a:off x="8124587" y="2425700"/>
            <a:ext cx="316388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Choisir le modèle</a:t>
            </a:r>
            <a:endParaRPr lang="en-US" sz="1500" dirty="0"/>
          </a:p>
        </p:txBody>
      </p:sp>
      <p:sp>
        <p:nvSpPr>
          <p:cNvPr id="16" name="Text 14"/>
          <p:cNvSpPr/>
          <p:nvPr/>
        </p:nvSpPr>
        <p:spPr>
          <a:xfrm>
            <a:off x="8124587" y="2717800"/>
            <a:ext cx="3163885"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Sur site, cloud ou hybride.</a:t>
            </a:r>
            <a:endParaRPr lang="en-US" sz="1200" dirty="0"/>
          </a:p>
        </p:txBody>
      </p:sp>
      <p:sp>
        <p:nvSpPr>
          <p:cNvPr id="17" name="Shape 15"/>
          <p:cNvSpPr/>
          <p:nvPr/>
        </p:nvSpPr>
        <p:spPr>
          <a:xfrm>
            <a:off x="815975" y="3236602"/>
            <a:ext cx="3431064" cy="1482090"/>
          </a:xfrm>
          <a:prstGeom prst="roundRect">
            <a:avLst>
              <a:gd name="adj" fmla="val 6641"/>
            </a:avLst>
          </a:prstGeom>
          <a:solidFill>
            <a:srgbClr val="FBFDFF"/>
          </a:solidFill>
          <a:ln w="6350">
            <a:solidFill>
              <a:srgbClr val="D5DEE9"/>
            </a:solidFill>
            <a:prstDash val="solid"/>
          </a:ln>
        </p:spPr>
        <p:txBody>
          <a:bodyPr/>
          <a:lstStyle/>
          <a:p>
            <a:endParaRPr lang="fr-FR"/>
          </a:p>
        </p:txBody>
      </p:sp>
      <p:sp>
        <p:nvSpPr>
          <p:cNvPr id="18" name="Text 16"/>
          <p:cNvSpPr/>
          <p:nvPr/>
        </p:nvSpPr>
        <p:spPr>
          <a:xfrm>
            <a:off x="995680" y="3416300"/>
            <a:ext cx="3163803"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7A1A"/>
                </a:solidFill>
                <a:latin typeface="Space Grotesk" pitchFamily="34" charset="0"/>
                <a:ea typeface="Space Grotesk" pitchFamily="34" charset="-122"/>
                <a:cs typeface="Space Grotesk" pitchFamily="34" charset="-120"/>
              </a:rPr>
              <a:t>4</a:t>
            </a:r>
            <a:endParaRPr lang="en-US" sz="2800" dirty="0"/>
          </a:p>
        </p:txBody>
      </p:sp>
      <p:sp>
        <p:nvSpPr>
          <p:cNvPr id="19" name="Text 17"/>
          <p:cNvSpPr/>
          <p:nvPr/>
        </p:nvSpPr>
        <p:spPr>
          <a:xfrm>
            <a:off x="995680" y="3835400"/>
            <a:ext cx="31638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Sécuriser</a:t>
            </a:r>
            <a:endParaRPr lang="en-US" sz="1500" dirty="0"/>
          </a:p>
        </p:txBody>
      </p:sp>
      <p:sp>
        <p:nvSpPr>
          <p:cNvPr id="20" name="Text 18"/>
          <p:cNvSpPr/>
          <p:nvPr/>
        </p:nvSpPr>
        <p:spPr>
          <a:xfrm>
            <a:off x="995680" y="4127500"/>
            <a:ext cx="3163803"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Identités, chiffrement, sauvegardes.</a:t>
            </a:r>
            <a:endParaRPr lang="en-US" sz="1200" dirty="0"/>
          </a:p>
        </p:txBody>
      </p:sp>
      <p:sp>
        <p:nvSpPr>
          <p:cNvPr id="21" name="Shape 19"/>
          <p:cNvSpPr/>
          <p:nvPr/>
        </p:nvSpPr>
        <p:spPr>
          <a:xfrm>
            <a:off x="4380389" y="3236602"/>
            <a:ext cx="3431143" cy="1482090"/>
          </a:xfrm>
          <a:prstGeom prst="roundRect">
            <a:avLst>
              <a:gd name="adj" fmla="val 6641"/>
            </a:avLst>
          </a:prstGeom>
          <a:solidFill>
            <a:srgbClr val="FBFDFF"/>
          </a:solidFill>
          <a:ln w="6350">
            <a:solidFill>
              <a:srgbClr val="D5DEE9"/>
            </a:solidFill>
            <a:prstDash val="solid"/>
          </a:ln>
        </p:spPr>
        <p:txBody>
          <a:bodyPr/>
          <a:lstStyle/>
          <a:p>
            <a:endParaRPr lang="fr-FR"/>
          </a:p>
        </p:txBody>
      </p:sp>
      <p:sp>
        <p:nvSpPr>
          <p:cNvPr id="22" name="Text 20"/>
          <p:cNvSpPr/>
          <p:nvPr/>
        </p:nvSpPr>
        <p:spPr>
          <a:xfrm>
            <a:off x="4560094" y="3416300"/>
            <a:ext cx="3163885"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7A1A"/>
                </a:solidFill>
                <a:latin typeface="Space Grotesk" pitchFamily="34" charset="0"/>
                <a:ea typeface="Space Grotesk" pitchFamily="34" charset="-122"/>
                <a:cs typeface="Space Grotesk" pitchFamily="34" charset="-120"/>
              </a:rPr>
              <a:t>5</a:t>
            </a:r>
            <a:endParaRPr lang="en-US" sz="2800" dirty="0"/>
          </a:p>
        </p:txBody>
      </p:sp>
      <p:sp>
        <p:nvSpPr>
          <p:cNvPr id="23" name="Text 21"/>
          <p:cNvSpPr/>
          <p:nvPr/>
        </p:nvSpPr>
        <p:spPr>
          <a:xfrm>
            <a:off x="4560094" y="3835400"/>
            <a:ext cx="316388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Expérimenter</a:t>
            </a:r>
            <a:endParaRPr lang="en-US" sz="1500" dirty="0"/>
          </a:p>
        </p:txBody>
      </p:sp>
      <p:sp>
        <p:nvSpPr>
          <p:cNvPr id="24" name="Text 22"/>
          <p:cNvSpPr/>
          <p:nvPr/>
        </p:nvSpPr>
        <p:spPr>
          <a:xfrm>
            <a:off x="4560094" y="4127500"/>
            <a:ext cx="3163885"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Pilote limité avant le déploiement.</a:t>
            </a:r>
            <a:endParaRPr lang="en-US" sz="1200" dirty="0"/>
          </a:p>
        </p:txBody>
      </p:sp>
      <p:sp>
        <p:nvSpPr>
          <p:cNvPr id="25" name="Shape 23"/>
          <p:cNvSpPr/>
          <p:nvPr/>
        </p:nvSpPr>
        <p:spPr>
          <a:xfrm>
            <a:off x="7944882" y="3236602"/>
            <a:ext cx="3431143" cy="1482090"/>
          </a:xfrm>
          <a:prstGeom prst="roundRect">
            <a:avLst>
              <a:gd name="adj" fmla="val 6641"/>
            </a:avLst>
          </a:prstGeom>
          <a:solidFill>
            <a:srgbClr val="FBFDFF"/>
          </a:solidFill>
          <a:ln w="6350">
            <a:solidFill>
              <a:srgbClr val="D5DEE9"/>
            </a:solidFill>
            <a:prstDash val="solid"/>
          </a:ln>
        </p:spPr>
        <p:txBody>
          <a:bodyPr/>
          <a:lstStyle/>
          <a:p>
            <a:endParaRPr lang="fr-FR"/>
          </a:p>
        </p:txBody>
      </p:sp>
      <p:sp>
        <p:nvSpPr>
          <p:cNvPr id="26" name="Text 24"/>
          <p:cNvSpPr/>
          <p:nvPr/>
        </p:nvSpPr>
        <p:spPr>
          <a:xfrm>
            <a:off x="8124587" y="3416300"/>
            <a:ext cx="3163885"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7A1A"/>
                </a:solidFill>
                <a:latin typeface="Space Grotesk" pitchFamily="34" charset="0"/>
                <a:ea typeface="Space Grotesk" pitchFamily="34" charset="-122"/>
                <a:cs typeface="Space Grotesk" pitchFamily="34" charset="-120"/>
              </a:rPr>
              <a:t>6</a:t>
            </a:r>
            <a:endParaRPr lang="en-US" sz="2800" dirty="0"/>
          </a:p>
        </p:txBody>
      </p:sp>
      <p:sp>
        <p:nvSpPr>
          <p:cNvPr id="27" name="Text 25"/>
          <p:cNvSpPr/>
          <p:nvPr/>
        </p:nvSpPr>
        <p:spPr>
          <a:xfrm>
            <a:off x="8124587" y="3835400"/>
            <a:ext cx="316388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1F3A"/>
                </a:solidFill>
                <a:latin typeface="Space Grotesk" pitchFamily="34" charset="0"/>
                <a:ea typeface="Space Grotesk" pitchFamily="34" charset="-122"/>
                <a:cs typeface="Space Grotesk" pitchFamily="34" charset="-120"/>
              </a:rPr>
              <a:t>Former et superviser</a:t>
            </a:r>
            <a:endParaRPr lang="en-US" sz="1500" dirty="0"/>
          </a:p>
        </p:txBody>
      </p:sp>
      <p:sp>
        <p:nvSpPr>
          <p:cNvPr id="28" name="Text 26"/>
          <p:cNvSpPr/>
          <p:nvPr/>
        </p:nvSpPr>
        <p:spPr>
          <a:xfrm>
            <a:off x="8124587" y="4127500"/>
            <a:ext cx="3163885"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34155"/>
                </a:solidFill>
                <a:latin typeface="Inter" pitchFamily="34" charset="0"/>
                <a:ea typeface="Inter" pitchFamily="34" charset="-122"/>
                <a:cs typeface="Inter" pitchFamily="34" charset="-120"/>
              </a:rPr>
              <a:t>Formation, supervision, amélioration continue.</a:t>
            </a:r>
            <a:endParaRPr lang="en-US" sz="1200" dirty="0"/>
          </a:p>
        </p:txBody>
      </p:sp>
      <p:sp>
        <p:nvSpPr>
          <p:cNvPr id="29" name="Text 27"/>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Inter" pitchFamily="34" charset="0"/>
                <a:ea typeface="Inter" pitchFamily="34" charset="-122"/>
                <a:cs typeface="Inter" pitchFamily="34" charset="-120"/>
              </a:rPr>
              <a:t>Recommandations générales du groupe, à adapter à chaque organisation.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F7A1A"/>
                </a:solidFill>
                <a:latin typeface="JetBrains Mono" pitchFamily="49" charset="0"/>
                <a:ea typeface="JetBrains Mono" pitchFamily="49" charset="-122"/>
                <a:cs typeface="JetBrains Mono" pitchFamily="49" charset="-120"/>
              </a:rPr>
              <a:t>CONCLUSION</a:t>
            </a:r>
            <a:endParaRPr lang="en-US" sz="1200" dirty="0"/>
          </a:p>
        </p:txBody>
      </p:sp>
      <p:sp>
        <p:nvSpPr>
          <p:cNvPr id="3" name="Text 1"/>
          <p:cNvSpPr>
            <a:spLocks noGrp="1"/>
          </p:cNvSpPr>
          <p:nvPr>
            <p:ph type="title"/>
          </p:nvPr>
        </p:nvSpPr>
        <p:spPr>
          <a:xfrm>
            <a:off x="812800" y="1280158"/>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3F6FA"/>
                </a:solidFill>
                <a:latin typeface="Space Grotesk" pitchFamily="34" charset="0"/>
                <a:ea typeface="Space Grotesk" pitchFamily="34" charset="-122"/>
                <a:cs typeface="Space Grotesk" pitchFamily="34" charset="-120"/>
              </a:rPr>
              <a:t>Pourquoi la communication unifiée est devenue un enjeu d’infrastructure</a:t>
            </a:r>
            <a:endParaRPr lang="en-US" sz="3000" dirty="0"/>
          </a:p>
        </p:txBody>
      </p:sp>
      <p:sp>
        <p:nvSpPr>
          <p:cNvPr id="4" name="Shape 2"/>
          <p:cNvSpPr/>
          <p:nvPr/>
        </p:nvSpPr>
        <p:spPr>
          <a:xfrm>
            <a:off x="812800" y="2372358"/>
            <a:ext cx="3420507" cy="1455420"/>
          </a:xfrm>
          <a:prstGeom prst="roundRect">
            <a:avLst>
              <a:gd name="adj" fmla="val 6981"/>
            </a:avLst>
          </a:prstGeom>
          <a:solidFill>
            <a:srgbClr val="12305A"/>
          </a:solidFill>
          <a:ln/>
        </p:spPr>
        <p:txBody>
          <a:bodyPr/>
          <a:lstStyle/>
          <a:p>
            <a:endParaRPr lang="fr-FR"/>
          </a:p>
        </p:txBody>
      </p:sp>
      <p:sp>
        <p:nvSpPr>
          <p:cNvPr id="5" name="Shape 3"/>
          <p:cNvSpPr/>
          <p:nvPr/>
        </p:nvSpPr>
        <p:spPr>
          <a:xfrm>
            <a:off x="812800" y="2372358"/>
            <a:ext cx="3420507" cy="1455420"/>
          </a:xfrm>
          <a:custGeom>
            <a:avLst/>
            <a:gdLst/>
            <a:ahLst/>
            <a:cxnLst/>
            <a:rect l="l" t="t" r="r" b="b"/>
            <a:pathLst>
              <a:path w="3420507" h="1455420">
                <a:moveTo>
                  <a:pt x="0" y="101600"/>
                </a:moveTo>
                <a:lnTo>
                  <a:pt x="0" y="101600"/>
                </a:lnTo>
                <a:arcTo wR="101600" hR="101600" stAng="10800000" swAng="5400000"/>
                <a:lnTo>
                  <a:pt x="3318907" y="0"/>
                </a:lnTo>
                <a:arcTo wR="101600" hR="101600" stAng="16200000" swAng="5400000"/>
                <a:lnTo>
                  <a:pt x="3420507" y="101600"/>
                </a:lnTo>
                <a:arcTo wR="101600" hR="63500" stAng="0" swAng="-5400000"/>
                <a:lnTo>
                  <a:pt x="101600" y="38100"/>
                </a:lnTo>
                <a:arcTo wR="101600" hR="63500" stAng="16200000" swAng="-5400000"/>
                <a:close/>
              </a:path>
            </a:pathLst>
          </a:custGeom>
          <a:solidFill>
            <a:srgbClr val="FF7A1A"/>
          </a:solidFill>
          <a:ln/>
        </p:spPr>
        <p:txBody>
          <a:bodyPr/>
          <a:lstStyle/>
          <a:p>
            <a:endParaRPr lang="fr-FR"/>
          </a:p>
        </p:txBody>
      </p:sp>
      <p:sp>
        <p:nvSpPr>
          <p:cNvPr id="6" name="Text 4"/>
          <p:cNvSpPr/>
          <p:nvPr/>
        </p:nvSpPr>
        <p:spPr>
          <a:xfrm>
            <a:off x="1016000" y="2611127"/>
            <a:ext cx="31045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6FA"/>
                </a:solidFill>
                <a:latin typeface="Space Grotesk" pitchFamily="34" charset="0"/>
                <a:ea typeface="Space Grotesk" pitchFamily="34" charset="-122"/>
                <a:cs typeface="Space Grotesk" pitchFamily="34" charset="-120"/>
              </a:rPr>
              <a:t>Des usages dispersés</a:t>
            </a:r>
            <a:endParaRPr lang="en-US" sz="1600" dirty="0"/>
          </a:p>
        </p:txBody>
      </p:sp>
      <p:sp>
        <p:nvSpPr>
          <p:cNvPr id="7" name="Text 5"/>
          <p:cNvSpPr/>
          <p:nvPr/>
        </p:nvSpPr>
        <p:spPr>
          <a:xfrm>
            <a:off x="1016000" y="2931158"/>
            <a:ext cx="310453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5DEE9"/>
                </a:solidFill>
                <a:latin typeface="Inter" pitchFamily="34" charset="0"/>
                <a:ea typeface="Inter" pitchFamily="34" charset="-122"/>
                <a:cs typeface="Inter" pitchFamily="34" charset="-120"/>
              </a:rPr>
              <a:t>Équipes mobiles et à distance : des outils séparés font perdre du temps.</a:t>
            </a:r>
            <a:endParaRPr lang="en-US" sz="1300" dirty="0"/>
          </a:p>
        </p:txBody>
      </p:sp>
      <p:sp>
        <p:nvSpPr>
          <p:cNvPr id="8" name="Shape 6"/>
          <p:cNvSpPr/>
          <p:nvPr/>
        </p:nvSpPr>
        <p:spPr>
          <a:xfrm>
            <a:off x="4385707" y="2372358"/>
            <a:ext cx="3420586" cy="1455420"/>
          </a:xfrm>
          <a:prstGeom prst="roundRect">
            <a:avLst>
              <a:gd name="adj" fmla="val 6981"/>
            </a:avLst>
          </a:prstGeom>
          <a:solidFill>
            <a:srgbClr val="12305A"/>
          </a:solidFill>
          <a:ln/>
        </p:spPr>
        <p:txBody>
          <a:bodyPr/>
          <a:lstStyle/>
          <a:p>
            <a:endParaRPr lang="fr-FR"/>
          </a:p>
        </p:txBody>
      </p:sp>
      <p:sp>
        <p:nvSpPr>
          <p:cNvPr id="9" name="Shape 7"/>
          <p:cNvSpPr/>
          <p:nvPr/>
        </p:nvSpPr>
        <p:spPr>
          <a:xfrm>
            <a:off x="4385707" y="2372358"/>
            <a:ext cx="3420586" cy="1455420"/>
          </a:xfrm>
          <a:custGeom>
            <a:avLst/>
            <a:gdLst/>
            <a:ahLst/>
            <a:cxnLst/>
            <a:rect l="l" t="t" r="r" b="b"/>
            <a:pathLst>
              <a:path w="3420586" h="1455420">
                <a:moveTo>
                  <a:pt x="0" y="101600"/>
                </a:moveTo>
                <a:lnTo>
                  <a:pt x="0" y="101600"/>
                </a:lnTo>
                <a:arcTo wR="101600" hR="101600" stAng="10800000" swAng="5400000"/>
                <a:lnTo>
                  <a:pt x="3318986" y="0"/>
                </a:lnTo>
                <a:arcTo wR="101600" hR="101600" stAng="16200000" swAng="5400000"/>
                <a:lnTo>
                  <a:pt x="3420586" y="101600"/>
                </a:lnTo>
                <a:arcTo wR="101600" hR="63500" stAng="0" swAng="-5400000"/>
                <a:lnTo>
                  <a:pt x="101600" y="38100"/>
                </a:lnTo>
                <a:arcTo wR="101600" hR="63500" stAng="16200000" swAng="-5400000"/>
                <a:close/>
              </a:path>
            </a:pathLst>
          </a:custGeom>
          <a:solidFill>
            <a:srgbClr val="17A398"/>
          </a:solidFill>
          <a:ln/>
        </p:spPr>
        <p:txBody>
          <a:bodyPr/>
          <a:lstStyle/>
          <a:p>
            <a:endParaRPr lang="fr-FR"/>
          </a:p>
        </p:txBody>
      </p:sp>
      <p:sp>
        <p:nvSpPr>
          <p:cNvPr id="10" name="Text 8"/>
          <p:cNvSpPr/>
          <p:nvPr/>
        </p:nvSpPr>
        <p:spPr>
          <a:xfrm>
            <a:off x="4588907" y="2611127"/>
            <a:ext cx="31046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6FA"/>
                </a:solidFill>
                <a:latin typeface="Space Grotesk" pitchFamily="34" charset="0"/>
                <a:ea typeface="Space Grotesk" pitchFamily="34" charset="-122"/>
                <a:cs typeface="Space Grotesk" pitchFamily="34" charset="-120"/>
              </a:rPr>
              <a:t>Des protocoles ouverts</a:t>
            </a:r>
            <a:endParaRPr lang="en-US" sz="1600" dirty="0"/>
          </a:p>
        </p:txBody>
      </p:sp>
      <p:sp>
        <p:nvSpPr>
          <p:cNvPr id="11" name="Text 9"/>
          <p:cNvSpPr/>
          <p:nvPr/>
        </p:nvSpPr>
        <p:spPr>
          <a:xfrm>
            <a:off x="4588907" y="2931158"/>
            <a:ext cx="3104612"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5DEE9"/>
                </a:solidFill>
                <a:latin typeface="Inter" pitchFamily="34" charset="0"/>
                <a:ea typeface="Inter" pitchFamily="34" charset="-122"/>
                <a:cs typeface="Inter" pitchFamily="34" charset="-120"/>
              </a:rPr>
              <a:t>Voix, vidéo et messagerie reposent sur l’IP : SIP, RTP, WebRTC les rendent intégrables.</a:t>
            </a:r>
            <a:endParaRPr lang="en-US" sz="1300" dirty="0"/>
          </a:p>
        </p:txBody>
      </p:sp>
      <p:sp>
        <p:nvSpPr>
          <p:cNvPr id="12" name="Shape 10"/>
          <p:cNvSpPr/>
          <p:nvPr/>
        </p:nvSpPr>
        <p:spPr>
          <a:xfrm>
            <a:off x="7958693" y="2372358"/>
            <a:ext cx="3420507" cy="1455420"/>
          </a:xfrm>
          <a:prstGeom prst="roundRect">
            <a:avLst>
              <a:gd name="adj" fmla="val 6981"/>
            </a:avLst>
          </a:prstGeom>
          <a:solidFill>
            <a:srgbClr val="12305A"/>
          </a:solidFill>
          <a:ln/>
        </p:spPr>
        <p:txBody>
          <a:bodyPr/>
          <a:lstStyle/>
          <a:p>
            <a:endParaRPr lang="fr-FR"/>
          </a:p>
        </p:txBody>
      </p:sp>
      <p:sp>
        <p:nvSpPr>
          <p:cNvPr id="13" name="Shape 11"/>
          <p:cNvSpPr/>
          <p:nvPr/>
        </p:nvSpPr>
        <p:spPr>
          <a:xfrm>
            <a:off x="7958693" y="2372358"/>
            <a:ext cx="3420507" cy="1455420"/>
          </a:xfrm>
          <a:custGeom>
            <a:avLst/>
            <a:gdLst/>
            <a:ahLst/>
            <a:cxnLst/>
            <a:rect l="l" t="t" r="r" b="b"/>
            <a:pathLst>
              <a:path w="3420507" h="1455420">
                <a:moveTo>
                  <a:pt x="0" y="101600"/>
                </a:moveTo>
                <a:lnTo>
                  <a:pt x="0" y="101600"/>
                </a:lnTo>
                <a:arcTo wR="101600" hR="101600" stAng="10800000" swAng="5400000"/>
                <a:lnTo>
                  <a:pt x="3318907" y="0"/>
                </a:lnTo>
                <a:arcTo wR="101600" hR="101600" stAng="16200000" swAng="5400000"/>
                <a:lnTo>
                  <a:pt x="3420507" y="101600"/>
                </a:lnTo>
                <a:arcTo wR="101600" hR="63500" stAng="0" swAng="-5400000"/>
                <a:lnTo>
                  <a:pt x="101600" y="38100"/>
                </a:lnTo>
                <a:arcTo wR="101600" hR="63500" stAng="16200000" swAng="-5400000"/>
                <a:close/>
              </a:path>
            </a:pathLst>
          </a:custGeom>
          <a:solidFill>
            <a:srgbClr val="B7C4D6"/>
          </a:solidFill>
          <a:ln/>
        </p:spPr>
        <p:txBody>
          <a:bodyPr/>
          <a:lstStyle/>
          <a:p>
            <a:endParaRPr lang="fr-FR"/>
          </a:p>
        </p:txBody>
      </p:sp>
      <p:sp>
        <p:nvSpPr>
          <p:cNvPr id="14" name="Text 12"/>
          <p:cNvSpPr/>
          <p:nvPr/>
        </p:nvSpPr>
        <p:spPr>
          <a:xfrm>
            <a:off x="8161893" y="2611127"/>
            <a:ext cx="310453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6FA"/>
                </a:solidFill>
                <a:latin typeface="Space Grotesk" pitchFamily="34" charset="0"/>
                <a:ea typeface="Space Grotesk" pitchFamily="34" charset="-122"/>
                <a:cs typeface="Space Grotesk" pitchFamily="34" charset="-120"/>
              </a:rPr>
              <a:t>Un service d’infrastructure</a:t>
            </a:r>
            <a:endParaRPr lang="en-US" sz="1600" dirty="0"/>
          </a:p>
        </p:txBody>
      </p:sp>
      <p:sp>
        <p:nvSpPr>
          <p:cNvPr id="15" name="Text 13"/>
          <p:cNvSpPr/>
          <p:nvPr/>
        </p:nvSpPr>
        <p:spPr>
          <a:xfrm>
            <a:off x="8161893" y="2931158"/>
            <a:ext cx="310453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5DEE9"/>
                </a:solidFill>
                <a:latin typeface="Inter" pitchFamily="34" charset="0"/>
                <a:ea typeface="Inter" pitchFamily="34" charset="-122"/>
                <a:cs typeface="Inter" pitchFamily="34" charset="-120"/>
              </a:rPr>
              <a:t>Il faut le dimensionner, le sécuriser et le superviser comme tout service critique.</a:t>
            </a:r>
            <a:endParaRPr lang="en-US" sz="1300" dirty="0"/>
          </a:p>
        </p:txBody>
      </p:sp>
      <p:sp>
        <p:nvSpPr>
          <p:cNvPr id="16" name="Shape 14"/>
          <p:cNvSpPr/>
          <p:nvPr/>
        </p:nvSpPr>
        <p:spPr>
          <a:xfrm>
            <a:off x="838200" y="4081785"/>
            <a:ext cx="0" cy="812800"/>
          </a:xfrm>
          <a:prstGeom prst="line">
            <a:avLst/>
          </a:prstGeom>
          <a:noFill/>
          <a:ln w="50800">
            <a:solidFill>
              <a:srgbClr val="FF7A1A"/>
            </a:solidFill>
            <a:prstDash val="solid"/>
          </a:ln>
        </p:spPr>
        <p:txBody>
          <a:bodyPr/>
          <a:lstStyle/>
          <a:p>
            <a:endParaRPr lang="fr-FR"/>
          </a:p>
        </p:txBody>
      </p:sp>
      <p:sp>
        <p:nvSpPr>
          <p:cNvPr id="17" name="Text 15"/>
          <p:cNvSpPr/>
          <p:nvPr/>
        </p:nvSpPr>
        <p:spPr>
          <a:xfrm>
            <a:off x="1016000" y="4081785"/>
            <a:ext cx="1067409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6FA"/>
                </a:solidFill>
                <a:latin typeface="Space Grotesk" pitchFamily="34" charset="0"/>
                <a:ea typeface="Space Grotesk" pitchFamily="34" charset="-122"/>
                <a:cs typeface="Space Grotesk" pitchFamily="34" charset="-120"/>
              </a:rPr>
              <a:t>Merci de votre attention.</a:t>
            </a:r>
            <a:endParaRPr lang="en-US" sz="1600" dirty="0"/>
          </a:p>
        </p:txBody>
      </p:sp>
      <p:sp>
        <p:nvSpPr>
          <p:cNvPr id="18" name="Text 16"/>
          <p:cNvSpPr/>
          <p:nvPr/>
        </p:nvSpPr>
        <p:spPr>
          <a:xfrm>
            <a:off x="1016000" y="4417058"/>
            <a:ext cx="106740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La communication unifiée · Services à Valeur Ajoutée · Licence 3 Ingénierie Informatique, UASZ</a:t>
            </a:r>
            <a:endParaRPr lang="en-US" sz="1200" dirty="0"/>
          </a:p>
        </p:txBody>
      </p:sp>
      <p:sp>
        <p:nvSpPr>
          <p:cNvPr id="19" name="Text 17"/>
          <p:cNvSpPr/>
          <p:nvPr/>
        </p:nvSpPr>
        <p:spPr>
          <a:xfrm>
            <a:off x="1016000" y="4681227"/>
            <a:ext cx="106740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7C4D6"/>
                </a:solidFill>
                <a:latin typeface="Inter" pitchFamily="34" charset="0"/>
                <a:ea typeface="Inter" pitchFamily="34" charset="-122"/>
                <a:cs typeface="Inter" pitchFamily="34" charset="-120"/>
              </a:rPr>
              <a:t>Mouhammad DIALLO · Eric Manga · Mouhamed Ngom · Aminata BA · Fatou Alarba BA</a:t>
            </a:r>
            <a:endParaRPr lang="en-US" sz="1200" dirty="0"/>
          </a:p>
        </p:txBody>
      </p:sp>
    </p:spTree>
  </p:cSld>
  <p:clrMapOvr>
    <a:masterClrMapping/>
  </p:clrMapOvr>
</p:sld>
</file>

<file path=ppt/theme/theme1.xml><?xml version="1.0" encoding="utf-8"?>
<a:theme xmlns:a="http://schemas.openxmlformats.org/drawingml/2006/main" name="La communication unifiée">
  <a:themeElements>
    <a:clrScheme name="La communication unifiée">
      <a:dk1>
        <a:srgbClr val="0B1F3A"/>
      </a:dk1>
      <a:lt1>
        <a:srgbClr val="F3F6FA"/>
      </a:lt1>
      <a:dk2>
        <a:srgbClr val="45556A"/>
      </a:dk2>
      <a:lt2>
        <a:srgbClr val="DCE1E7"/>
      </a:lt2>
      <a:accent1>
        <a:srgbClr val="12305A"/>
      </a:accent1>
      <a:accent2>
        <a:srgbClr val="FF7A1A"/>
      </a:accent2>
      <a:accent3>
        <a:srgbClr val="17A398"/>
      </a:accent3>
      <a:accent4>
        <a:srgbClr val="334155"/>
      </a:accent4>
      <a:accent5>
        <a:srgbClr val="D5DEE9"/>
      </a:accent5>
      <a:accent6>
        <a:srgbClr val="B7C4D6"/>
      </a:accent6>
      <a:hlink>
        <a:srgbClr val="0563C1"/>
      </a:hlink>
      <a:folHlink>
        <a:srgbClr val="954F72"/>
      </a:folHlink>
    </a:clrScheme>
    <a:fontScheme name="La communication unifié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6014</Words>
  <Application>Microsoft Office PowerPoint</Application>
  <PresentationFormat>Grand écran</PresentationFormat>
  <Paragraphs>409</Paragraphs>
  <Slides>20</Slides>
  <Notes>20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20</vt:i4>
      </vt:variant>
    </vt:vector>
  </HeadingPairs>
  <TitlesOfParts>
    <vt:vector size="25" baseType="lpstr">
      <vt:lpstr>Arial</vt:lpstr>
      <vt:lpstr>Inter</vt:lpstr>
      <vt:lpstr>JetBrains Mono</vt:lpstr>
      <vt:lpstr>Space Grotesk</vt:lpstr>
      <vt:lpstr>La communication unifiée</vt:lpstr>
      <vt:lpstr>La communication unifiée</vt:lpstr>
      <vt:lpstr>Une urgence, cinq outils distincts</vt:lpstr>
      <vt:lpstr>De systèmes séparés à une plateforme intégrée</vt:lpstr>
      <vt:lpstr>Unified Communications (UC)</vt:lpstr>
      <vt:lpstr>UC, UCC, UCaaS : ne pas les confondre</vt:lpstr>
      <vt:lpstr>Neuf briques, une seule expérience</vt:lpstr>
      <vt:lpstr>Deux plans : signalisation et média</vt:lpstr>
      <vt:lpstr>Un appel SIP, de l’INVITE au BYE</vt:lpstr>
      <vt:lpstr>Où vit la plateforme, et qui l’exploite ?</vt:lpstr>
      <vt:lpstr>Sur site, cloud ou hybride : les compromis</vt:lpstr>
      <vt:lpstr>Trois familles, trois rôles</vt:lpstr>
      <vt:lpstr>Un INVITE SIP avec offre SDP</vt:lpstr>
      <vt:lpstr>Se connecter malgré le NAT</vt:lpstr>
      <vt:lpstr>Une visioconférence, du clic au flux</vt:lpstr>
      <vt:lpstr>Cloud collaboratif ou téléphonie auto-hébergée</vt:lpstr>
      <vt:lpstr>Six contextes, un même besoin de cohérence</vt:lpstr>
      <vt:lpstr>Protéger les flux, les comptes et les données</vt:lpstr>
      <vt:lpstr>Des avantages réels, des limites à connaître</vt:lpstr>
      <vt:lpstr>Six étapes pour un déploiement réussi</vt:lpstr>
      <vt:lpstr>Pourquoi la communication unifiée est devenue un enjeu d’infrastructure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communication unifiée</dc:title>
  <dc:subject/>
  <dc:creator/>
  <cp:lastModifiedBy>Mouhammad DIALLO</cp:lastModifiedBy>
  <cp:revision>2</cp:revision>
  <dcterms:created xsi:type="dcterms:W3CDTF">2026-10-18T12:56:45Z</dcterms:created>
  <dcterms:modified xsi:type="dcterms:W3CDTF">2026-10-18T13:05:20Z</dcterms:modified>
</cp:coreProperties>
</file>