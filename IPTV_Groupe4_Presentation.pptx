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Présenter le groupe et le thème. Une phrase d'accroche : aujourd'hui, une grande partie de la télévision que nous regardons ne passe plus par l'antenne ou le satellite, mais par le réseau IP. C'est ce qu'on appelle l'IPTV.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Annoncer le plan en six parties. On commence par les notions, puis l'architecture technique, et on termine par une démonstration réalisée en salle.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Insister sur le mot « géré » : c'est ce qui distingue l'IPTV d'une simple vidéo sur Internet. L'opérateur contrôle tout le chemin entre la tête de réseau et le décodeur de l'abonné.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Erreur fréquente : confondre IPTV et OTT. Les deux utilisent IP, mais l'OTT passe par l'Internet public sans garantie, alors que l'IPTV reste dans le réseau maîtrisé par l'opérateur.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Décrire le parcours d'une chaîne : elle est captée (satellite, TNT ou studio), encodée en H.264 ou H.265, encapsulée en MPEG-TS, puis envoyée en multicast dans le cœur de réseau jusqu'au DSLAM ou à l'OLT, et enfin jusqu'au décodeur de l'abonné.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direct utilise le multicast parce que beaucoup d'abonnés regardent la même chaîne au même moment. La VoD et le replay sont individuels : chaque abonné reçoit son propre flux en unicast.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couple IGMP + PIM est au cœur de l'IPTV : quand on change de chaîne, le décodeur envoie un IGMP Leave pour l'ancienne et un IGMP Join pour la nouvelle. On le verra dans Wireshark pendant la démo.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Sans compression, une vidéo HD dépasse le gigabit par seconde. La compression rend l'IPTV possible même sur ADSL. Le passage au H.265 permet de faire passer plus de chaînes HD sur la même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l'argument central. En multicast, le coût en bande passante du cœur de réseau ne dépend plus du nombre de téléspectateurs, mais du nombre de chaînes regardées.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QoS se mesure sur le réseau (paquets, délais). La QoE, c'est ce que ressent le téléspectateur. Pour garantir la QoS, l'opérateur sépare la vidéo dans un VLAN dédié et lui donne une priorité élevée (DiffServ, 802.1p).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faut distinguer la technologie IPTV, parfaitement légale et utilisée par les opérateurs, des services pirates qui revendent des chaînes sans droits. Sources : OSIRIS (2025) et Dakaractu sur l'affaire Senabonnement.com.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Faire le lien avec le contexte local : l'avantage technique est réel, mais la limite principale au Sénégal reste l'accès au haut débit en dehors des grandes villes.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Basculer sur les machines. Suivre le guide de mise en œuvre : d'abord la diffusion multicast VLC, puis le portail HLS dans le navigateur, et enfin la capture Wireshark pendant un changement de chaîne.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Résumer en trois idées, remercier et ouvrir les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OMBRE">
    <p:bg>
      <p:bgPr>
        <a:solidFill>
          <a:srgbClr val="0E4D3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rgbClr val="0E4D3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457200" y="4754880"/>
            <a:ext cx="3657600" cy="274320"/>
          </a:xfrm>
          <a:prstGeom prst="rect">
            <a:avLst/>
          </a:prstGeom>
          <a:noFill/>
          <a:ln/>
        </p:spPr>
        <p:txBody>
          <a:bodyPr wrap="square" lIns="0" tIns="0" rIns="0" bIns="0" rtlCol="0" anchor="ctr"/>
          <a:lstStyle/>
          <a:p>
            <a:pPr indent="0" marL="0">
              <a:buNone/>
            </a:pPr>
            <a:r>
              <a:rPr lang="en-US" sz="1000" dirty="0">
                <a:solidFill>
                  <a:srgbClr val="56685F"/>
                </a:solidFill>
                <a:latin typeface="Calibri" pitchFamily="34" charset="0"/>
                <a:ea typeface="Calibri" pitchFamily="34" charset="-122"/>
                <a:cs typeface="Calibri" pitchFamily="34" charset="-120"/>
              </a:rPr>
              <a:t>Groupe 4  |  L'IPTV</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3.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écor cercle 1"/>
          <p:cNvSpPr/>
          <p:nvPr/>
        </p:nvSpPr>
        <p:spPr>
          <a:xfrm>
            <a:off x="6035040" y="-1097280"/>
            <a:ext cx="4572000" cy="4572000"/>
          </a:xfrm>
          <a:prstGeom prst="ellipse">
            <a:avLst/>
          </a:prstGeom>
          <a:solidFill>
            <a:srgbClr val="1B8A5A">
              <a:alpha val="45000"/>
            </a:srgbClr>
          </a:solidFill>
          <a:ln w="12700">
            <a:solidFill>
              <a:srgbClr val="1B8A5A">
                <a:alpha val="0"/>
              </a:srgbClr>
            </a:solidFill>
            <a:prstDash val="solid"/>
          </a:ln>
        </p:spPr>
      </p:sp>
      <p:sp>
        <p:nvSpPr>
          <p:cNvPr id="3" name="Décor cercle 2"/>
          <p:cNvSpPr/>
          <p:nvPr/>
        </p:nvSpPr>
        <p:spPr>
          <a:xfrm>
            <a:off x="7223760" y="2377440"/>
            <a:ext cx="3108960" cy="3108960"/>
          </a:xfrm>
          <a:prstGeom prst="ellipse">
            <a:avLst/>
          </a:prstGeom>
          <a:solidFill>
            <a:srgbClr val="8FD3AE">
              <a:alpha val="25000"/>
            </a:srgbClr>
          </a:solidFill>
          <a:ln w="12700">
            <a:solidFill>
              <a:srgbClr val="8FD3AE">
                <a:alpha val="0"/>
              </a:srgbClr>
            </a:solidFill>
            <a:prstDash val="solid"/>
          </a:ln>
        </p:spPr>
      </p:sp>
      <p:pic>
        <p:nvPicPr>
          <p:cNvPr id="4" name="Icône TV" descr="preencoded.png">    </p:cNvPr>
          <p:cNvPicPr>
            <a:picLocks noChangeAspect="1"/>
          </p:cNvPicPr>
          <p:nvPr/>
        </p:nvPicPr>
        <p:blipFill>
          <a:blip r:embed="rId1"/>
          <a:stretch>
            <a:fillRect/>
          </a:stretch>
        </p:blipFill>
        <p:spPr>
          <a:xfrm>
            <a:off x="7086600" y="868680"/>
            <a:ext cx="1371600" cy="1371600"/>
          </a:xfrm>
          <a:prstGeom prst="rect">
            <a:avLst/>
          </a:prstGeom>
        </p:spPr>
      </p:pic>
      <p:sp>
        <p:nvSpPr>
          <p:cNvPr id="5" name="Text 2"/>
          <p:cNvSpPr txBox="1"/>
          <p:nvPr/>
        </p:nvSpPr>
        <p:spPr>
          <a:xfrm>
            <a:off x="548640" y="640080"/>
            <a:ext cx="5486400" cy="320040"/>
          </a:xfrm>
          <a:prstGeom prst="rect">
            <a:avLst/>
          </a:prstGeom>
          <a:noFill/>
          <a:ln/>
        </p:spPr>
        <p:txBody>
          <a:bodyPr wrap="square" lIns="0" tIns="0" rIns="0" bIns="0" rtlCol="0" anchor="ctr"/>
          <a:lstStyle/>
          <a:p>
            <a:pPr indent="0" marL="0">
              <a:buNone/>
            </a:pPr>
            <a:r>
              <a:rPr lang="en-US" sz="1400" dirty="0">
                <a:solidFill>
                  <a:srgbClr val="8FD3AE"/>
                </a:solidFill>
                <a:latin typeface="Calibri" pitchFamily="34" charset="0"/>
                <a:ea typeface="Calibri" pitchFamily="34" charset="-122"/>
                <a:cs typeface="Calibri" pitchFamily="34" charset="-120"/>
              </a:rPr>
              <a:t>Module : Services à valeur ajoutée</a:t>
            </a:r>
            <a:endParaRPr lang="en-US" sz="1400" dirty="0"/>
          </a:p>
        </p:txBody>
      </p:sp>
      <p:sp>
        <p:nvSpPr>
          <p:cNvPr id="6" name="Text 3"/>
          <p:cNvSpPr txBox="1"/>
          <p:nvPr/>
        </p:nvSpPr>
        <p:spPr>
          <a:xfrm>
            <a:off x="548640" y="1097280"/>
            <a:ext cx="59436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L'IPTV</a:t>
            </a:r>
            <a:endParaRPr lang="en-US" sz="5400" dirty="0"/>
          </a:p>
        </p:txBody>
      </p:sp>
      <p:sp>
        <p:nvSpPr>
          <p:cNvPr id="7" name="Text 4"/>
          <p:cNvSpPr txBox="1"/>
          <p:nvPr/>
        </p:nvSpPr>
        <p:spPr>
          <a:xfrm>
            <a:off x="548640" y="2011680"/>
            <a:ext cx="5943600" cy="457200"/>
          </a:xfrm>
          <a:prstGeom prst="rect">
            <a:avLst/>
          </a:prstGeom>
          <a:noFill/>
          <a:ln/>
        </p:spPr>
        <p:txBody>
          <a:bodyPr wrap="square" lIns="0" tIns="0" rIns="0" bIns="0" rtlCol="0" anchor="ctr"/>
          <a:lstStyle/>
          <a:p>
            <a:pPr indent="0" marL="0">
              <a:buNone/>
            </a:pPr>
            <a:r>
              <a:rPr lang="en-US" sz="2200" dirty="0">
                <a:solidFill>
                  <a:srgbClr val="FFFFFF"/>
                </a:solidFill>
                <a:latin typeface="Calibri" pitchFamily="34" charset="0"/>
                <a:ea typeface="Calibri" pitchFamily="34" charset="-122"/>
                <a:cs typeface="Calibri" pitchFamily="34" charset="-120"/>
              </a:rPr>
              <a:t>La télévision sur protocole IP</a:t>
            </a:r>
            <a:endParaRPr lang="en-US" sz="2200" dirty="0"/>
          </a:p>
        </p:txBody>
      </p:sp>
      <p:sp>
        <p:nvSpPr>
          <p:cNvPr id="8" name="Text 5"/>
          <p:cNvSpPr txBox="1"/>
          <p:nvPr/>
        </p:nvSpPr>
        <p:spPr>
          <a:xfrm>
            <a:off x="548640" y="3154680"/>
            <a:ext cx="6400800" cy="914400"/>
          </a:xfrm>
          <a:prstGeom prst="rect">
            <a:avLst/>
          </a:prstGeom>
          <a:noFill/>
          <a:ln/>
        </p:spPr>
        <p:txBody>
          <a:bodyPr wrap="square" lIns="0" tIns="0" rIns="0" bIns="0" rtlCol="0" anchor="ctr"/>
          <a:lstStyle/>
          <a:p>
            <a:pPr indent="0" marL="0">
              <a:spcAft>
                <a:spcPts val="300"/>
              </a:spcAft>
              <a:buNone/>
            </a:pPr>
            <a:r>
              <a:rPr lang="en-US" sz="1400" b="1" dirty="0">
                <a:solidFill>
                  <a:srgbClr val="8FD3AE"/>
                </a:solidFill>
                <a:latin typeface="Calibri" pitchFamily="34" charset="0"/>
                <a:ea typeface="Calibri" pitchFamily="34" charset="-122"/>
                <a:cs typeface="Calibri" pitchFamily="34" charset="-120"/>
              </a:rPr>
              <a:t>Groupe 4</a:t>
            </a:r>
            <a:endParaRPr lang="en-US" sz="1400" dirty="0"/>
          </a:p>
          <a:p>
            <a:pPr indent="0" marL="0">
              <a:spcAft>
                <a:spcPts val="300"/>
              </a:spcAft>
              <a:buNone/>
            </a:pPr>
            <a:r>
              <a:rPr lang="en-US" sz="1400" dirty="0">
                <a:solidFill>
                  <a:srgbClr val="FFFFFF"/>
                </a:solidFill>
                <a:latin typeface="Calibri" pitchFamily="34" charset="0"/>
                <a:ea typeface="Calibri" pitchFamily="34" charset="-122"/>
                <a:cs typeface="Calibri" pitchFamily="34" charset="-120"/>
              </a:rPr>
              <a:t>Ibrahima GUEYE  ·  Fallou SARR  ·  Khady KANE</a:t>
            </a:r>
            <a:endParaRPr lang="en-US" sz="1400" dirty="0"/>
          </a:p>
          <a:p>
            <a:pPr indent="0" marL="0">
              <a:spcAft>
                <a:spcPts val="300"/>
              </a:spcAft>
              <a:buNone/>
            </a:pPr>
            <a:r>
              <a:rPr lang="en-US" sz="1400" dirty="0">
                <a:solidFill>
                  <a:srgbClr val="FFFFFF"/>
                </a:solidFill>
                <a:latin typeface="Calibri" pitchFamily="34" charset="0"/>
                <a:ea typeface="Calibri" pitchFamily="34" charset="-122"/>
                <a:cs typeface="Calibri" pitchFamily="34" charset="-120"/>
              </a:rPr>
              <a:t>Rokhaya Daba CAMARA  ·  Abdourahmane DIAW</a:t>
            </a:r>
            <a:endParaRPr lang="en-US" sz="1400" dirty="0"/>
          </a:p>
        </p:txBody>
      </p:sp>
      <p:sp>
        <p:nvSpPr>
          <p:cNvPr id="9" name="Text 6"/>
          <p:cNvSpPr txBox="1"/>
          <p:nvPr/>
        </p:nvSpPr>
        <p:spPr>
          <a:xfrm>
            <a:off x="548640" y="4434840"/>
            <a:ext cx="4572000" cy="274320"/>
          </a:xfrm>
          <a:prstGeom prst="rect">
            <a:avLst/>
          </a:prstGeom>
          <a:noFill/>
          <a:ln/>
        </p:spPr>
        <p:txBody>
          <a:bodyPr wrap="square" lIns="0" tIns="0" rIns="0" bIns="0" rtlCol="0" anchor="ctr"/>
          <a:lstStyle/>
          <a:p>
            <a:pPr indent="0" marL="0">
              <a:buNone/>
            </a:pPr>
            <a:r>
              <a:rPr lang="en-US" sz="1100" dirty="0">
                <a:solidFill>
                  <a:srgbClr val="8FD3AE"/>
                </a:solidFill>
                <a:latin typeface="Calibri" pitchFamily="34" charset="0"/>
                <a:ea typeface="Calibri" pitchFamily="34" charset="-122"/>
                <a:cs typeface="Calibri" pitchFamily="34" charset="-120"/>
              </a:rPr>
              <a:t>Année universitaire 2026 – 2027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4D32"/>
                </a:solidFill>
                <a:latin typeface="Cambria" pitchFamily="34" charset="0"/>
                <a:ea typeface="Cambria" pitchFamily="34" charset="-122"/>
                <a:cs typeface="Cambria" pitchFamily="34" charset="-120"/>
              </a:rPr>
              <a:t>Sommaire</a:t>
            </a:r>
            <a:endParaRPr lang="en-US" sz="3000" dirty="0"/>
          </a:p>
        </p:txBody>
      </p:sp>
      <p:sp>
        <p:nvSpPr>
          <p:cNvPr id="3" name="Carte sommaire 1"/>
          <p:cNvSpPr/>
          <p:nvPr/>
        </p:nvSpPr>
        <p:spPr>
          <a:xfrm>
            <a:off x="457200" y="1234440"/>
            <a:ext cx="3977640" cy="868680"/>
          </a:xfrm>
          <a:prstGeom prst="roundRect">
            <a:avLst>
              <a:gd name="adj" fmla="val 10526"/>
            </a:avLst>
          </a:prstGeom>
          <a:solidFill>
            <a:srgbClr val="E9F6EF"/>
          </a:solidFill>
          <a:ln w="12700">
            <a:solidFill>
              <a:srgbClr val="E9F6EF"/>
            </a:solidFill>
            <a:prstDash val="solid"/>
          </a:ln>
        </p:spPr>
      </p:sp>
      <p:sp>
        <p:nvSpPr>
          <p:cNvPr id="4" name="Text 2"/>
          <p:cNvSpPr txBox="1"/>
          <p:nvPr/>
        </p:nvSpPr>
        <p:spPr>
          <a:xfrm>
            <a:off x="685800" y="1234440"/>
            <a:ext cx="731520" cy="868680"/>
          </a:xfrm>
          <a:prstGeom prst="rect">
            <a:avLst/>
          </a:prstGeom>
          <a:noFill/>
          <a:ln/>
        </p:spPr>
        <p:txBody>
          <a:bodyPr wrap="square" lIns="0" tIns="0" rIns="0" bIns="0" rtlCol="0" anchor="ctr"/>
          <a:lstStyle/>
          <a:p>
            <a:pPr indent="0" marL="0">
              <a:buNone/>
            </a:pPr>
            <a:r>
              <a:rPr lang="en-US" sz="2800" b="1" dirty="0">
                <a:solidFill>
                  <a:srgbClr val="1B8A5A"/>
                </a:solidFill>
                <a:latin typeface="Cambria" pitchFamily="34" charset="0"/>
                <a:ea typeface="Cambria" pitchFamily="34" charset="-122"/>
                <a:cs typeface="Cambria" pitchFamily="34" charset="-120"/>
              </a:rPr>
              <a:t>01</a:t>
            </a:r>
            <a:endParaRPr lang="en-US" sz="2800" dirty="0"/>
          </a:p>
        </p:txBody>
      </p:sp>
      <p:sp>
        <p:nvSpPr>
          <p:cNvPr id="5" name="Text 3"/>
          <p:cNvSpPr txBox="1"/>
          <p:nvPr/>
        </p:nvSpPr>
        <p:spPr>
          <a:xfrm>
            <a:off x="1463040" y="1234440"/>
            <a:ext cx="2834640" cy="868680"/>
          </a:xfrm>
          <a:prstGeom prst="rect">
            <a:avLst/>
          </a:prstGeom>
          <a:noFill/>
          <a:ln/>
        </p:spPr>
        <p:txBody>
          <a:bodyPr wrap="square" lIns="0" tIns="0" rIns="0" bIns="0" rtlCol="0" anchor="ctr"/>
          <a:lstStyle/>
          <a:p>
            <a:pPr indent="0" marL="0">
              <a:buNone/>
            </a:pPr>
            <a:r>
              <a:rPr lang="en-US" sz="1600" dirty="0">
                <a:solidFill>
                  <a:srgbClr val="1F2D27"/>
                </a:solidFill>
                <a:latin typeface="Calibri" pitchFamily="34" charset="0"/>
                <a:ea typeface="Calibri" pitchFamily="34" charset="-122"/>
                <a:cs typeface="Calibri" pitchFamily="34" charset="-120"/>
              </a:rPr>
              <a:t>Définition et positionnement</a:t>
            </a:r>
            <a:endParaRPr lang="en-US" sz="1600" dirty="0"/>
          </a:p>
        </p:txBody>
      </p:sp>
      <p:sp>
        <p:nvSpPr>
          <p:cNvPr id="6" name="Carte sommaire 2"/>
          <p:cNvSpPr/>
          <p:nvPr/>
        </p:nvSpPr>
        <p:spPr>
          <a:xfrm>
            <a:off x="457200" y="2331720"/>
            <a:ext cx="3977640" cy="868680"/>
          </a:xfrm>
          <a:prstGeom prst="roundRect">
            <a:avLst>
              <a:gd name="adj" fmla="val 10526"/>
            </a:avLst>
          </a:prstGeom>
          <a:solidFill>
            <a:srgbClr val="E9F6EF"/>
          </a:solidFill>
          <a:ln w="12700">
            <a:solidFill>
              <a:srgbClr val="E9F6EF"/>
            </a:solidFill>
            <a:prstDash val="solid"/>
          </a:ln>
        </p:spPr>
      </p:sp>
      <p:sp>
        <p:nvSpPr>
          <p:cNvPr id="7" name="Text 5"/>
          <p:cNvSpPr txBox="1"/>
          <p:nvPr/>
        </p:nvSpPr>
        <p:spPr>
          <a:xfrm>
            <a:off x="685800" y="2331720"/>
            <a:ext cx="731520" cy="868680"/>
          </a:xfrm>
          <a:prstGeom prst="rect">
            <a:avLst/>
          </a:prstGeom>
          <a:noFill/>
          <a:ln/>
        </p:spPr>
        <p:txBody>
          <a:bodyPr wrap="square" lIns="0" tIns="0" rIns="0" bIns="0" rtlCol="0" anchor="ctr"/>
          <a:lstStyle/>
          <a:p>
            <a:pPr indent="0" marL="0">
              <a:buNone/>
            </a:pPr>
            <a:r>
              <a:rPr lang="en-US" sz="2800" b="1" dirty="0">
                <a:solidFill>
                  <a:srgbClr val="1B8A5A"/>
                </a:solidFill>
                <a:latin typeface="Cambria" pitchFamily="34" charset="0"/>
                <a:ea typeface="Cambria" pitchFamily="34" charset="-122"/>
                <a:cs typeface="Cambria" pitchFamily="34" charset="-120"/>
              </a:rPr>
              <a:t>02</a:t>
            </a:r>
            <a:endParaRPr lang="en-US" sz="2800" dirty="0"/>
          </a:p>
        </p:txBody>
      </p:sp>
      <p:sp>
        <p:nvSpPr>
          <p:cNvPr id="8" name="Text 6"/>
          <p:cNvSpPr txBox="1"/>
          <p:nvPr/>
        </p:nvSpPr>
        <p:spPr>
          <a:xfrm>
            <a:off x="1463040" y="2331720"/>
            <a:ext cx="2834640" cy="868680"/>
          </a:xfrm>
          <a:prstGeom prst="rect">
            <a:avLst/>
          </a:prstGeom>
          <a:noFill/>
          <a:ln/>
        </p:spPr>
        <p:txBody>
          <a:bodyPr wrap="square" lIns="0" tIns="0" rIns="0" bIns="0" rtlCol="0" anchor="ctr"/>
          <a:lstStyle/>
          <a:p>
            <a:pPr indent="0" marL="0">
              <a:buNone/>
            </a:pPr>
            <a:r>
              <a:rPr lang="en-US" sz="1600" dirty="0">
                <a:solidFill>
                  <a:srgbClr val="1F2D27"/>
                </a:solidFill>
                <a:latin typeface="Calibri" pitchFamily="34" charset="0"/>
                <a:ea typeface="Calibri" pitchFamily="34" charset="-122"/>
                <a:cs typeface="Calibri" pitchFamily="34" charset="-120"/>
              </a:rPr>
              <a:t>Architecture d'un réseau IPTV</a:t>
            </a:r>
            <a:endParaRPr lang="en-US" sz="1600" dirty="0"/>
          </a:p>
        </p:txBody>
      </p:sp>
      <p:sp>
        <p:nvSpPr>
          <p:cNvPr id="9" name="Carte sommaire 3"/>
          <p:cNvSpPr/>
          <p:nvPr/>
        </p:nvSpPr>
        <p:spPr>
          <a:xfrm>
            <a:off x="457200" y="3429000"/>
            <a:ext cx="3977640" cy="868680"/>
          </a:xfrm>
          <a:prstGeom prst="roundRect">
            <a:avLst>
              <a:gd name="adj" fmla="val 10526"/>
            </a:avLst>
          </a:prstGeom>
          <a:solidFill>
            <a:srgbClr val="E9F6EF"/>
          </a:solidFill>
          <a:ln w="12700">
            <a:solidFill>
              <a:srgbClr val="E9F6EF"/>
            </a:solidFill>
            <a:prstDash val="solid"/>
          </a:ln>
        </p:spPr>
      </p:sp>
      <p:sp>
        <p:nvSpPr>
          <p:cNvPr id="10" name="Text 8"/>
          <p:cNvSpPr txBox="1"/>
          <p:nvPr/>
        </p:nvSpPr>
        <p:spPr>
          <a:xfrm>
            <a:off x="685800" y="3429000"/>
            <a:ext cx="731520" cy="868680"/>
          </a:xfrm>
          <a:prstGeom prst="rect">
            <a:avLst/>
          </a:prstGeom>
          <a:noFill/>
          <a:ln/>
        </p:spPr>
        <p:txBody>
          <a:bodyPr wrap="square" lIns="0" tIns="0" rIns="0" bIns="0" rtlCol="0" anchor="ctr"/>
          <a:lstStyle/>
          <a:p>
            <a:pPr indent="0" marL="0">
              <a:buNone/>
            </a:pPr>
            <a:r>
              <a:rPr lang="en-US" sz="2800" b="1" dirty="0">
                <a:solidFill>
                  <a:srgbClr val="1B8A5A"/>
                </a:solidFill>
                <a:latin typeface="Cambria" pitchFamily="34" charset="0"/>
                <a:ea typeface="Cambria" pitchFamily="34" charset="-122"/>
                <a:cs typeface="Cambria" pitchFamily="34" charset="-120"/>
              </a:rPr>
              <a:t>03</a:t>
            </a:r>
            <a:endParaRPr lang="en-US" sz="2800" dirty="0"/>
          </a:p>
        </p:txBody>
      </p:sp>
      <p:sp>
        <p:nvSpPr>
          <p:cNvPr id="11" name="Text 9"/>
          <p:cNvSpPr txBox="1"/>
          <p:nvPr/>
        </p:nvSpPr>
        <p:spPr>
          <a:xfrm>
            <a:off x="1463040" y="3429000"/>
            <a:ext cx="2834640" cy="868680"/>
          </a:xfrm>
          <a:prstGeom prst="rect">
            <a:avLst/>
          </a:prstGeom>
          <a:noFill/>
          <a:ln/>
        </p:spPr>
        <p:txBody>
          <a:bodyPr wrap="square" lIns="0" tIns="0" rIns="0" bIns="0" rtlCol="0" anchor="ctr"/>
          <a:lstStyle/>
          <a:p>
            <a:pPr indent="0" marL="0">
              <a:buNone/>
            </a:pPr>
            <a:r>
              <a:rPr lang="en-US" sz="1600" dirty="0">
                <a:solidFill>
                  <a:srgbClr val="1F2D27"/>
                </a:solidFill>
                <a:latin typeface="Calibri" pitchFamily="34" charset="0"/>
                <a:ea typeface="Calibri" pitchFamily="34" charset="-122"/>
                <a:cs typeface="Calibri" pitchFamily="34" charset="-120"/>
              </a:rPr>
              <a:t>Services et protocoles</a:t>
            </a:r>
            <a:endParaRPr lang="en-US" sz="1600" dirty="0"/>
          </a:p>
        </p:txBody>
      </p:sp>
      <p:sp>
        <p:nvSpPr>
          <p:cNvPr id="12" name="Carte sommaire 4"/>
          <p:cNvSpPr/>
          <p:nvPr/>
        </p:nvSpPr>
        <p:spPr>
          <a:xfrm>
            <a:off x="4709160" y="1234440"/>
            <a:ext cx="3977640" cy="868680"/>
          </a:xfrm>
          <a:prstGeom prst="roundRect">
            <a:avLst>
              <a:gd name="adj" fmla="val 10526"/>
            </a:avLst>
          </a:prstGeom>
          <a:solidFill>
            <a:srgbClr val="E9F6EF"/>
          </a:solidFill>
          <a:ln w="12700">
            <a:solidFill>
              <a:srgbClr val="E9F6EF"/>
            </a:solidFill>
            <a:prstDash val="solid"/>
          </a:ln>
        </p:spPr>
      </p:sp>
      <p:sp>
        <p:nvSpPr>
          <p:cNvPr id="13" name="Text 11"/>
          <p:cNvSpPr txBox="1"/>
          <p:nvPr/>
        </p:nvSpPr>
        <p:spPr>
          <a:xfrm>
            <a:off x="4937760" y="1234440"/>
            <a:ext cx="731520" cy="868680"/>
          </a:xfrm>
          <a:prstGeom prst="rect">
            <a:avLst/>
          </a:prstGeom>
          <a:noFill/>
          <a:ln/>
        </p:spPr>
        <p:txBody>
          <a:bodyPr wrap="square" lIns="0" tIns="0" rIns="0" bIns="0" rtlCol="0" anchor="ctr"/>
          <a:lstStyle/>
          <a:p>
            <a:pPr indent="0" marL="0">
              <a:buNone/>
            </a:pPr>
            <a:r>
              <a:rPr lang="en-US" sz="2800" b="1" dirty="0">
                <a:solidFill>
                  <a:srgbClr val="1B8A5A"/>
                </a:solidFill>
                <a:latin typeface="Cambria" pitchFamily="34" charset="0"/>
                <a:ea typeface="Cambria" pitchFamily="34" charset="-122"/>
                <a:cs typeface="Cambria" pitchFamily="34" charset="-120"/>
              </a:rPr>
              <a:t>04</a:t>
            </a:r>
            <a:endParaRPr lang="en-US" sz="2800" dirty="0"/>
          </a:p>
        </p:txBody>
      </p:sp>
      <p:sp>
        <p:nvSpPr>
          <p:cNvPr id="14" name="Text 12"/>
          <p:cNvSpPr txBox="1"/>
          <p:nvPr/>
        </p:nvSpPr>
        <p:spPr>
          <a:xfrm>
            <a:off x="5715000" y="1234440"/>
            <a:ext cx="2834640" cy="868680"/>
          </a:xfrm>
          <a:prstGeom prst="rect">
            <a:avLst/>
          </a:prstGeom>
          <a:noFill/>
          <a:ln/>
        </p:spPr>
        <p:txBody>
          <a:bodyPr wrap="square" lIns="0" tIns="0" rIns="0" bIns="0" rtlCol="0" anchor="ctr"/>
          <a:lstStyle/>
          <a:p>
            <a:pPr indent="0" marL="0">
              <a:buNone/>
            </a:pPr>
            <a:r>
              <a:rPr lang="en-US" sz="1600" dirty="0">
                <a:solidFill>
                  <a:srgbClr val="1F2D27"/>
                </a:solidFill>
                <a:latin typeface="Calibri" pitchFamily="34" charset="0"/>
                <a:ea typeface="Calibri" pitchFamily="34" charset="-122"/>
                <a:cs typeface="Calibri" pitchFamily="34" charset="-120"/>
              </a:rPr>
              <a:t>Diffusion, compression et qualité</a:t>
            </a:r>
            <a:endParaRPr lang="en-US" sz="1600" dirty="0"/>
          </a:p>
        </p:txBody>
      </p:sp>
      <p:sp>
        <p:nvSpPr>
          <p:cNvPr id="15" name="Carte sommaire 5"/>
          <p:cNvSpPr/>
          <p:nvPr/>
        </p:nvSpPr>
        <p:spPr>
          <a:xfrm>
            <a:off x="4709160" y="2331720"/>
            <a:ext cx="3977640" cy="868680"/>
          </a:xfrm>
          <a:prstGeom prst="roundRect">
            <a:avLst>
              <a:gd name="adj" fmla="val 10526"/>
            </a:avLst>
          </a:prstGeom>
          <a:solidFill>
            <a:srgbClr val="E9F6EF"/>
          </a:solidFill>
          <a:ln w="12700">
            <a:solidFill>
              <a:srgbClr val="E9F6EF"/>
            </a:solidFill>
            <a:prstDash val="solid"/>
          </a:ln>
        </p:spPr>
      </p:sp>
      <p:sp>
        <p:nvSpPr>
          <p:cNvPr id="16" name="Text 14"/>
          <p:cNvSpPr txBox="1"/>
          <p:nvPr/>
        </p:nvSpPr>
        <p:spPr>
          <a:xfrm>
            <a:off x="4937760" y="2331720"/>
            <a:ext cx="731520" cy="868680"/>
          </a:xfrm>
          <a:prstGeom prst="rect">
            <a:avLst/>
          </a:prstGeom>
          <a:noFill/>
          <a:ln/>
        </p:spPr>
        <p:txBody>
          <a:bodyPr wrap="square" lIns="0" tIns="0" rIns="0" bIns="0" rtlCol="0" anchor="ctr"/>
          <a:lstStyle/>
          <a:p>
            <a:pPr indent="0" marL="0">
              <a:buNone/>
            </a:pPr>
            <a:r>
              <a:rPr lang="en-US" sz="2800" b="1" dirty="0">
                <a:solidFill>
                  <a:srgbClr val="1B8A5A"/>
                </a:solidFill>
                <a:latin typeface="Cambria" pitchFamily="34" charset="0"/>
                <a:ea typeface="Cambria" pitchFamily="34" charset="-122"/>
                <a:cs typeface="Cambria" pitchFamily="34" charset="-120"/>
              </a:rPr>
              <a:t>05</a:t>
            </a:r>
            <a:endParaRPr lang="en-US" sz="2800" dirty="0"/>
          </a:p>
        </p:txBody>
      </p:sp>
      <p:sp>
        <p:nvSpPr>
          <p:cNvPr id="17" name="Text 15"/>
          <p:cNvSpPr txBox="1"/>
          <p:nvPr/>
        </p:nvSpPr>
        <p:spPr>
          <a:xfrm>
            <a:off x="5715000" y="2331720"/>
            <a:ext cx="2834640" cy="868680"/>
          </a:xfrm>
          <a:prstGeom prst="rect">
            <a:avLst/>
          </a:prstGeom>
          <a:noFill/>
          <a:ln/>
        </p:spPr>
        <p:txBody>
          <a:bodyPr wrap="square" lIns="0" tIns="0" rIns="0" bIns="0" rtlCol="0" anchor="ctr"/>
          <a:lstStyle/>
          <a:p>
            <a:pPr indent="0" marL="0">
              <a:buNone/>
            </a:pPr>
            <a:r>
              <a:rPr lang="en-US" sz="1600" dirty="0">
                <a:solidFill>
                  <a:srgbClr val="1F2D27"/>
                </a:solidFill>
                <a:latin typeface="Calibri" pitchFamily="34" charset="0"/>
                <a:ea typeface="Calibri" pitchFamily="34" charset="-122"/>
                <a:cs typeface="Calibri" pitchFamily="34" charset="-120"/>
              </a:rPr>
              <a:t>L'IPTV au Sénégal</a:t>
            </a:r>
            <a:endParaRPr lang="en-US" sz="1600" dirty="0"/>
          </a:p>
        </p:txBody>
      </p:sp>
      <p:sp>
        <p:nvSpPr>
          <p:cNvPr id="18" name="Carte sommaire 6"/>
          <p:cNvSpPr/>
          <p:nvPr/>
        </p:nvSpPr>
        <p:spPr>
          <a:xfrm>
            <a:off x="4709160" y="3429000"/>
            <a:ext cx="3977640" cy="868680"/>
          </a:xfrm>
          <a:prstGeom prst="roundRect">
            <a:avLst>
              <a:gd name="adj" fmla="val 10526"/>
            </a:avLst>
          </a:prstGeom>
          <a:solidFill>
            <a:srgbClr val="E9F6EF"/>
          </a:solidFill>
          <a:ln w="12700">
            <a:solidFill>
              <a:srgbClr val="E9F6EF"/>
            </a:solidFill>
            <a:prstDash val="solid"/>
          </a:ln>
        </p:spPr>
      </p:sp>
      <p:sp>
        <p:nvSpPr>
          <p:cNvPr id="19" name="Text 17"/>
          <p:cNvSpPr txBox="1"/>
          <p:nvPr/>
        </p:nvSpPr>
        <p:spPr>
          <a:xfrm>
            <a:off x="4937760" y="3429000"/>
            <a:ext cx="731520" cy="868680"/>
          </a:xfrm>
          <a:prstGeom prst="rect">
            <a:avLst/>
          </a:prstGeom>
          <a:noFill/>
          <a:ln/>
        </p:spPr>
        <p:txBody>
          <a:bodyPr wrap="square" lIns="0" tIns="0" rIns="0" bIns="0" rtlCol="0" anchor="ctr"/>
          <a:lstStyle/>
          <a:p>
            <a:pPr indent="0" marL="0">
              <a:buNone/>
            </a:pPr>
            <a:r>
              <a:rPr lang="en-US" sz="2800" b="1" dirty="0">
                <a:solidFill>
                  <a:srgbClr val="1B8A5A"/>
                </a:solidFill>
                <a:latin typeface="Cambria" pitchFamily="34" charset="0"/>
                <a:ea typeface="Cambria" pitchFamily="34" charset="-122"/>
                <a:cs typeface="Cambria" pitchFamily="34" charset="-120"/>
              </a:rPr>
              <a:t>06</a:t>
            </a:r>
            <a:endParaRPr lang="en-US" sz="2800" dirty="0"/>
          </a:p>
        </p:txBody>
      </p:sp>
      <p:sp>
        <p:nvSpPr>
          <p:cNvPr id="20" name="Text 18"/>
          <p:cNvSpPr txBox="1"/>
          <p:nvPr/>
        </p:nvSpPr>
        <p:spPr>
          <a:xfrm>
            <a:off x="5715000" y="3429000"/>
            <a:ext cx="2834640" cy="868680"/>
          </a:xfrm>
          <a:prstGeom prst="rect">
            <a:avLst/>
          </a:prstGeom>
          <a:noFill/>
          <a:ln/>
        </p:spPr>
        <p:txBody>
          <a:bodyPr wrap="square" lIns="0" tIns="0" rIns="0" bIns="0" rtlCol="0" anchor="ctr"/>
          <a:lstStyle/>
          <a:p>
            <a:pPr indent="0" marL="0">
              <a:buNone/>
            </a:pPr>
            <a:r>
              <a:rPr lang="en-US" sz="1600" dirty="0">
                <a:solidFill>
                  <a:srgbClr val="1F2D27"/>
                </a:solidFill>
                <a:latin typeface="Calibri" pitchFamily="34" charset="0"/>
                <a:ea typeface="Calibri" pitchFamily="34" charset="-122"/>
                <a:cs typeface="Calibri" pitchFamily="34" charset="-120"/>
              </a:rPr>
              <a:t>Démonstration et conclusion</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4D32"/>
                </a:solidFill>
                <a:latin typeface="Cambria" pitchFamily="34" charset="0"/>
                <a:ea typeface="Cambria" pitchFamily="34" charset="-122"/>
                <a:cs typeface="Cambria" pitchFamily="34" charset="-120"/>
              </a:rPr>
              <a:t>Qu'est-ce que l'IPTV ?</a:t>
            </a:r>
            <a:endParaRPr lang="en-US" sz="3000" dirty="0"/>
          </a:p>
        </p:txBody>
      </p:sp>
      <p:sp>
        <p:nvSpPr>
          <p:cNvPr id="3" name="Bloc définition"/>
          <p:cNvSpPr/>
          <p:nvPr/>
        </p:nvSpPr>
        <p:spPr>
          <a:xfrm>
            <a:off x="457200" y="1234440"/>
            <a:ext cx="4023360" cy="3200400"/>
          </a:xfrm>
          <a:prstGeom prst="roundRect">
            <a:avLst>
              <a:gd name="adj" fmla="val 3429"/>
            </a:avLst>
          </a:prstGeom>
          <a:solidFill>
            <a:srgbClr val="0E4D32"/>
          </a:solidFill>
          <a:ln w="12700">
            <a:solidFill>
              <a:srgbClr val="0E4D32"/>
            </a:solidFill>
            <a:prstDash val="solid"/>
          </a:ln>
        </p:spPr>
      </p:sp>
      <p:sp>
        <p:nvSpPr>
          <p:cNvPr id="4" name="Text 2"/>
          <p:cNvSpPr txBox="1"/>
          <p:nvPr/>
        </p:nvSpPr>
        <p:spPr>
          <a:xfrm>
            <a:off x="731520" y="1463040"/>
            <a:ext cx="3520440" cy="2377440"/>
          </a:xfrm>
          <a:prstGeom prst="rect">
            <a:avLst/>
          </a:prstGeom>
          <a:noFill/>
          <a:ln/>
        </p:spPr>
        <p:txBody>
          <a:bodyPr wrap="square" lIns="0" tIns="0" rIns="0" bIns="0" rtlCol="0" anchor="t"/>
          <a:lstStyle/>
          <a:p>
            <a:pPr indent="0" marL="0">
              <a:buNone/>
            </a:pPr>
            <a:r>
              <a:rPr lang="en-US" sz="1600" b="1" dirty="0">
                <a:solidFill>
                  <a:srgbClr val="8FD3AE"/>
                </a:solidFill>
                <a:latin typeface="Calibri" pitchFamily="34" charset="0"/>
                <a:ea typeface="Calibri" pitchFamily="34" charset="-122"/>
                <a:cs typeface="Calibri" pitchFamily="34" charset="-120"/>
              </a:rPr>
              <a:t>Internet Protocol Television</a:t>
            </a:r>
            <a:endParaRPr lang="en-US" sz="1600" dirty="0"/>
          </a:p>
          <a:p>
            <a:pPr indent="0" marL="0">
              <a:buNone/>
            </a:pPr>
            <a:r>
              <a:rPr lang="en-US" sz="800" dirty="0">
                <a:solidFill>
                  <a:srgbClr val="000000"/>
                </a:solidFill>
                <a:latin typeface="Calibri" pitchFamily="34" charset="0"/>
                <a:ea typeface="Calibri" pitchFamily="34" charset="-122"/>
                <a:cs typeface="Calibri" pitchFamily="34" charset="-120"/>
              </a:rPr>
              <a:t> </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Diffusion de services de télévision, de vidéo et d'audio sur un réseau IP géré, avec le niveau de qualité, de sécurité et d'interactivité attendu par l'abonné.</a:t>
            </a:r>
            <a:endParaRPr lang="en-US" sz="1600" dirty="0"/>
          </a:p>
        </p:txBody>
      </p:sp>
      <p:sp>
        <p:nvSpPr>
          <p:cNvPr id="5" name="Text 3"/>
          <p:cNvSpPr txBox="1"/>
          <p:nvPr/>
        </p:nvSpPr>
        <p:spPr>
          <a:xfrm>
            <a:off x="731520" y="3931920"/>
            <a:ext cx="3520440" cy="320040"/>
          </a:xfrm>
          <a:prstGeom prst="rect">
            <a:avLst/>
          </a:prstGeom>
          <a:noFill/>
          <a:ln/>
        </p:spPr>
        <p:txBody>
          <a:bodyPr wrap="square" lIns="0" tIns="0" rIns="0" bIns="0" rtlCol="0" anchor="ctr"/>
          <a:lstStyle/>
          <a:p>
            <a:pPr indent="0" marL="0">
              <a:buNone/>
            </a:pPr>
            <a:r>
              <a:rPr lang="en-US" sz="1100" i="1" dirty="0">
                <a:solidFill>
                  <a:srgbClr val="8FD3AE"/>
                </a:solidFill>
                <a:latin typeface="Calibri" pitchFamily="34" charset="0"/>
                <a:ea typeface="Calibri" pitchFamily="34" charset="-122"/>
                <a:cs typeface="Calibri" pitchFamily="34" charset="-120"/>
              </a:rPr>
              <a:t>D'après la définition de l'UIT-T (FG IPTV)</a:t>
            </a:r>
            <a:endParaRPr lang="en-US" sz="1100" dirty="0"/>
          </a:p>
        </p:txBody>
      </p:sp>
      <p:sp>
        <p:nvSpPr>
          <p:cNvPr id="6" name="Réseau géré cercle"/>
          <p:cNvSpPr/>
          <p:nvPr/>
        </p:nvSpPr>
        <p:spPr>
          <a:xfrm>
            <a:off x="4846320" y="1280160"/>
            <a:ext cx="566928" cy="566928"/>
          </a:xfrm>
          <a:prstGeom prst="ellipse">
            <a:avLst/>
          </a:prstGeom>
          <a:solidFill>
            <a:srgbClr val="1B8A5A"/>
          </a:solidFill>
          <a:ln w="12700">
            <a:solidFill>
              <a:srgbClr val="1B8A5A"/>
            </a:solidFill>
            <a:prstDash val="solid"/>
          </a:ln>
        </p:spPr>
      </p:sp>
      <p:pic>
        <p:nvPicPr>
          <p:cNvPr id="7" name="Réseau géré icône" descr="preencoded.png">    </p:cNvPr>
          <p:cNvPicPr>
            <a:picLocks noChangeAspect="1"/>
          </p:cNvPicPr>
          <p:nvPr/>
        </p:nvPicPr>
        <p:blipFill>
          <a:blip r:embed="rId1"/>
          <a:stretch>
            <a:fillRect/>
          </a:stretch>
        </p:blipFill>
        <p:spPr>
          <a:xfrm>
            <a:off x="4993721" y="1427561"/>
            <a:ext cx="272125" cy="272125"/>
          </a:xfrm>
          <a:prstGeom prst="rect">
            <a:avLst/>
          </a:prstGeom>
        </p:spPr>
      </p:pic>
      <p:sp>
        <p:nvSpPr>
          <p:cNvPr id="8" name="Text 5"/>
          <p:cNvSpPr txBox="1"/>
          <p:nvPr/>
        </p:nvSpPr>
        <p:spPr>
          <a:xfrm>
            <a:off x="5623560" y="1234440"/>
            <a:ext cx="3063240" cy="347472"/>
          </a:xfrm>
          <a:prstGeom prst="rect">
            <a:avLst/>
          </a:prstGeom>
          <a:noFill/>
          <a:ln/>
        </p:spPr>
        <p:txBody>
          <a:bodyPr wrap="square" lIns="0" tIns="0" rIns="0" bIns="0" rtlCol="0" anchor="ctr"/>
          <a:lstStyle/>
          <a:p>
            <a:pPr indent="0" marL="0">
              <a:buNone/>
            </a:pPr>
            <a:r>
              <a:rPr lang="en-US" sz="1700" b="1" dirty="0">
                <a:solidFill>
                  <a:srgbClr val="0E4D32"/>
                </a:solidFill>
                <a:latin typeface="Calibri" pitchFamily="34" charset="0"/>
                <a:ea typeface="Calibri" pitchFamily="34" charset="-122"/>
                <a:cs typeface="Calibri" pitchFamily="34" charset="-120"/>
              </a:rPr>
              <a:t>Réseau géré</a:t>
            </a:r>
            <a:endParaRPr lang="en-US" sz="1700" dirty="0"/>
          </a:p>
        </p:txBody>
      </p:sp>
      <p:sp>
        <p:nvSpPr>
          <p:cNvPr id="9" name="Text 6"/>
          <p:cNvSpPr txBox="1"/>
          <p:nvPr/>
        </p:nvSpPr>
        <p:spPr>
          <a:xfrm>
            <a:off x="5623560" y="1581912"/>
            <a:ext cx="3063240" cy="548640"/>
          </a:xfrm>
          <a:prstGeom prst="rect">
            <a:avLst/>
          </a:prstGeom>
          <a:noFill/>
          <a:ln/>
        </p:spPr>
        <p:txBody>
          <a:bodyPr wrap="square" lIns="0" tIns="0" rIns="0" bIns="0" rtlCol="0" anchor="t"/>
          <a:lstStyle/>
          <a:p>
            <a:pPr indent="0" marL="0">
              <a:buNone/>
            </a:pPr>
            <a:r>
              <a:rPr lang="en-US" sz="1300" dirty="0">
                <a:solidFill>
                  <a:srgbClr val="56685F"/>
                </a:solidFill>
                <a:latin typeface="Calibri" pitchFamily="34" charset="0"/>
                <a:ea typeface="Calibri" pitchFamily="34" charset="-122"/>
                <a:cs typeface="Calibri" pitchFamily="34" charset="-120"/>
              </a:rPr>
              <a:t>Le flux reste dans le réseau de l'opérateur, pas sur l'Internet public</a:t>
            </a:r>
            <a:endParaRPr lang="en-US" sz="1300" dirty="0"/>
          </a:p>
        </p:txBody>
      </p:sp>
      <p:sp>
        <p:nvSpPr>
          <p:cNvPr id="10" name="Qualité maîtrisée cercle"/>
          <p:cNvSpPr/>
          <p:nvPr/>
        </p:nvSpPr>
        <p:spPr>
          <a:xfrm>
            <a:off x="4846320" y="2359152"/>
            <a:ext cx="566928" cy="566928"/>
          </a:xfrm>
          <a:prstGeom prst="ellipse">
            <a:avLst/>
          </a:prstGeom>
          <a:solidFill>
            <a:srgbClr val="1B8A5A"/>
          </a:solidFill>
          <a:ln w="12700">
            <a:solidFill>
              <a:srgbClr val="1B8A5A"/>
            </a:solidFill>
            <a:prstDash val="solid"/>
          </a:ln>
        </p:spPr>
      </p:sp>
      <p:pic>
        <p:nvPicPr>
          <p:cNvPr id="11" name="Qualité maîtrisée icône" descr="preencoded.png">    </p:cNvPr>
          <p:cNvPicPr>
            <a:picLocks noChangeAspect="1"/>
          </p:cNvPicPr>
          <p:nvPr/>
        </p:nvPicPr>
        <p:blipFill>
          <a:blip r:embed="rId2"/>
          <a:stretch>
            <a:fillRect/>
          </a:stretch>
        </p:blipFill>
        <p:spPr>
          <a:xfrm>
            <a:off x="4993721" y="2506553"/>
            <a:ext cx="272125" cy="272125"/>
          </a:xfrm>
          <a:prstGeom prst="rect">
            <a:avLst/>
          </a:prstGeom>
        </p:spPr>
      </p:pic>
      <p:sp>
        <p:nvSpPr>
          <p:cNvPr id="12" name="Text 8"/>
          <p:cNvSpPr txBox="1"/>
          <p:nvPr/>
        </p:nvSpPr>
        <p:spPr>
          <a:xfrm>
            <a:off x="5623560" y="2313432"/>
            <a:ext cx="3063240" cy="347472"/>
          </a:xfrm>
          <a:prstGeom prst="rect">
            <a:avLst/>
          </a:prstGeom>
          <a:noFill/>
          <a:ln/>
        </p:spPr>
        <p:txBody>
          <a:bodyPr wrap="square" lIns="0" tIns="0" rIns="0" bIns="0" rtlCol="0" anchor="ctr"/>
          <a:lstStyle/>
          <a:p>
            <a:pPr indent="0" marL="0">
              <a:buNone/>
            </a:pPr>
            <a:r>
              <a:rPr lang="en-US" sz="1700" b="1" dirty="0">
                <a:solidFill>
                  <a:srgbClr val="0E4D32"/>
                </a:solidFill>
                <a:latin typeface="Calibri" pitchFamily="34" charset="0"/>
                <a:ea typeface="Calibri" pitchFamily="34" charset="-122"/>
                <a:cs typeface="Calibri" pitchFamily="34" charset="-120"/>
              </a:rPr>
              <a:t>Qualité maîtrisée</a:t>
            </a:r>
            <a:endParaRPr lang="en-US" sz="1700" dirty="0"/>
          </a:p>
        </p:txBody>
      </p:sp>
      <p:sp>
        <p:nvSpPr>
          <p:cNvPr id="13" name="Text 9"/>
          <p:cNvSpPr txBox="1"/>
          <p:nvPr/>
        </p:nvSpPr>
        <p:spPr>
          <a:xfrm>
            <a:off x="5623560" y="2660904"/>
            <a:ext cx="3063240" cy="548640"/>
          </a:xfrm>
          <a:prstGeom prst="rect">
            <a:avLst/>
          </a:prstGeom>
          <a:noFill/>
          <a:ln/>
        </p:spPr>
        <p:txBody>
          <a:bodyPr wrap="square" lIns="0" tIns="0" rIns="0" bIns="0" rtlCol="0" anchor="t"/>
          <a:lstStyle/>
          <a:p>
            <a:pPr indent="0" marL="0">
              <a:buNone/>
            </a:pPr>
            <a:r>
              <a:rPr lang="en-US" sz="1300" dirty="0">
                <a:solidFill>
                  <a:srgbClr val="56685F"/>
                </a:solidFill>
                <a:latin typeface="Calibri" pitchFamily="34" charset="0"/>
                <a:ea typeface="Calibri" pitchFamily="34" charset="-122"/>
                <a:cs typeface="Calibri" pitchFamily="34" charset="-120"/>
              </a:rPr>
              <a:t>Bande passante réservée et priorité au trafic vidéo</a:t>
            </a:r>
            <a:endParaRPr lang="en-US" sz="1300" dirty="0"/>
          </a:p>
        </p:txBody>
      </p:sp>
      <p:sp>
        <p:nvSpPr>
          <p:cNvPr id="14" name="Interactivité cercle"/>
          <p:cNvSpPr/>
          <p:nvPr/>
        </p:nvSpPr>
        <p:spPr>
          <a:xfrm>
            <a:off x="4846320" y="3438144"/>
            <a:ext cx="566928" cy="566928"/>
          </a:xfrm>
          <a:prstGeom prst="ellipse">
            <a:avLst/>
          </a:prstGeom>
          <a:solidFill>
            <a:srgbClr val="1B8A5A"/>
          </a:solidFill>
          <a:ln w="12700">
            <a:solidFill>
              <a:srgbClr val="1B8A5A"/>
            </a:solidFill>
            <a:prstDash val="solid"/>
          </a:ln>
        </p:spPr>
      </p:sp>
      <p:pic>
        <p:nvPicPr>
          <p:cNvPr id="15" name="Interactivité icône" descr="preencoded.png">    </p:cNvPr>
          <p:cNvPicPr>
            <a:picLocks noChangeAspect="1"/>
          </p:cNvPicPr>
          <p:nvPr/>
        </p:nvPicPr>
        <p:blipFill>
          <a:blip r:embed="rId3"/>
          <a:stretch>
            <a:fillRect/>
          </a:stretch>
        </p:blipFill>
        <p:spPr>
          <a:xfrm>
            <a:off x="4993721" y="3585545"/>
            <a:ext cx="272125" cy="272125"/>
          </a:xfrm>
          <a:prstGeom prst="rect">
            <a:avLst/>
          </a:prstGeom>
        </p:spPr>
      </p:pic>
      <p:sp>
        <p:nvSpPr>
          <p:cNvPr id="16" name="Text 11"/>
          <p:cNvSpPr txBox="1"/>
          <p:nvPr/>
        </p:nvSpPr>
        <p:spPr>
          <a:xfrm>
            <a:off x="5623560" y="3392424"/>
            <a:ext cx="3063240" cy="347472"/>
          </a:xfrm>
          <a:prstGeom prst="rect">
            <a:avLst/>
          </a:prstGeom>
          <a:noFill/>
          <a:ln/>
        </p:spPr>
        <p:txBody>
          <a:bodyPr wrap="square" lIns="0" tIns="0" rIns="0" bIns="0" rtlCol="0" anchor="ctr"/>
          <a:lstStyle/>
          <a:p>
            <a:pPr indent="0" marL="0">
              <a:buNone/>
            </a:pPr>
            <a:r>
              <a:rPr lang="en-US" sz="1700" b="1" dirty="0">
                <a:solidFill>
                  <a:srgbClr val="0E4D32"/>
                </a:solidFill>
                <a:latin typeface="Calibri" pitchFamily="34" charset="0"/>
                <a:ea typeface="Calibri" pitchFamily="34" charset="-122"/>
                <a:cs typeface="Calibri" pitchFamily="34" charset="-120"/>
              </a:rPr>
              <a:t>Interactivité</a:t>
            </a:r>
            <a:endParaRPr lang="en-US" sz="1700" dirty="0"/>
          </a:p>
        </p:txBody>
      </p:sp>
      <p:sp>
        <p:nvSpPr>
          <p:cNvPr id="17" name="Text 12"/>
          <p:cNvSpPr txBox="1"/>
          <p:nvPr/>
        </p:nvSpPr>
        <p:spPr>
          <a:xfrm>
            <a:off x="5623560" y="3739896"/>
            <a:ext cx="3063240" cy="548640"/>
          </a:xfrm>
          <a:prstGeom prst="rect">
            <a:avLst/>
          </a:prstGeom>
          <a:noFill/>
          <a:ln/>
        </p:spPr>
        <p:txBody>
          <a:bodyPr wrap="square" lIns="0" tIns="0" rIns="0" bIns="0" rtlCol="0" anchor="t"/>
          <a:lstStyle/>
          <a:p>
            <a:pPr indent="0" marL="0">
              <a:buNone/>
            </a:pPr>
            <a:r>
              <a:rPr lang="en-US" sz="1300" dirty="0">
                <a:solidFill>
                  <a:srgbClr val="56685F"/>
                </a:solidFill>
                <a:latin typeface="Calibri" pitchFamily="34" charset="0"/>
                <a:ea typeface="Calibri" pitchFamily="34" charset="-122"/>
                <a:cs typeface="Calibri" pitchFamily="34" charset="-120"/>
              </a:rPr>
              <a:t>L'abonné choisit, met en pause, revient en arrière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4D32"/>
                </a:solidFill>
                <a:latin typeface="Cambria" pitchFamily="34" charset="0"/>
                <a:ea typeface="Cambria" pitchFamily="34" charset="-122"/>
                <a:cs typeface="Cambria" pitchFamily="34" charset="-120"/>
              </a:rPr>
              <a:t>IPTV, OTT et télévision classique</a:t>
            </a:r>
            <a:endParaRPr lang="en-US" sz="3000" dirty="0"/>
          </a:p>
        </p:txBody>
      </p:sp>
      <p:sp>
        <p:nvSpPr>
          <p:cNvPr id="3" name="Colonne TV classique"/>
          <p:cNvSpPr/>
          <p:nvPr/>
        </p:nvSpPr>
        <p:spPr>
          <a:xfrm>
            <a:off x="457200" y="1234440"/>
            <a:ext cx="2606040" cy="3246120"/>
          </a:xfrm>
          <a:prstGeom prst="roundRect">
            <a:avLst>
              <a:gd name="adj" fmla="val 4211"/>
            </a:avLst>
          </a:prstGeom>
          <a:solidFill>
            <a:srgbClr val="E9F6EF"/>
          </a:solidFill>
          <a:ln w="12700">
            <a:solidFill>
              <a:srgbClr val="E9F6EF"/>
            </a:solidFill>
            <a:prstDash val="solid"/>
          </a:ln>
        </p:spPr>
      </p:sp>
      <p:pic>
        <p:nvPicPr>
          <p:cNvPr id="4" name="Icône TV classique" descr="preencoded.png">    </p:cNvPr>
          <p:cNvPicPr>
            <a:picLocks noChangeAspect="1"/>
          </p:cNvPicPr>
          <p:nvPr/>
        </p:nvPicPr>
        <p:blipFill>
          <a:blip r:embed="rId1"/>
          <a:stretch>
            <a:fillRect/>
          </a:stretch>
        </p:blipFill>
        <p:spPr>
          <a:xfrm>
            <a:off x="1440180" y="1463040"/>
            <a:ext cx="640080" cy="640080"/>
          </a:xfrm>
          <a:prstGeom prst="rect">
            <a:avLst/>
          </a:prstGeom>
        </p:spPr>
      </p:pic>
      <p:sp>
        <p:nvSpPr>
          <p:cNvPr id="5" name="Text 2"/>
          <p:cNvSpPr txBox="1"/>
          <p:nvPr/>
        </p:nvSpPr>
        <p:spPr>
          <a:xfrm>
            <a:off x="457200" y="2194560"/>
            <a:ext cx="2606040" cy="457200"/>
          </a:xfrm>
          <a:prstGeom prst="rect">
            <a:avLst/>
          </a:prstGeom>
          <a:noFill/>
          <a:ln/>
        </p:spPr>
        <p:txBody>
          <a:bodyPr wrap="square" lIns="0" tIns="0" rIns="0" bIns="0" rtlCol="0" anchor="ctr"/>
          <a:lstStyle/>
          <a:p>
            <a:pPr algn="ctr" indent="0" marL="0">
              <a:buNone/>
            </a:pPr>
            <a:r>
              <a:rPr lang="en-US" sz="2000" b="1" dirty="0">
                <a:solidFill>
                  <a:srgbClr val="0E4D32"/>
                </a:solidFill>
                <a:latin typeface="Cambria" pitchFamily="34" charset="0"/>
                <a:ea typeface="Cambria" pitchFamily="34" charset="-122"/>
                <a:cs typeface="Cambria" pitchFamily="34" charset="-120"/>
              </a:rPr>
              <a:t>TV classique</a:t>
            </a:r>
            <a:endParaRPr lang="en-US" sz="2000" dirty="0"/>
          </a:p>
        </p:txBody>
      </p:sp>
      <p:sp>
        <p:nvSpPr>
          <p:cNvPr id="6" name="Text 3"/>
          <p:cNvSpPr txBox="1"/>
          <p:nvPr/>
        </p:nvSpPr>
        <p:spPr>
          <a:xfrm>
            <a:off x="685800" y="2743200"/>
            <a:ext cx="21945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D27"/>
                </a:solidFill>
                <a:latin typeface="Calibri" pitchFamily="34" charset="0"/>
                <a:ea typeface="Calibri" pitchFamily="34" charset="-122"/>
                <a:cs typeface="Calibri" pitchFamily="34" charset="-120"/>
              </a:rPr>
              <a:t>Hertzien, satellite, câble</a:t>
            </a:r>
            <a:endParaRPr lang="en-US" sz="1400" dirty="0"/>
          </a:p>
          <a:p>
            <a:pPr marL="342900" indent="-342900">
              <a:spcAft>
                <a:spcPts val="600"/>
              </a:spcAft>
              <a:buSzPct val="100000"/>
              <a:buChar char="•"/>
            </a:pPr>
            <a:r>
              <a:rPr lang="en-US" sz="1400" dirty="0">
                <a:solidFill>
                  <a:srgbClr val="1F2D27"/>
                </a:solidFill>
                <a:latin typeface="Calibri" pitchFamily="34" charset="0"/>
                <a:ea typeface="Calibri" pitchFamily="34" charset="-122"/>
                <a:cs typeface="Calibri" pitchFamily="34" charset="-120"/>
              </a:rPr>
              <a:t>Diffusion à sens unique</a:t>
            </a:r>
            <a:endParaRPr lang="en-US" sz="1400" dirty="0"/>
          </a:p>
          <a:p>
            <a:pPr marL="342900" indent="-342900">
              <a:spcAft>
                <a:spcPts val="600"/>
              </a:spcAft>
              <a:buSzPct val="100000"/>
              <a:buChar char="•"/>
            </a:pPr>
            <a:r>
              <a:rPr lang="en-US" sz="1400" dirty="0">
                <a:solidFill>
                  <a:srgbClr val="1F2D27"/>
                </a:solidFill>
                <a:latin typeface="Calibri" pitchFamily="34" charset="0"/>
                <a:ea typeface="Calibri" pitchFamily="34" charset="-122"/>
                <a:cs typeface="Calibri" pitchFamily="34" charset="-120"/>
              </a:rPr>
              <a:t>Grille imposée</a:t>
            </a:r>
            <a:endParaRPr lang="en-US" sz="1400" dirty="0"/>
          </a:p>
        </p:txBody>
      </p:sp>
      <p:sp>
        <p:nvSpPr>
          <p:cNvPr id="7" name="Colonne IPTV"/>
          <p:cNvSpPr/>
          <p:nvPr/>
        </p:nvSpPr>
        <p:spPr>
          <a:xfrm>
            <a:off x="3264408" y="1234440"/>
            <a:ext cx="2606040" cy="3246120"/>
          </a:xfrm>
          <a:prstGeom prst="roundRect">
            <a:avLst>
              <a:gd name="adj" fmla="val 4211"/>
            </a:avLst>
          </a:prstGeom>
          <a:solidFill>
            <a:srgbClr val="1B8A5A"/>
          </a:solidFill>
          <a:ln w="12700">
            <a:solidFill>
              <a:srgbClr val="1B8A5A"/>
            </a:solidFill>
            <a:prstDash val="solid"/>
          </a:ln>
        </p:spPr>
      </p:sp>
      <p:pic>
        <p:nvPicPr>
          <p:cNvPr id="8" name="Icône IPTV" descr="preencoded.png">    </p:cNvPr>
          <p:cNvPicPr>
            <a:picLocks noChangeAspect="1"/>
          </p:cNvPicPr>
          <p:nvPr/>
        </p:nvPicPr>
        <p:blipFill>
          <a:blip r:embed="rId2"/>
          <a:stretch>
            <a:fillRect/>
          </a:stretch>
        </p:blipFill>
        <p:spPr>
          <a:xfrm>
            <a:off x="4247388" y="1463040"/>
            <a:ext cx="640080" cy="640080"/>
          </a:xfrm>
          <a:prstGeom prst="rect">
            <a:avLst/>
          </a:prstGeom>
        </p:spPr>
      </p:pic>
      <p:sp>
        <p:nvSpPr>
          <p:cNvPr id="9" name="Text 5"/>
          <p:cNvSpPr txBox="1"/>
          <p:nvPr/>
        </p:nvSpPr>
        <p:spPr>
          <a:xfrm>
            <a:off x="3264408" y="2194560"/>
            <a:ext cx="260604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IPTV</a:t>
            </a:r>
            <a:endParaRPr lang="en-US" sz="2000" dirty="0"/>
          </a:p>
        </p:txBody>
      </p:sp>
      <p:sp>
        <p:nvSpPr>
          <p:cNvPr id="10" name="Text 6"/>
          <p:cNvSpPr txBox="1"/>
          <p:nvPr/>
        </p:nvSpPr>
        <p:spPr>
          <a:xfrm>
            <a:off x="3493008" y="2743200"/>
            <a:ext cx="21945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Réseau IP de l'opérateur</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Qualité garantie (QoS)</a:t>
            </a:r>
            <a:endParaRPr lang="en-US" sz="1400" dirty="0"/>
          </a:p>
          <a:p>
            <a:pPr marL="342900" indent="-342900">
              <a:spcAft>
                <a:spcPts val="600"/>
              </a:spcAft>
              <a:buSzPct val="100000"/>
              <a:buChar char="•"/>
            </a:pPr>
            <a:r>
              <a:rPr lang="en-US" sz="1400" dirty="0">
                <a:solidFill>
                  <a:srgbClr val="FFFFFF"/>
                </a:solidFill>
                <a:latin typeface="Calibri" pitchFamily="34" charset="0"/>
                <a:ea typeface="Calibri" pitchFamily="34" charset="-122"/>
                <a:cs typeface="Calibri" pitchFamily="34" charset="-120"/>
              </a:rPr>
              <a:t>Décodeur ou box fourni</a:t>
            </a:r>
            <a:endParaRPr lang="en-US" sz="1400" dirty="0"/>
          </a:p>
        </p:txBody>
      </p:sp>
      <p:sp>
        <p:nvSpPr>
          <p:cNvPr id="11" name="Colonne OTT"/>
          <p:cNvSpPr/>
          <p:nvPr/>
        </p:nvSpPr>
        <p:spPr>
          <a:xfrm>
            <a:off x="6071616" y="1234440"/>
            <a:ext cx="2606040" cy="3246120"/>
          </a:xfrm>
          <a:prstGeom prst="roundRect">
            <a:avLst>
              <a:gd name="adj" fmla="val 4211"/>
            </a:avLst>
          </a:prstGeom>
          <a:solidFill>
            <a:srgbClr val="E9F6EF"/>
          </a:solidFill>
          <a:ln w="12700">
            <a:solidFill>
              <a:srgbClr val="E9F6EF"/>
            </a:solidFill>
            <a:prstDash val="solid"/>
          </a:ln>
        </p:spPr>
      </p:sp>
      <p:pic>
        <p:nvPicPr>
          <p:cNvPr id="12" name="Icône OTT" descr="preencoded.png">    </p:cNvPr>
          <p:cNvPicPr>
            <a:picLocks noChangeAspect="1"/>
          </p:cNvPicPr>
          <p:nvPr/>
        </p:nvPicPr>
        <p:blipFill>
          <a:blip r:embed="rId3"/>
          <a:stretch>
            <a:fillRect/>
          </a:stretch>
        </p:blipFill>
        <p:spPr>
          <a:xfrm>
            <a:off x="7054596" y="1463040"/>
            <a:ext cx="640080" cy="640080"/>
          </a:xfrm>
          <a:prstGeom prst="rect">
            <a:avLst/>
          </a:prstGeom>
        </p:spPr>
      </p:pic>
      <p:sp>
        <p:nvSpPr>
          <p:cNvPr id="13" name="Text 8"/>
          <p:cNvSpPr txBox="1"/>
          <p:nvPr/>
        </p:nvSpPr>
        <p:spPr>
          <a:xfrm>
            <a:off x="6071616" y="2194560"/>
            <a:ext cx="2606040" cy="457200"/>
          </a:xfrm>
          <a:prstGeom prst="rect">
            <a:avLst/>
          </a:prstGeom>
          <a:noFill/>
          <a:ln/>
        </p:spPr>
        <p:txBody>
          <a:bodyPr wrap="square" lIns="0" tIns="0" rIns="0" bIns="0" rtlCol="0" anchor="ctr"/>
          <a:lstStyle/>
          <a:p>
            <a:pPr algn="ctr" indent="0" marL="0">
              <a:buNone/>
            </a:pPr>
            <a:r>
              <a:rPr lang="en-US" sz="2000" b="1" dirty="0">
                <a:solidFill>
                  <a:srgbClr val="0E4D32"/>
                </a:solidFill>
                <a:latin typeface="Cambria" pitchFamily="34" charset="0"/>
                <a:ea typeface="Cambria" pitchFamily="34" charset="-122"/>
                <a:cs typeface="Cambria" pitchFamily="34" charset="-120"/>
              </a:rPr>
              <a:t>OTT</a:t>
            </a:r>
            <a:endParaRPr lang="en-US" sz="2000" dirty="0"/>
          </a:p>
        </p:txBody>
      </p:sp>
      <p:sp>
        <p:nvSpPr>
          <p:cNvPr id="14" name="Text 9"/>
          <p:cNvSpPr txBox="1"/>
          <p:nvPr/>
        </p:nvSpPr>
        <p:spPr>
          <a:xfrm>
            <a:off x="6300216" y="2743200"/>
            <a:ext cx="2194560" cy="15544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F2D27"/>
                </a:solidFill>
                <a:latin typeface="Calibri" pitchFamily="34" charset="0"/>
                <a:ea typeface="Calibri" pitchFamily="34" charset="-122"/>
                <a:cs typeface="Calibri" pitchFamily="34" charset="-120"/>
              </a:rPr>
              <a:t>Internet public (best effort)</a:t>
            </a:r>
            <a:endParaRPr lang="en-US" sz="1400" dirty="0"/>
          </a:p>
          <a:p>
            <a:pPr marL="342900" indent="-342900">
              <a:spcAft>
                <a:spcPts val="600"/>
              </a:spcAft>
              <a:buSzPct val="100000"/>
              <a:buChar char="•"/>
            </a:pPr>
            <a:r>
              <a:rPr lang="en-US" sz="1400" dirty="0">
                <a:solidFill>
                  <a:srgbClr val="1F2D27"/>
                </a:solidFill>
                <a:latin typeface="Calibri" pitchFamily="34" charset="0"/>
                <a:ea typeface="Calibri" pitchFamily="34" charset="-122"/>
                <a:cs typeface="Calibri" pitchFamily="34" charset="-120"/>
              </a:rPr>
              <a:t>Netflix, YouTube, myCanal…</a:t>
            </a:r>
            <a:endParaRPr lang="en-US" sz="1400" dirty="0"/>
          </a:p>
          <a:p>
            <a:pPr marL="342900" indent="-342900">
              <a:spcAft>
                <a:spcPts val="600"/>
              </a:spcAft>
              <a:buSzPct val="100000"/>
              <a:buChar char="•"/>
            </a:pPr>
            <a:r>
              <a:rPr lang="en-US" sz="1400" dirty="0">
                <a:solidFill>
                  <a:srgbClr val="1F2D27"/>
                </a:solidFill>
                <a:latin typeface="Calibri" pitchFamily="34" charset="0"/>
                <a:ea typeface="Calibri" pitchFamily="34" charset="-122"/>
                <a:cs typeface="Calibri" pitchFamily="34" charset="-120"/>
              </a:rPr>
              <a:t>Qualité variable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4D32"/>
                </a:solidFill>
                <a:latin typeface="Cambria" pitchFamily="34" charset="0"/>
                <a:ea typeface="Cambria" pitchFamily="34" charset="-122"/>
                <a:cs typeface="Cambria" pitchFamily="34" charset="-120"/>
              </a:rPr>
              <a:t>Architecture d'un réseau IPTV</a:t>
            </a:r>
            <a:endParaRPr lang="en-US" sz="3000" dirty="0"/>
          </a:p>
        </p:txBody>
      </p:sp>
      <p:sp>
        <p:nvSpPr>
          <p:cNvPr id="3" name="Bloc Tête de réseau"/>
          <p:cNvSpPr/>
          <p:nvPr/>
        </p:nvSpPr>
        <p:spPr>
          <a:xfrm>
            <a:off x="457200" y="1463040"/>
            <a:ext cx="1481328" cy="2514600"/>
          </a:xfrm>
          <a:prstGeom prst="roundRect">
            <a:avLst>
              <a:gd name="adj" fmla="val 6173"/>
            </a:avLst>
          </a:prstGeom>
          <a:solidFill>
            <a:srgbClr val="E9F6EF"/>
          </a:solidFill>
          <a:ln w="12700">
            <a:solidFill>
              <a:srgbClr val="E9F6EF"/>
            </a:solidFill>
            <a:prstDash val="solid"/>
          </a:ln>
        </p:spPr>
      </p:sp>
      <p:sp>
        <p:nvSpPr>
          <p:cNvPr id="4" name="Tête de réseau cercle"/>
          <p:cNvSpPr/>
          <p:nvPr/>
        </p:nvSpPr>
        <p:spPr>
          <a:xfrm>
            <a:off x="896112" y="1691640"/>
            <a:ext cx="603504" cy="603504"/>
          </a:xfrm>
          <a:prstGeom prst="ellipse">
            <a:avLst/>
          </a:prstGeom>
          <a:solidFill>
            <a:srgbClr val="1B8A5A"/>
          </a:solidFill>
          <a:ln w="12700">
            <a:solidFill>
              <a:srgbClr val="1B8A5A"/>
            </a:solidFill>
            <a:prstDash val="solid"/>
          </a:ln>
        </p:spPr>
      </p:sp>
      <p:pic>
        <p:nvPicPr>
          <p:cNvPr id="5" name="Tête de réseau icône" descr="preencoded.png">    </p:cNvPr>
          <p:cNvPicPr>
            <a:picLocks noChangeAspect="1"/>
          </p:cNvPicPr>
          <p:nvPr/>
        </p:nvPicPr>
        <p:blipFill>
          <a:blip r:embed="rId1"/>
          <a:stretch>
            <a:fillRect/>
          </a:stretch>
        </p:blipFill>
        <p:spPr>
          <a:xfrm>
            <a:off x="1053023" y="1848551"/>
            <a:ext cx="289682" cy="289682"/>
          </a:xfrm>
          <a:prstGeom prst="rect">
            <a:avLst/>
          </a:prstGeom>
        </p:spPr>
      </p:pic>
      <p:sp>
        <p:nvSpPr>
          <p:cNvPr id="6" name="Text 3"/>
          <p:cNvSpPr txBox="1"/>
          <p:nvPr/>
        </p:nvSpPr>
        <p:spPr>
          <a:xfrm>
            <a:off x="530352" y="2423160"/>
            <a:ext cx="1335024" cy="594360"/>
          </a:xfrm>
          <a:prstGeom prst="rect">
            <a:avLst/>
          </a:prstGeom>
          <a:noFill/>
          <a:ln/>
        </p:spPr>
        <p:txBody>
          <a:bodyPr wrap="square" lIns="0" tIns="0" rIns="0" bIns="0" rtlCol="0" anchor="ctr"/>
          <a:lstStyle/>
          <a:p>
            <a:pPr algn="ctr" indent="0" marL="0">
              <a:buNone/>
            </a:pPr>
            <a:r>
              <a:rPr lang="en-US" sz="1400" b="1" dirty="0">
                <a:solidFill>
                  <a:srgbClr val="0E4D32"/>
                </a:solidFill>
                <a:latin typeface="Calibri" pitchFamily="34" charset="0"/>
                <a:ea typeface="Calibri" pitchFamily="34" charset="-122"/>
                <a:cs typeface="Calibri" pitchFamily="34" charset="-120"/>
              </a:rPr>
              <a:t>Tête de réseau</a:t>
            </a:r>
            <a:endParaRPr lang="en-US" sz="1400" dirty="0"/>
          </a:p>
        </p:txBody>
      </p:sp>
      <p:sp>
        <p:nvSpPr>
          <p:cNvPr id="7" name="Text 4"/>
          <p:cNvSpPr txBox="1"/>
          <p:nvPr/>
        </p:nvSpPr>
        <p:spPr>
          <a:xfrm>
            <a:off x="548640" y="3017520"/>
            <a:ext cx="1298448" cy="822960"/>
          </a:xfrm>
          <a:prstGeom prst="rect">
            <a:avLst/>
          </a:prstGeom>
          <a:noFill/>
          <a:ln/>
        </p:spPr>
        <p:txBody>
          <a:bodyPr wrap="square" lIns="0" tIns="0" rIns="0" bIns="0" rtlCol="0" anchor="t"/>
          <a:lstStyle/>
          <a:p>
            <a:pPr algn="ctr" indent="0" marL="0">
              <a:buNone/>
            </a:pPr>
            <a:r>
              <a:rPr lang="en-US" sz="1200" dirty="0">
                <a:solidFill>
                  <a:srgbClr val="56685F"/>
                </a:solidFill>
                <a:latin typeface="Calibri" pitchFamily="34" charset="0"/>
                <a:ea typeface="Calibri" pitchFamily="34" charset="-122"/>
                <a:cs typeface="Calibri" pitchFamily="34" charset="-120"/>
              </a:rPr>
              <a:t>Réception et encodage des chaînes</a:t>
            </a:r>
            <a:endParaRPr lang="en-US" sz="1200" dirty="0"/>
          </a:p>
        </p:txBody>
      </p:sp>
      <p:sp>
        <p:nvSpPr>
          <p:cNvPr id="8" name="Flèche 1"/>
          <p:cNvSpPr/>
          <p:nvPr/>
        </p:nvSpPr>
        <p:spPr>
          <a:xfrm>
            <a:off x="1984248" y="2615184"/>
            <a:ext cx="118872" cy="219456"/>
          </a:xfrm>
          <a:prstGeom prst="chevron">
            <a:avLst/>
          </a:prstGeom>
          <a:solidFill>
            <a:srgbClr val="1B8A5A"/>
          </a:solidFill>
          <a:ln w="12700">
            <a:solidFill>
              <a:srgbClr val="1B8A5A"/>
            </a:solidFill>
            <a:prstDash val="solid"/>
          </a:ln>
        </p:spPr>
      </p:sp>
      <p:sp>
        <p:nvSpPr>
          <p:cNvPr id="9" name="Bloc Plateforme de services"/>
          <p:cNvSpPr/>
          <p:nvPr/>
        </p:nvSpPr>
        <p:spPr>
          <a:xfrm>
            <a:off x="2139696" y="1463040"/>
            <a:ext cx="1481328" cy="2514600"/>
          </a:xfrm>
          <a:prstGeom prst="roundRect">
            <a:avLst>
              <a:gd name="adj" fmla="val 6173"/>
            </a:avLst>
          </a:prstGeom>
          <a:solidFill>
            <a:srgbClr val="E9F6EF"/>
          </a:solidFill>
          <a:ln w="12700">
            <a:solidFill>
              <a:srgbClr val="E9F6EF"/>
            </a:solidFill>
            <a:prstDash val="solid"/>
          </a:ln>
        </p:spPr>
      </p:sp>
      <p:sp>
        <p:nvSpPr>
          <p:cNvPr id="10" name="Plateforme de services cercle"/>
          <p:cNvSpPr/>
          <p:nvPr/>
        </p:nvSpPr>
        <p:spPr>
          <a:xfrm>
            <a:off x="2578608" y="1691640"/>
            <a:ext cx="603504" cy="603504"/>
          </a:xfrm>
          <a:prstGeom prst="ellipse">
            <a:avLst/>
          </a:prstGeom>
          <a:solidFill>
            <a:srgbClr val="1B8A5A"/>
          </a:solidFill>
          <a:ln w="12700">
            <a:solidFill>
              <a:srgbClr val="1B8A5A"/>
            </a:solidFill>
            <a:prstDash val="solid"/>
          </a:ln>
        </p:spPr>
      </p:sp>
      <p:pic>
        <p:nvPicPr>
          <p:cNvPr id="11" name="Plateforme de services icône" descr="preencoded.png">    </p:cNvPr>
          <p:cNvPicPr>
            <a:picLocks noChangeAspect="1"/>
          </p:cNvPicPr>
          <p:nvPr/>
        </p:nvPicPr>
        <p:blipFill>
          <a:blip r:embed="rId2"/>
          <a:stretch>
            <a:fillRect/>
          </a:stretch>
        </p:blipFill>
        <p:spPr>
          <a:xfrm>
            <a:off x="2735519" y="1848551"/>
            <a:ext cx="289682" cy="289682"/>
          </a:xfrm>
          <a:prstGeom prst="rect">
            <a:avLst/>
          </a:prstGeom>
        </p:spPr>
      </p:pic>
      <p:sp>
        <p:nvSpPr>
          <p:cNvPr id="12" name="Text 8"/>
          <p:cNvSpPr txBox="1"/>
          <p:nvPr/>
        </p:nvSpPr>
        <p:spPr>
          <a:xfrm>
            <a:off x="2212848" y="2423160"/>
            <a:ext cx="1335024" cy="594360"/>
          </a:xfrm>
          <a:prstGeom prst="rect">
            <a:avLst/>
          </a:prstGeom>
          <a:noFill/>
          <a:ln/>
        </p:spPr>
        <p:txBody>
          <a:bodyPr wrap="square" lIns="0" tIns="0" rIns="0" bIns="0" rtlCol="0" anchor="ctr"/>
          <a:lstStyle/>
          <a:p>
            <a:pPr algn="ctr" indent="0" marL="0">
              <a:buNone/>
            </a:pPr>
            <a:r>
              <a:rPr lang="en-US" sz="1400" b="1" dirty="0">
                <a:solidFill>
                  <a:srgbClr val="0E4D32"/>
                </a:solidFill>
                <a:latin typeface="Calibri" pitchFamily="34" charset="0"/>
                <a:ea typeface="Calibri" pitchFamily="34" charset="-122"/>
                <a:cs typeface="Calibri" pitchFamily="34" charset="-120"/>
              </a:rPr>
              <a:t>Plateforme de services</a:t>
            </a:r>
            <a:endParaRPr lang="en-US" sz="1400" dirty="0"/>
          </a:p>
        </p:txBody>
      </p:sp>
      <p:sp>
        <p:nvSpPr>
          <p:cNvPr id="13" name="Text 9"/>
          <p:cNvSpPr txBox="1"/>
          <p:nvPr/>
        </p:nvSpPr>
        <p:spPr>
          <a:xfrm>
            <a:off x="2231136" y="3017520"/>
            <a:ext cx="1298448" cy="822960"/>
          </a:xfrm>
          <a:prstGeom prst="rect">
            <a:avLst/>
          </a:prstGeom>
          <a:noFill/>
          <a:ln/>
        </p:spPr>
        <p:txBody>
          <a:bodyPr wrap="square" lIns="0" tIns="0" rIns="0" bIns="0" rtlCol="0" anchor="t"/>
          <a:lstStyle/>
          <a:p>
            <a:pPr algn="ctr" indent="0" marL="0">
              <a:buNone/>
            </a:pPr>
            <a:r>
              <a:rPr lang="en-US" sz="1200" dirty="0">
                <a:solidFill>
                  <a:srgbClr val="56685F"/>
                </a:solidFill>
                <a:latin typeface="Calibri" pitchFamily="34" charset="0"/>
                <a:ea typeface="Calibri" pitchFamily="34" charset="-122"/>
                <a:cs typeface="Calibri" pitchFamily="34" charset="-120"/>
              </a:rPr>
              <a:t>Middleware, VoD, DRM</a:t>
            </a:r>
            <a:endParaRPr lang="en-US" sz="1200" dirty="0"/>
          </a:p>
        </p:txBody>
      </p:sp>
      <p:sp>
        <p:nvSpPr>
          <p:cNvPr id="14" name="Flèche 2"/>
          <p:cNvSpPr/>
          <p:nvPr/>
        </p:nvSpPr>
        <p:spPr>
          <a:xfrm>
            <a:off x="3666744" y="2615184"/>
            <a:ext cx="118872" cy="219456"/>
          </a:xfrm>
          <a:prstGeom prst="chevron">
            <a:avLst/>
          </a:prstGeom>
          <a:solidFill>
            <a:srgbClr val="1B8A5A"/>
          </a:solidFill>
          <a:ln w="12700">
            <a:solidFill>
              <a:srgbClr val="1B8A5A"/>
            </a:solidFill>
            <a:prstDash val="solid"/>
          </a:ln>
        </p:spPr>
      </p:sp>
      <p:sp>
        <p:nvSpPr>
          <p:cNvPr id="15" name="Bloc Réseau cœur"/>
          <p:cNvSpPr/>
          <p:nvPr/>
        </p:nvSpPr>
        <p:spPr>
          <a:xfrm>
            <a:off x="3822192" y="1463040"/>
            <a:ext cx="1481328" cy="2514600"/>
          </a:xfrm>
          <a:prstGeom prst="roundRect">
            <a:avLst>
              <a:gd name="adj" fmla="val 6173"/>
            </a:avLst>
          </a:prstGeom>
          <a:solidFill>
            <a:srgbClr val="0E4D32"/>
          </a:solidFill>
          <a:ln w="12700">
            <a:solidFill>
              <a:srgbClr val="0E4D32"/>
            </a:solidFill>
            <a:prstDash val="solid"/>
          </a:ln>
        </p:spPr>
      </p:sp>
      <p:sp>
        <p:nvSpPr>
          <p:cNvPr id="16" name="Réseau cœur cercle"/>
          <p:cNvSpPr/>
          <p:nvPr/>
        </p:nvSpPr>
        <p:spPr>
          <a:xfrm>
            <a:off x="4261104" y="1691640"/>
            <a:ext cx="603504" cy="603504"/>
          </a:xfrm>
          <a:prstGeom prst="ellipse">
            <a:avLst/>
          </a:prstGeom>
          <a:solidFill>
            <a:srgbClr val="1B8A5A"/>
          </a:solidFill>
          <a:ln w="12700">
            <a:solidFill>
              <a:srgbClr val="1B8A5A"/>
            </a:solidFill>
            <a:prstDash val="solid"/>
          </a:ln>
        </p:spPr>
      </p:sp>
      <p:pic>
        <p:nvPicPr>
          <p:cNvPr id="17" name="Réseau cœur icône" descr="preencoded.png">    </p:cNvPr>
          <p:cNvPicPr>
            <a:picLocks noChangeAspect="1"/>
          </p:cNvPicPr>
          <p:nvPr/>
        </p:nvPicPr>
        <p:blipFill>
          <a:blip r:embed="rId3"/>
          <a:stretch>
            <a:fillRect/>
          </a:stretch>
        </p:blipFill>
        <p:spPr>
          <a:xfrm>
            <a:off x="4418015" y="1848551"/>
            <a:ext cx="289682" cy="289682"/>
          </a:xfrm>
          <a:prstGeom prst="rect">
            <a:avLst/>
          </a:prstGeom>
        </p:spPr>
      </p:pic>
      <p:sp>
        <p:nvSpPr>
          <p:cNvPr id="18" name="Text 13"/>
          <p:cNvSpPr txBox="1"/>
          <p:nvPr/>
        </p:nvSpPr>
        <p:spPr>
          <a:xfrm>
            <a:off x="3895344" y="2423160"/>
            <a:ext cx="1335024" cy="5943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Réseau cœur</a:t>
            </a:r>
            <a:endParaRPr lang="en-US" sz="1400" dirty="0"/>
          </a:p>
        </p:txBody>
      </p:sp>
      <p:sp>
        <p:nvSpPr>
          <p:cNvPr id="19" name="Text 14"/>
          <p:cNvSpPr txBox="1"/>
          <p:nvPr/>
        </p:nvSpPr>
        <p:spPr>
          <a:xfrm>
            <a:off x="3913632" y="3017520"/>
            <a:ext cx="1298448" cy="822960"/>
          </a:xfrm>
          <a:prstGeom prst="rect">
            <a:avLst/>
          </a:prstGeom>
          <a:noFill/>
          <a:ln/>
        </p:spPr>
        <p:txBody>
          <a:bodyPr wrap="square" lIns="0" tIns="0" rIns="0" bIns="0" rtlCol="0" anchor="t"/>
          <a:lstStyle/>
          <a:p>
            <a:pPr algn="ctr" indent="0" marL="0">
              <a:buNone/>
            </a:pPr>
            <a:r>
              <a:rPr lang="en-US" sz="1200" dirty="0">
                <a:solidFill>
                  <a:srgbClr val="8FD3AE"/>
                </a:solidFill>
                <a:latin typeface="Calibri" pitchFamily="34" charset="0"/>
                <a:ea typeface="Calibri" pitchFamily="34" charset="-122"/>
                <a:cs typeface="Calibri" pitchFamily="34" charset="-120"/>
              </a:rPr>
              <a:t>Transport IP/MPLS en multicast</a:t>
            </a:r>
            <a:endParaRPr lang="en-US" sz="1200" dirty="0"/>
          </a:p>
        </p:txBody>
      </p:sp>
      <p:sp>
        <p:nvSpPr>
          <p:cNvPr id="20" name="Flèche 3"/>
          <p:cNvSpPr/>
          <p:nvPr/>
        </p:nvSpPr>
        <p:spPr>
          <a:xfrm>
            <a:off x="5349240" y="2615184"/>
            <a:ext cx="118872" cy="219456"/>
          </a:xfrm>
          <a:prstGeom prst="chevron">
            <a:avLst/>
          </a:prstGeom>
          <a:solidFill>
            <a:srgbClr val="1B8A5A"/>
          </a:solidFill>
          <a:ln w="12700">
            <a:solidFill>
              <a:srgbClr val="1B8A5A"/>
            </a:solidFill>
            <a:prstDash val="solid"/>
          </a:ln>
        </p:spPr>
      </p:sp>
      <p:sp>
        <p:nvSpPr>
          <p:cNvPr id="21" name="Bloc Réseau d'accès"/>
          <p:cNvSpPr/>
          <p:nvPr/>
        </p:nvSpPr>
        <p:spPr>
          <a:xfrm>
            <a:off x="5504688" y="1463040"/>
            <a:ext cx="1481328" cy="2514600"/>
          </a:xfrm>
          <a:prstGeom prst="roundRect">
            <a:avLst>
              <a:gd name="adj" fmla="val 6173"/>
            </a:avLst>
          </a:prstGeom>
          <a:solidFill>
            <a:srgbClr val="E9F6EF"/>
          </a:solidFill>
          <a:ln w="12700">
            <a:solidFill>
              <a:srgbClr val="E9F6EF"/>
            </a:solidFill>
            <a:prstDash val="solid"/>
          </a:ln>
        </p:spPr>
      </p:sp>
      <p:sp>
        <p:nvSpPr>
          <p:cNvPr id="22" name="Réseau d'accès cercle"/>
          <p:cNvSpPr/>
          <p:nvPr/>
        </p:nvSpPr>
        <p:spPr>
          <a:xfrm>
            <a:off x="5943600" y="1691640"/>
            <a:ext cx="603504" cy="603504"/>
          </a:xfrm>
          <a:prstGeom prst="ellipse">
            <a:avLst/>
          </a:prstGeom>
          <a:solidFill>
            <a:srgbClr val="1B8A5A"/>
          </a:solidFill>
          <a:ln w="12700">
            <a:solidFill>
              <a:srgbClr val="1B8A5A"/>
            </a:solidFill>
            <a:prstDash val="solid"/>
          </a:ln>
        </p:spPr>
      </p:sp>
      <p:pic>
        <p:nvPicPr>
          <p:cNvPr id="23" name="Réseau d'accès icône" descr="preencoded.png">    </p:cNvPr>
          <p:cNvPicPr>
            <a:picLocks noChangeAspect="1"/>
          </p:cNvPicPr>
          <p:nvPr/>
        </p:nvPicPr>
        <p:blipFill>
          <a:blip r:embed="rId4"/>
          <a:stretch>
            <a:fillRect/>
          </a:stretch>
        </p:blipFill>
        <p:spPr>
          <a:xfrm>
            <a:off x="6100511" y="1848551"/>
            <a:ext cx="289682" cy="289682"/>
          </a:xfrm>
          <a:prstGeom prst="rect">
            <a:avLst/>
          </a:prstGeom>
        </p:spPr>
      </p:pic>
      <p:sp>
        <p:nvSpPr>
          <p:cNvPr id="24" name="Text 18"/>
          <p:cNvSpPr txBox="1"/>
          <p:nvPr/>
        </p:nvSpPr>
        <p:spPr>
          <a:xfrm>
            <a:off x="5577840" y="2423160"/>
            <a:ext cx="1335024" cy="594360"/>
          </a:xfrm>
          <a:prstGeom prst="rect">
            <a:avLst/>
          </a:prstGeom>
          <a:noFill/>
          <a:ln/>
        </p:spPr>
        <p:txBody>
          <a:bodyPr wrap="square" lIns="0" tIns="0" rIns="0" bIns="0" rtlCol="0" anchor="ctr"/>
          <a:lstStyle/>
          <a:p>
            <a:pPr algn="ctr" indent="0" marL="0">
              <a:buNone/>
            </a:pPr>
            <a:r>
              <a:rPr lang="en-US" sz="1400" b="1" dirty="0">
                <a:solidFill>
                  <a:srgbClr val="0E4D32"/>
                </a:solidFill>
                <a:latin typeface="Calibri" pitchFamily="34" charset="0"/>
                <a:ea typeface="Calibri" pitchFamily="34" charset="-122"/>
                <a:cs typeface="Calibri" pitchFamily="34" charset="-120"/>
              </a:rPr>
              <a:t>Réseau d'accès</a:t>
            </a:r>
            <a:endParaRPr lang="en-US" sz="1400" dirty="0"/>
          </a:p>
        </p:txBody>
      </p:sp>
      <p:sp>
        <p:nvSpPr>
          <p:cNvPr id="25" name="Text 19"/>
          <p:cNvSpPr txBox="1"/>
          <p:nvPr/>
        </p:nvSpPr>
        <p:spPr>
          <a:xfrm>
            <a:off x="5596128" y="3017520"/>
            <a:ext cx="1298448" cy="822960"/>
          </a:xfrm>
          <a:prstGeom prst="rect">
            <a:avLst/>
          </a:prstGeom>
          <a:noFill/>
          <a:ln/>
        </p:spPr>
        <p:txBody>
          <a:bodyPr wrap="square" lIns="0" tIns="0" rIns="0" bIns="0" rtlCol="0" anchor="t"/>
          <a:lstStyle/>
          <a:p>
            <a:pPr algn="ctr" indent="0" marL="0">
              <a:buNone/>
            </a:pPr>
            <a:r>
              <a:rPr lang="en-US" sz="1200" dirty="0">
                <a:solidFill>
                  <a:srgbClr val="56685F"/>
                </a:solidFill>
                <a:latin typeface="Calibri" pitchFamily="34" charset="0"/>
                <a:ea typeface="Calibri" pitchFamily="34" charset="-122"/>
                <a:cs typeface="Calibri" pitchFamily="34" charset="-120"/>
              </a:rPr>
              <a:t>ADSL, VDSL ou fibre (FTTH)</a:t>
            </a:r>
            <a:endParaRPr lang="en-US" sz="1200" dirty="0"/>
          </a:p>
        </p:txBody>
      </p:sp>
      <p:sp>
        <p:nvSpPr>
          <p:cNvPr id="26" name="Flèche 4"/>
          <p:cNvSpPr/>
          <p:nvPr/>
        </p:nvSpPr>
        <p:spPr>
          <a:xfrm>
            <a:off x="7031736" y="2615184"/>
            <a:ext cx="118872" cy="219456"/>
          </a:xfrm>
          <a:prstGeom prst="chevron">
            <a:avLst/>
          </a:prstGeom>
          <a:solidFill>
            <a:srgbClr val="1B8A5A"/>
          </a:solidFill>
          <a:ln w="12700">
            <a:solidFill>
              <a:srgbClr val="1B8A5A"/>
            </a:solidFill>
            <a:prstDash val="solid"/>
          </a:ln>
        </p:spPr>
      </p:sp>
      <p:sp>
        <p:nvSpPr>
          <p:cNvPr id="27" name="Bloc Abonné"/>
          <p:cNvSpPr/>
          <p:nvPr/>
        </p:nvSpPr>
        <p:spPr>
          <a:xfrm>
            <a:off x="7187184" y="1463040"/>
            <a:ext cx="1481328" cy="2514600"/>
          </a:xfrm>
          <a:prstGeom prst="roundRect">
            <a:avLst>
              <a:gd name="adj" fmla="val 6173"/>
            </a:avLst>
          </a:prstGeom>
          <a:solidFill>
            <a:srgbClr val="E9F6EF"/>
          </a:solidFill>
          <a:ln w="12700">
            <a:solidFill>
              <a:srgbClr val="E9F6EF"/>
            </a:solidFill>
            <a:prstDash val="solid"/>
          </a:ln>
        </p:spPr>
      </p:sp>
      <p:sp>
        <p:nvSpPr>
          <p:cNvPr id="28" name="Abonné cercle"/>
          <p:cNvSpPr/>
          <p:nvPr/>
        </p:nvSpPr>
        <p:spPr>
          <a:xfrm>
            <a:off x="7626096" y="1691640"/>
            <a:ext cx="603504" cy="603504"/>
          </a:xfrm>
          <a:prstGeom prst="ellipse">
            <a:avLst/>
          </a:prstGeom>
          <a:solidFill>
            <a:srgbClr val="1B8A5A"/>
          </a:solidFill>
          <a:ln w="12700">
            <a:solidFill>
              <a:srgbClr val="1B8A5A"/>
            </a:solidFill>
            <a:prstDash val="solid"/>
          </a:ln>
        </p:spPr>
      </p:sp>
      <p:pic>
        <p:nvPicPr>
          <p:cNvPr id="29" name="Abonné icône" descr="preencoded.png">    </p:cNvPr>
          <p:cNvPicPr>
            <a:picLocks noChangeAspect="1"/>
          </p:cNvPicPr>
          <p:nvPr/>
        </p:nvPicPr>
        <p:blipFill>
          <a:blip r:embed="rId5"/>
          <a:stretch>
            <a:fillRect/>
          </a:stretch>
        </p:blipFill>
        <p:spPr>
          <a:xfrm>
            <a:off x="7783007" y="1848551"/>
            <a:ext cx="289682" cy="289682"/>
          </a:xfrm>
          <a:prstGeom prst="rect">
            <a:avLst/>
          </a:prstGeom>
        </p:spPr>
      </p:pic>
      <p:sp>
        <p:nvSpPr>
          <p:cNvPr id="30" name="Text 23"/>
          <p:cNvSpPr txBox="1"/>
          <p:nvPr/>
        </p:nvSpPr>
        <p:spPr>
          <a:xfrm>
            <a:off x="7260336" y="2423160"/>
            <a:ext cx="1335024" cy="594360"/>
          </a:xfrm>
          <a:prstGeom prst="rect">
            <a:avLst/>
          </a:prstGeom>
          <a:noFill/>
          <a:ln/>
        </p:spPr>
        <p:txBody>
          <a:bodyPr wrap="square" lIns="0" tIns="0" rIns="0" bIns="0" rtlCol="0" anchor="ctr"/>
          <a:lstStyle/>
          <a:p>
            <a:pPr algn="ctr" indent="0" marL="0">
              <a:buNone/>
            </a:pPr>
            <a:r>
              <a:rPr lang="en-US" sz="1400" b="1" dirty="0">
                <a:solidFill>
                  <a:srgbClr val="0E4D32"/>
                </a:solidFill>
                <a:latin typeface="Calibri" pitchFamily="34" charset="0"/>
                <a:ea typeface="Calibri" pitchFamily="34" charset="-122"/>
                <a:cs typeface="Calibri" pitchFamily="34" charset="-120"/>
              </a:rPr>
              <a:t>Abonné</a:t>
            </a:r>
            <a:endParaRPr lang="en-US" sz="1400" dirty="0"/>
          </a:p>
        </p:txBody>
      </p:sp>
      <p:sp>
        <p:nvSpPr>
          <p:cNvPr id="31" name="Text 24"/>
          <p:cNvSpPr txBox="1"/>
          <p:nvPr/>
        </p:nvSpPr>
        <p:spPr>
          <a:xfrm>
            <a:off x="7278624" y="3017520"/>
            <a:ext cx="1298448" cy="822960"/>
          </a:xfrm>
          <a:prstGeom prst="rect">
            <a:avLst/>
          </a:prstGeom>
          <a:noFill/>
          <a:ln/>
        </p:spPr>
        <p:txBody>
          <a:bodyPr wrap="square" lIns="0" tIns="0" rIns="0" bIns="0" rtlCol="0" anchor="t"/>
          <a:lstStyle/>
          <a:p>
            <a:pPr algn="ctr" indent="0" marL="0">
              <a:buNone/>
            </a:pPr>
            <a:r>
              <a:rPr lang="en-US" sz="1200" dirty="0">
                <a:solidFill>
                  <a:srgbClr val="56685F"/>
                </a:solidFill>
                <a:latin typeface="Calibri" pitchFamily="34" charset="0"/>
                <a:ea typeface="Calibri" pitchFamily="34" charset="-122"/>
                <a:cs typeface="Calibri" pitchFamily="34" charset="-120"/>
              </a:rPr>
              <a:t>Box + décodeur (STB) + TV</a:t>
            </a:r>
            <a:endParaRPr lang="en-US" sz="1200" dirty="0"/>
          </a:p>
        </p:txBody>
      </p:sp>
      <p:sp>
        <p:nvSpPr>
          <p:cNvPr id="32" name="Text 25"/>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rgbClr val="56685F"/>
                </a:solidFill>
                <a:latin typeface="Calibri" pitchFamily="34" charset="0"/>
                <a:ea typeface="Calibri" pitchFamily="34" charset="-122"/>
                <a:cs typeface="Calibri" pitchFamily="34" charset="-120"/>
              </a:rPr>
              <a:t>Le flux suit ce chemin de gauche à droite ; les requêtes de l'abonné (zapping, VoD) remontent en sens inverse.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4D32"/>
                </a:solidFill>
                <a:latin typeface="Cambria" pitchFamily="34" charset="0"/>
                <a:ea typeface="Cambria" pitchFamily="34" charset="-122"/>
                <a:cs typeface="Cambria" pitchFamily="34" charset="-120"/>
              </a:rPr>
              <a:t>Les services proposés</a:t>
            </a:r>
            <a:endParaRPr lang="en-US" sz="3000" dirty="0"/>
          </a:p>
        </p:txBody>
      </p:sp>
      <p:sp>
        <p:nvSpPr>
          <p:cNvPr id="3" name="Service TV en direct"/>
          <p:cNvSpPr/>
          <p:nvPr/>
        </p:nvSpPr>
        <p:spPr>
          <a:xfrm>
            <a:off x="457200" y="1234440"/>
            <a:ext cx="2606040" cy="1417320"/>
          </a:xfrm>
          <a:prstGeom prst="roundRect">
            <a:avLst>
              <a:gd name="adj" fmla="val 6452"/>
            </a:avLst>
          </a:prstGeom>
          <a:solidFill>
            <a:srgbClr val="E9F6EF"/>
          </a:solidFill>
          <a:ln w="12700">
            <a:solidFill>
              <a:srgbClr val="E9F6EF"/>
            </a:solidFill>
            <a:prstDash val="solid"/>
          </a:ln>
        </p:spPr>
      </p:sp>
      <p:sp>
        <p:nvSpPr>
          <p:cNvPr id="4" name="TV en direct cercle"/>
          <p:cNvSpPr/>
          <p:nvPr/>
        </p:nvSpPr>
        <p:spPr>
          <a:xfrm>
            <a:off x="685800" y="1463040"/>
            <a:ext cx="548640" cy="548640"/>
          </a:xfrm>
          <a:prstGeom prst="ellipse">
            <a:avLst/>
          </a:prstGeom>
          <a:solidFill>
            <a:srgbClr val="1B8A5A"/>
          </a:solidFill>
          <a:ln w="12700">
            <a:solidFill>
              <a:srgbClr val="1B8A5A"/>
            </a:solidFill>
            <a:prstDash val="solid"/>
          </a:ln>
        </p:spPr>
      </p:sp>
      <p:pic>
        <p:nvPicPr>
          <p:cNvPr id="5" name="TV en direct icône" descr="preencoded.png">    </p:cNvPr>
          <p:cNvPicPr>
            <a:picLocks noChangeAspect="1"/>
          </p:cNvPicPr>
          <p:nvPr/>
        </p:nvPicPr>
        <p:blipFill>
          <a:blip r:embed="rId1"/>
          <a:stretch>
            <a:fillRect/>
          </a:stretch>
        </p:blipFill>
        <p:spPr>
          <a:xfrm>
            <a:off x="828446" y="1605686"/>
            <a:ext cx="263347" cy="263347"/>
          </a:xfrm>
          <a:prstGeom prst="rect">
            <a:avLst/>
          </a:prstGeom>
        </p:spPr>
      </p:pic>
      <p:sp>
        <p:nvSpPr>
          <p:cNvPr id="6" name="Text 3"/>
          <p:cNvSpPr txBox="1"/>
          <p:nvPr/>
        </p:nvSpPr>
        <p:spPr>
          <a:xfrm>
            <a:off x="1371600" y="1417320"/>
            <a:ext cx="1600200" cy="640080"/>
          </a:xfrm>
          <a:prstGeom prst="rect">
            <a:avLst/>
          </a:prstGeom>
          <a:noFill/>
          <a:ln/>
        </p:spPr>
        <p:txBody>
          <a:bodyPr wrap="square" lIns="0" tIns="0" rIns="0" bIns="0" rtlCol="0" anchor="ctr"/>
          <a:lstStyle/>
          <a:p>
            <a:pPr indent="0" marL="0">
              <a:buNone/>
            </a:pPr>
            <a:r>
              <a:rPr lang="en-US" sz="1500" b="1" dirty="0">
                <a:solidFill>
                  <a:srgbClr val="0E4D32"/>
                </a:solidFill>
                <a:latin typeface="Calibri" pitchFamily="34" charset="0"/>
                <a:ea typeface="Calibri" pitchFamily="34" charset="-122"/>
                <a:cs typeface="Calibri" pitchFamily="34" charset="-120"/>
              </a:rPr>
              <a:t>TV en direct</a:t>
            </a:r>
            <a:endParaRPr lang="en-US" sz="1500" dirty="0"/>
          </a:p>
        </p:txBody>
      </p:sp>
      <p:sp>
        <p:nvSpPr>
          <p:cNvPr id="7" name="Text 4"/>
          <p:cNvSpPr txBox="1"/>
          <p:nvPr/>
        </p:nvSpPr>
        <p:spPr>
          <a:xfrm>
            <a:off x="685800" y="2103120"/>
            <a:ext cx="2240280" cy="457200"/>
          </a:xfrm>
          <a:prstGeom prst="rect">
            <a:avLst/>
          </a:prstGeom>
          <a:noFill/>
          <a:ln/>
        </p:spPr>
        <p:txBody>
          <a:bodyPr wrap="square" lIns="0" tIns="0" rIns="0" bIns="0" rtlCol="0" anchor="t"/>
          <a:lstStyle/>
          <a:p>
            <a:pPr indent="0" marL="0">
              <a:buNone/>
            </a:pPr>
            <a:r>
              <a:rPr lang="en-US" sz="1200" dirty="0">
                <a:solidFill>
                  <a:srgbClr val="56685F"/>
                </a:solidFill>
                <a:latin typeface="Calibri" pitchFamily="34" charset="0"/>
                <a:ea typeface="Calibri" pitchFamily="34" charset="-122"/>
                <a:cs typeface="Calibri" pitchFamily="34" charset="-120"/>
              </a:rPr>
              <a:t>Chaînes linéaires en multicast</a:t>
            </a:r>
            <a:endParaRPr lang="en-US" sz="1200" dirty="0"/>
          </a:p>
        </p:txBody>
      </p:sp>
      <p:sp>
        <p:nvSpPr>
          <p:cNvPr id="8" name="Service Vidéo à la demande"/>
          <p:cNvSpPr/>
          <p:nvPr/>
        </p:nvSpPr>
        <p:spPr>
          <a:xfrm>
            <a:off x="3264408" y="1234440"/>
            <a:ext cx="2606040" cy="1417320"/>
          </a:xfrm>
          <a:prstGeom prst="roundRect">
            <a:avLst>
              <a:gd name="adj" fmla="val 6452"/>
            </a:avLst>
          </a:prstGeom>
          <a:solidFill>
            <a:srgbClr val="E9F6EF"/>
          </a:solidFill>
          <a:ln w="12700">
            <a:solidFill>
              <a:srgbClr val="E9F6EF"/>
            </a:solidFill>
            <a:prstDash val="solid"/>
          </a:ln>
        </p:spPr>
      </p:sp>
      <p:sp>
        <p:nvSpPr>
          <p:cNvPr id="9" name="Vidéo à la demande cercle"/>
          <p:cNvSpPr/>
          <p:nvPr/>
        </p:nvSpPr>
        <p:spPr>
          <a:xfrm>
            <a:off x="3493008" y="1463040"/>
            <a:ext cx="548640" cy="548640"/>
          </a:xfrm>
          <a:prstGeom prst="ellipse">
            <a:avLst/>
          </a:prstGeom>
          <a:solidFill>
            <a:srgbClr val="1B8A5A"/>
          </a:solidFill>
          <a:ln w="12700">
            <a:solidFill>
              <a:srgbClr val="1B8A5A"/>
            </a:solidFill>
            <a:prstDash val="solid"/>
          </a:ln>
        </p:spPr>
      </p:sp>
      <p:pic>
        <p:nvPicPr>
          <p:cNvPr id="10" name="Vidéo à la demande icône" descr="preencoded.png">    </p:cNvPr>
          <p:cNvPicPr>
            <a:picLocks noChangeAspect="1"/>
          </p:cNvPicPr>
          <p:nvPr/>
        </p:nvPicPr>
        <p:blipFill>
          <a:blip r:embed="rId2"/>
          <a:stretch>
            <a:fillRect/>
          </a:stretch>
        </p:blipFill>
        <p:spPr>
          <a:xfrm>
            <a:off x="3635654" y="1605686"/>
            <a:ext cx="263347" cy="263347"/>
          </a:xfrm>
          <a:prstGeom prst="rect">
            <a:avLst/>
          </a:prstGeom>
        </p:spPr>
      </p:pic>
      <p:sp>
        <p:nvSpPr>
          <p:cNvPr id="11" name="Text 7"/>
          <p:cNvSpPr txBox="1"/>
          <p:nvPr/>
        </p:nvSpPr>
        <p:spPr>
          <a:xfrm>
            <a:off x="4178808" y="1417320"/>
            <a:ext cx="1600200" cy="640080"/>
          </a:xfrm>
          <a:prstGeom prst="rect">
            <a:avLst/>
          </a:prstGeom>
          <a:noFill/>
          <a:ln/>
        </p:spPr>
        <p:txBody>
          <a:bodyPr wrap="square" lIns="0" tIns="0" rIns="0" bIns="0" rtlCol="0" anchor="ctr"/>
          <a:lstStyle/>
          <a:p>
            <a:pPr indent="0" marL="0">
              <a:buNone/>
            </a:pPr>
            <a:r>
              <a:rPr lang="en-US" sz="1500" b="1" dirty="0">
                <a:solidFill>
                  <a:srgbClr val="0E4D32"/>
                </a:solidFill>
                <a:latin typeface="Calibri" pitchFamily="34" charset="0"/>
                <a:ea typeface="Calibri" pitchFamily="34" charset="-122"/>
                <a:cs typeface="Calibri" pitchFamily="34" charset="-120"/>
              </a:rPr>
              <a:t>Vidéo à la demande</a:t>
            </a:r>
            <a:endParaRPr lang="en-US" sz="1500" dirty="0"/>
          </a:p>
        </p:txBody>
      </p:sp>
      <p:sp>
        <p:nvSpPr>
          <p:cNvPr id="12" name="Text 8"/>
          <p:cNvSpPr txBox="1"/>
          <p:nvPr/>
        </p:nvSpPr>
        <p:spPr>
          <a:xfrm>
            <a:off x="3493008" y="2103120"/>
            <a:ext cx="2240280" cy="457200"/>
          </a:xfrm>
          <a:prstGeom prst="rect">
            <a:avLst/>
          </a:prstGeom>
          <a:noFill/>
          <a:ln/>
        </p:spPr>
        <p:txBody>
          <a:bodyPr wrap="square" lIns="0" tIns="0" rIns="0" bIns="0" rtlCol="0" anchor="t"/>
          <a:lstStyle/>
          <a:p>
            <a:pPr indent="0" marL="0">
              <a:buNone/>
            </a:pPr>
            <a:r>
              <a:rPr lang="en-US" sz="1200" dirty="0">
                <a:solidFill>
                  <a:srgbClr val="56685F"/>
                </a:solidFill>
                <a:latin typeface="Calibri" pitchFamily="34" charset="0"/>
                <a:ea typeface="Calibri" pitchFamily="34" charset="-122"/>
                <a:cs typeface="Calibri" pitchFamily="34" charset="-120"/>
              </a:rPr>
              <a:t>Films et séries en unicast</a:t>
            </a:r>
            <a:endParaRPr lang="en-US" sz="1200" dirty="0"/>
          </a:p>
        </p:txBody>
      </p:sp>
      <p:sp>
        <p:nvSpPr>
          <p:cNvPr id="13" name="Service Replay (catch-up)"/>
          <p:cNvSpPr/>
          <p:nvPr/>
        </p:nvSpPr>
        <p:spPr>
          <a:xfrm>
            <a:off x="6071616" y="1234440"/>
            <a:ext cx="2606040" cy="1417320"/>
          </a:xfrm>
          <a:prstGeom prst="roundRect">
            <a:avLst>
              <a:gd name="adj" fmla="val 6452"/>
            </a:avLst>
          </a:prstGeom>
          <a:solidFill>
            <a:srgbClr val="E9F6EF"/>
          </a:solidFill>
          <a:ln w="12700">
            <a:solidFill>
              <a:srgbClr val="E9F6EF"/>
            </a:solidFill>
            <a:prstDash val="solid"/>
          </a:ln>
        </p:spPr>
      </p:sp>
      <p:sp>
        <p:nvSpPr>
          <p:cNvPr id="14" name="Replay (catch-up) cercle"/>
          <p:cNvSpPr/>
          <p:nvPr/>
        </p:nvSpPr>
        <p:spPr>
          <a:xfrm>
            <a:off x="6300216" y="1463040"/>
            <a:ext cx="548640" cy="548640"/>
          </a:xfrm>
          <a:prstGeom prst="ellipse">
            <a:avLst/>
          </a:prstGeom>
          <a:solidFill>
            <a:srgbClr val="1B8A5A"/>
          </a:solidFill>
          <a:ln w="12700">
            <a:solidFill>
              <a:srgbClr val="1B8A5A"/>
            </a:solidFill>
            <a:prstDash val="solid"/>
          </a:ln>
        </p:spPr>
      </p:sp>
      <p:pic>
        <p:nvPicPr>
          <p:cNvPr id="15" name="Replay (catch-up) icône" descr="preencoded.png">    </p:cNvPr>
          <p:cNvPicPr>
            <a:picLocks noChangeAspect="1"/>
          </p:cNvPicPr>
          <p:nvPr/>
        </p:nvPicPr>
        <p:blipFill>
          <a:blip r:embed="rId3"/>
          <a:stretch>
            <a:fillRect/>
          </a:stretch>
        </p:blipFill>
        <p:spPr>
          <a:xfrm>
            <a:off x="6442862" y="1605686"/>
            <a:ext cx="263347" cy="263347"/>
          </a:xfrm>
          <a:prstGeom prst="rect">
            <a:avLst/>
          </a:prstGeom>
        </p:spPr>
      </p:pic>
      <p:sp>
        <p:nvSpPr>
          <p:cNvPr id="16" name="Text 11"/>
          <p:cNvSpPr txBox="1"/>
          <p:nvPr/>
        </p:nvSpPr>
        <p:spPr>
          <a:xfrm>
            <a:off x="6986016" y="1417320"/>
            <a:ext cx="1600200" cy="640080"/>
          </a:xfrm>
          <a:prstGeom prst="rect">
            <a:avLst/>
          </a:prstGeom>
          <a:noFill/>
          <a:ln/>
        </p:spPr>
        <p:txBody>
          <a:bodyPr wrap="square" lIns="0" tIns="0" rIns="0" bIns="0" rtlCol="0" anchor="ctr"/>
          <a:lstStyle/>
          <a:p>
            <a:pPr indent="0" marL="0">
              <a:buNone/>
            </a:pPr>
            <a:r>
              <a:rPr lang="en-US" sz="1500" b="1" dirty="0">
                <a:solidFill>
                  <a:srgbClr val="0E4D32"/>
                </a:solidFill>
                <a:latin typeface="Calibri" pitchFamily="34" charset="0"/>
                <a:ea typeface="Calibri" pitchFamily="34" charset="-122"/>
                <a:cs typeface="Calibri" pitchFamily="34" charset="-120"/>
              </a:rPr>
              <a:t>Replay (catch-up)</a:t>
            </a:r>
            <a:endParaRPr lang="en-US" sz="1500" dirty="0"/>
          </a:p>
        </p:txBody>
      </p:sp>
      <p:sp>
        <p:nvSpPr>
          <p:cNvPr id="17" name="Text 12"/>
          <p:cNvSpPr txBox="1"/>
          <p:nvPr/>
        </p:nvSpPr>
        <p:spPr>
          <a:xfrm>
            <a:off x="6300216" y="2103120"/>
            <a:ext cx="2240280" cy="457200"/>
          </a:xfrm>
          <a:prstGeom prst="rect">
            <a:avLst/>
          </a:prstGeom>
          <a:noFill/>
          <a:ln/>
        </p:spPr>
        <p:txBody>
          <a:bodyPr wrap="square" lIns="0" tIns="0" rIns="0" bIns="0" rtlCol="0" anchor="t"/>
          <a:lstStyle/>
          <a:p>
            <a:pPr indent="0" marL="0">
              <a:buNone/>
            </a:pPr>
            <a:r>
              <a:rPr lang="en-US" sz="1200" dirty="0">
                <a:solidFill>
                  <a:srgbClr val="56685F"/>
                </a:solidFill>
                <a:latin typeface="Calibri" pitchFamily="34" charset="0"/>
                <a:ea typeface="Calibri" pitchFamily="34" charset="-122"/>
                <a:cs typeface="Calibri" pitchFamily="34" charset="-120"/>
              </a:rPr>
              <a:t>Programmes des jours passés</a:t>
            </a:r>
            <a:endParaRPr lang="en-US" sz="1200" dirty="0"/>
          </a:p>
        </p:txBody>
      </p:sp>
      <p:sp>
        <p:nvSpPr>
          <p:cNvPr id="18" name="Service Contrôle du direct"/>
          <p:cNvSpPr/>
          <p:nvPr/>
        </p:nvSpPr>
        <p:spPr>
          <a:xfrm>
            <a:off x="457200" y="2880360"/>
            <a:ext cx="2606040" cy="1417320"/>
          </a:xfrm>
          <a:prstGeom prst="roundRect">
            <a:avLst>
              <a:gd name="adj" fmla="val 6452"/>
            </a:avLst>
          </a:prstGeom>
          <a:solidFill>
            <a:srgbClr val="E9F6EF"/>
          </a:solidFill>
          <a:ln w="12700">
            <a:solidFill>
              <a:srgbClr val="E9F6EF"/>
            </a:solidFill>
            <a:prstDash val="solid"/>
          </a:ln>
        </p:spPr>
      </p:sp>
      <p:sp>
        <p:nvSpPr>
          <p:cNvPr id="19" name="Contrôle du direct cercle"/>
          <p:cNvSpPr/>
          <p:nvPr/>
        </p:nvSpPr>
        <p:spPr>
          <a:xfrm>
            <a:off x="685800" y="3108960"/>
            <a:ext cx="548640" cy="548640"/>
          </a:xfrm>
          <a:prstGeom prst="ellipse">
            <a:avLst/>
          </a:prstGeom>
          <a:solidFill>
            <a:srgbClr val="1B8A5A"/>
          </a:solidFill>
          <a:ln w="12700">
            <a:solidFill>
              <a:srgbClr val="1B8A5A"/>
            </a:solidFill>
            <a:prstDash val="solid"/>
          </a:ln>
        </p:spPr>
      </p:sp>
      <p:pic>
        <p:nvPicPr>
          <p:cNvPr id="20" name="Contrôle du direct icône" descr="preencoded.png">    </p:cNvPr>
          <p:cNvPicPr>
            <a:picLocks noChangeAspect="1"/>
          </p:cNvPicPr>
          <p:nvPr/>
        </p:nvPicPr>
        <p:blipFill>
          <a:blip r:embed="rId4"/>
          <a:stretch>
            <a:fillRect/>
          </a:stretch>
        </p:blipFill>
        <p:spPr>
          <a:xfrm>
            <a:off x="828446" y="3251606"/>
            <a:ext cx="263347" cy="263347"/>
          </a:xfrm>
          <a:prstGeom prst="rect">
            <a:avLst/>
          </a:prstGeom>
        </p:spPr>
      </p:pic>
      <p:sp>
        <p:nvSpPr>
          <p:cNvPr id="21" name="Text 15"/>
          <p:cNvSpPr txBox="1"/>
          <p:nvPr/>
        </p:nvSpPr>
        <p:spPr>
          <a:xfrm>
            <a:off x="1371600" y="3063240"/>
            <a:ext cx="1600200" cy="640080"/>
          </a:xfrm>
          <a:prstGeom prst="rect">
            <a:avLst/>
          </a:prstGeom>
          <a:noFill/>
          <a:ln/>
        </p:spPr>
        <p:txBody>
          <a:bodyPr wrap="square" lIns="0" tIns="0" rIns="0" bIns="0" rtlCol="0" anchor="ctr"/>
          <a:lstStyle/>
          <a:p>
            <a:pPr indent="0" marL="0">
              <a:buNone/>
            </a:pPr>
            <a:r>
              <a:rPr lang="en-US" sz="1500" b="1" dirty="0">
                <a:solidFill>
                  <a:srgbClr val="0E4D32"/>
                </a:solidFill>
                <a:latin typeface="Calibri" pitchFamily="34" charset="0"/>
                <a:ea typeface="Calibri" pitchFamily="34" charset="-122"/>
                <a:cs typeface="Calibri" pitchFamily="34" charset="-120"/>
              </a:rPr>
              <a:t>Contrôle du direct</a:t>
            </a:r>
            <a:endParaRPr lang="en-US" sz="1500" dirty="0"/>
          </a:p>
        </p:txBody>
      </p:sp>
      <p:sp>
        <p:nvSpPr>
          <p:cNvPr id="22" name="Text 16"/>
          <p:cNvSpPr txBox="1"/>
          <p:nvPr/>
        </p:nvSpPr>
        <p:spPr>
          <a:xfrm>
            <a:off x="685800" y="3749040"/>
            <a:ext cx="2240280" cy="457200"/>
          </a:xfrm>
          <a:prstGeom prst="rect">
            <a:avLst/>
          </a:prstGeom>
          <a:noFill/>
          <a:ln/>
        </p:spPr>
        <p:txBody>
          <a:bodyPr wrap="square" lIns="0" tIns="0" rIns="0" bIns="0" rtlCol="0" anchor="t"/>
          <a:lstStyle/>
          <a:p>
            <a:pPr indent="0" marL="0">
              <a:buNone/>
            </a:pPr>
            <a:r>
              <a:rPr lang="en-US" sz="1200" dirty="0">
                <a:solidFill>
                  <a:srgbClr val="56685F"/>
                </a:solidFill>
                <a:latin typeface="Calibri" pitchFamily="34" charset="0"/>
                <a:ea typeface="Calibri" pitchFamily="34" charset="-122"/>
                <a:cs typeface="Calibri" pitchFamily="34" charset="-120"/>
              </a:rPr>
              <a:t>Pause et retour en arrière</a:t>
            </a:r>
            <a:endParaRPr lang="en-US" sz="1200" dirty="0"/>
          </a:p>
        </p:txBody>
      </p:sp>
      <p:sp>
        <p:nvSpPr>
          <p:cNvPr id="23" name="Service Enregistreur réseau"/>
          <p:cNvSpPr/>
          <p:nvPr/>
        </p:nvSpPr>
        <p:spPr>
          <a:xfrm>
            <a:off x="3264408" y="2880360"/>
            <a:ext cx="2606040" cy="1417320"/>
          </a:xfrm>
          <a:prstGeom prst="roundRect">
            <a:avLst>
              <a:gd name="adj" fmla="val 6452"/>
            </a:avLst>
          </a:prstGeom>
          <a:solidFill>
            <a:srgbClr val="E9F6EF"/>
          </a:solidFill>
          <a:ln w="12700">
            <a:solidFill>
              <a:srgbClr val="E9F6EF"/>
            </a:solidFill>
            <a:prstDash val="solid"/>
          </a:ln>
        </p:spPr>
      </p:sp>
      <p:sp>
        <p:nvSpPr>
          <p:cNvPr id="24" name="Enregistreur réseau cercle"/>
          <p:cNvSpPr/>
          <p:nvPr/>
        </p:nvSpPr>
        <p:spPr>
          <a:xfrm>
            <a:off x="3493008" y="3108960"/>
            <a:ext cx="548640" cy="548640"/>
          </a:xfrm>
          <a:prstGeom prst="ellipse">
            <a:avLst/>
          </a:prstGeom>
          <a:solidFill>
            <a:srgbClr val="1B8A5A"/>
          </a:solidFill>
          <a:ln w="12700">
            <a:solidFill>
              <a:srgbClr val="1B8A5A"/>
            </a:solidFill>
            <a:prstDash val="solid"/>
          </a:ln>
        </p:spPr>
      </p:sp>
      <p:pic>
        <p:nvPicPr>
          <p:cNvPr id="25" name="Enregistreur réseau icône" descr="preencoded.png">    </p:cNvPr>
          <p:cNvPicPr>
            <a:picLocks noChangeAspect="1"/>
          </p:cNvPicPr>
          <p:nvPr/>
        </p:nvPicPr>
        <p:blipFill>
          <a:blip r:embed="rId5"/>
          <a:stretch>
            <a:fillRect/>
          </a:stretch>
        </p:blipFill>
        <p:spPr>
          <a:xfrm>
            <a:off x="3635654" y="3251606"/>
            <a:ext cx="263347" cy="263347"/>
          </a:xfrm>
          <a:prstGeom prst="rect">
            <a:avLst/>
          </a:prstGeom>
        </p:spPr>
      </p:pic>
      <p:sp>
        <p:nvSpPr>
          <p:cNvPr id="26" name="Text 19"/>
          <p:cNvSpPr txBox="1"/>
          <p:nvPr/>
        </p:nvSpPr>
        <p:spPr>
          <a:xfrm>
            <a:off x="4178808" y="3063240"/>
            <a:ext cx="1600200" cy="640080"/>
          </a:xfrm>
          <a:prstGeom prst="rect">
            <a:avLst/>
          </a:prstGeom>
          <a:noFill/>
          <a:ln/>
        </p:spPr>
        <p:txBody>
          <a:bodyPr wrap="square" lIns="0" tIns="0" rIns="0" bIns="0" rtlCol="0" anchor="ctr"/>
          <a:lstStyle/>
          <a:p>
            <a:pPr indent="0" marL="0">
              <a:buNone/>
            </a:pPr>
            <a:r>
              <a:rPr lang="en-US" sz="1500" b="1" dirty="0">
                <a:solidFill>
                  <a:srgbClr val="0E4D32"/>
                </a:solidFill>
                <a:latin typeface="Calibri" pitchFamily="34" charset="0"/>
                <a:ea typeface="Calibri" pitchFamily="34" charset="-122"/>
                <a:cs typeface="Calibri" pitchFamily="34" charset="-120"/>
              </a:rPr>
              <a:t>Enregistreur réseau</a:t>
            </a:r>
            <a:endParaRPr lang="en-US" sz="1500" dirty="0"/>
          </a:p>
        </p:txBody>
      </p:sp>
      <p:sp>
        <p:nvSpPr>
          <p:cNvPr id="27" name="Text 20"/>
          <p:cNvSpPr txBox="1"/>
          <p:nvPr/>
        </p:nvSpPr>
        <p:spPr>
          <a:xfrm>
            <a:off x="3493008" y="3749040"/>
            <a:ext cx="2240280" cy="457200"/>
          </a:xfrm>
          <a:prstGeom prst="rect">
            <a:avLst/>
          </a:prstGeom>
          <a:noFill/>
          <a:ln/>
        </p:spPr>
        <p:txBody>
          <a:bodyPr wrap="square" lIns="0" tIns="0" rIns="0" bIns="0" rtlCol="0" anchor="t"/>
          <a:lstStyle/>
          <a:p>
            <a:pPr indent="0" marL="0">
              <a:buNone/>
            </a:pPr>
            <a:r>
              <a:rPr lang="en-US" sz="1200" dirty="0">
                <a:solidFill>
                  <a:srgbClr val="56685F"/>
                </a:solidFill>
                <a:latin typeface="Calibri" pitchFamily="34" charset="0"/>
                <a:ea typeface="Calibri" pitchFamily="34" charset="-122"/>
                <a:cs typeface="Calibri" pitchFamily="34" charset="-120"/>
              </a:rPr>
              <a:t>Enregistrements stockés chez l'opérateur</a:t>
            </a:r>
            <a:endParaRPr lang="en-US" sz="1200" dirty="0"/>
          </a:p>
        </p:txBody>
      </p:sp>
      <p:sp>
        <p:nvSpPr>
          <p:cNvPr id="28" name="Service Guide des programmes"/>
          <p:cNvSpPr/>
          <p:nvPr/>
        </p:nvSpPr>
        <p:spPr>
          <a:xfrm>
            <a:off x="6071616" y="2880360"/>
            <a:ext cx="2606040" cy="1417320"/>
          </a:xfrm>
          <a:prstGeom prst="roundRect">
            <a:avLst>
              <a:gd name="adj" fmla="val 6452"/>
            </a:avLst>
          </a:prstGeom>
          <a:solidFill>
            <a:srgbClr val="E9F6EF"/>
          </a:solidFill>
          <a:ln w="12700">
            <a:solidFill>
              <a:srgbClr val="E9F6EF"/>
            </a:solidFill>
            <a:prstDash val="solid"/>
          </a:ln>
        </p:spPr>
      </p:sp>
      <p:sp>
        <p:nvSpPr>
          <p:cNvPr id="29" name="Guide des programmes cercle"/>
          <p:cNvSpPr/>
          <p:nvPr/>
        </p:nvSpPr>
        <p:spPr>
          <a:xfrm>
            <a:off x="6300216" y="3108960"/>
            <a:ext cx="548640" cy="548640"/>
          </a:xfrm>
          <a:prstGeom prst="ellipse">
            <a:avLst/>
          </a:prstGeom>
          <a:solidFill>
            <a:srgbClr val="1B8A5A"/>
          </a:solidFill>
          <a:ln w="12700">
            <a:solidFill>
              <a:srgbClr val="1B8A5A"/>
            </a:solidFill>
            <a:prstDash val="solid"/>
          </a:ln>
        </p:spPr>
      </p:sp>
      <p:pic>
        <p:nvPicPr>
          <p:cNvPr id="30" name="Guide des programmes icône" descr="preencoded.png">    </p:cNvPr>
          <p:cNvPicPr>
            <a:picLocks noChangeAspect="1"/>
          </p:cNvPicPr>
          <p:nvPr/>
        </p:nvPicPr>
        <p:blipFill>
          <a:blip r:embed="rId6"/>
          <a:stretch>
            <a:fillRect/>
          </a:stretch>
        </p:blipFill>
        <p:spPr>
          <a:xfrm>
            <a:off x="6442862" y="3251606"/>
            <a:ext cx="263347" cy="263347"/>
          </a:xfrm>
          <a:prstGeom prst="rect">
            <a:avLst/>
          </a:prstGeom>
        </p:spPr>
      </p:pic>
      <p:sp>
        <p:nvSpPr>
          <p:cNvPr id="31" name="Text 23"/>
          <p:cNvSpPr txBox="1"/>
          <p:nvPr/>
        </p:nvSpPr>
        <p:spPr>
          <a:xfrm>
            <a:off x="6986016" y="3063240"/>
            <a:ext cx="1600200" cy="640080"/>
          </a:xfrm>
          <a:prstGeom prst="rect">
            <a:avLst/>
          </a:prstGeom>
          <a:noFill/>
          <a:ln/>
        </p:spPr>
        <p:txBody>
          <a:bodyPr wrap="square" lIns="0" tIns="0" rIns="0" bIns="0" rtlCol="0" anchor="ctr"/>
          <a:lstStyle/>
          <a:p>
            <a:pPr indent="0" marL="0">
              <a:buNone/>
            </a:pPr>
            <a:r>
              <a:rPr lang="en-US" sz="1500" b="1" dirty="0">
                <a:solidFill>
                  <a:srgbClr val="0E4D32"/>
                </a:solidFill>
                <a:latin typeface="Calibri" pitchFamily="34" charset="0"/>
                <a:ea typeface="Calibri" pitchFamily="34" charset="-122"/>
                <a:cs typeface="Calibri" pitchFamily="34" charset="-120"/>
              </a:rPr>
              <a:t>Guide des programmes</a:t>
            </a:r>
            <a:endParaRPr lang="en-US" sz="1500" dirty="0"/>
          </a:p>
        </p:txBody>
      </p:sp>
      <p:sp>
        <p:nvSpPr>
          <p:cNvPr id="32" name="Text 24"/>
          <p:cNvSpPr txBox="1"/>
          <p:nvPr/>
        </p:nvSpPr>
        <p:spPr>
          <a:xfrm>
            <a:off x="6300216" y="3749040"/>
            <a:ext cx="2240280" cy="457200"/>
          </a:xfrm>
          <a:prstGeom prst="rect">
            <a:avLst/>
          </a:prstGeom>
          <a:noFill/>
          <a:ln/>
        </p:spPr>
        <p:txBody>
          <a:bodyPr wrap="square" lIns="0" tIns="0" rIns="0" bIns="0" rtlCol="0" anchor="t"/>
          <a:lstStyle/>
          <a:p>
            <a:pPr indent="0" marL="0">
              <a:buNone/>
            </a:pPr>
            <a:r>
              <a:rPr lang="en-US" sz="1200" dirty="0">
                <a:solidFill>
                  <a:srgbClr val="56685F"/>
                </a:solidFill>
                <a:latin typeface="Calibri" pitchFamily="34" charset="0"/>
                <a:ea typeface="Calibri" pitchFamily="34" charset="-122"/>
                <a:cs typeface="Calibri" pitchFamily="34" charset="-120"/>
              </a:rPr>
              <a:t>EPG interactif sur l'écran</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4D32"/>
                </a:solidFill>
                <a:latin typeface="Cambria" pitchFamily="34" charset="0"/>
                <a:ea typeface="Cambria" pitchFamily="34" charset="-122"/>
                <a:cs typeface="Cambria" pitchFamily="34" charset="-120"/>
              </a:rPr>
              <a:t>Protocoles clés</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914400"/>
        </p:xfrm>
        <a:graphic>
          <a:graphicData uri="http://schemas.openxmlformats.org/drawingml/2006/table">
            <a:tbl>
              <a:tblPr/>
              <a:tblGrid>
                <a:gridCol w="2011680"/>
                <a:gridCol w="6217920"/>
              </a:tblGrid>
              <a:tr h="43891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Protocole</a:t>
                      </a:r>
                      <a:endParaRPr lang="en-US" sz="1400" dirty="0">
                        <a:latin typeface="Calibri" charset="0"/>
                        <a:ea typeface="Calibri" charset="0"/>
                        <a:cs typeface="Calibri" charset="0"/>
                      </a:endParaRPr>
                    </a:p>
                  </a:txBody>
                  <a:tcPr marL="137160" marR="137160" marT="0" marB="0" anchor="ctr">
                    <a:lnL w="6350" cap="flat" cmpd="sng" algn="ctr">
                      <a:solidFill>
                        <a:srgbClr val="D4EEDF"/>
                      </a:solidFill>
                      <a:prstDash val="solid"/>
                      <a:round/>
                      <a:headEnd type="none" w="med" len="med"/>
                      <a:tailEnd type="none" w="med" len="med"/>
                    </a:lnL>
                    <a:lnR w="6350" cap="flat" cmpd="sng" algn="ctr">
                      <a:solidFill>
                        <a:srgbClr val="D4EEDF"/>
                      </a:solidFill>
                      <a:prstDash val="solid"/>
                      <a:round/>
                      <a:headEnd type="none" w="med" len="med"/>
                      <a:tailEnd type="none" w="med" len="med"/>
                    </a:lnR>
                    <a:lnT w="6350" cap="flat" cmpd="sng" algn="ctr">
                      <a:solidFill>
                        <a:srgbClr val="D4EEDF"/>
                      </a:solidFill>
                      <a:prstDash val="solid"/>
                      <a:round/>
                      <a:headEnd type="none" w="med" len="med"/>
                      <a:tailEnd type="none" w="med" len="med"/>
                    </a:lnT>
                    <a:lnB w="6350" cap="flat" cmpd="sng" algn="ctr">
                      <a:solidFill>
                        <a:srgbClr val="D4EEDF"/>
                      </a:solidFill>
                      <a:prstDash val="solid"/>
                      <a:round/>
                      <a:headEnd type="none" w="med" len="med"/>
                      <a:tailEnd type="none" w="med" len="med"/>
                    </a:lnB>
                    <a:solidFill>
                      <a:srgbClr val="0E4D3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Rôle dans l'IPTV</a:t>
                      </a:r>
                      <a:endParaRPr lang="en-US" sz="1400" dirty="0">
                        <a:latin typeface="Calibri" charset="0"/>
                        <a:ea typeface="Calibri" charset="0"/>
                        <a:cs typeface="Calibri" charset="0"/>
                      </a:endParaRPr>
                    </a:p>
                  </a:txBody>
                  <a:tcPr marL="137160" marR="137160" marT="0" marB="0" anchor="ctr">
                    <a:lnL w="6350" cap="flat" cmpd="sng" algn="ctr">
                      <a:solidFill>
                        <a:srgbClr val="D4EEDF"/>
                      </a:solidFill>
                      <a:prstDash val="solid"/>
                      <a:round/>
                      <a:headEnd type="none" w="med" len="med"/>
                      <a:tailEnd type="none" w="med" len="med"/>
                    </a:lnL>
                    <a:lnR w="6350" cap="flat" cmpd="sng" algn="ctr">
                      <a:solidFill>
                        <a:srgbClr val="D4EEDF"/>
                      </a:solidFill>
                      <a:prstDash val="solid"/>
                      <a:round/>
                      <a:headEnd type="none" w="med" len="med"/>
                      <a:tailEnd type="none" w="med" len="med"/>
                    </a:lnR>
                    <a:lnT w="6350" cap="flat" cmpd="sng" algn="ctr">
                      <a:solidFill>
                        <a:srgbClr val="D4EEDF"/>
                      </a:solidFill>
                      <a:prstDash val="solid"/>
                      <a:round/>
                      <a:headEnd type="none" w="med" len="med"/>
                      <a:tailEnd type="none" w="med" len="med"/>
                    </a:lnT>
                    <a:lnB w="6350" cap="flat" cmpd="sng" algn="ctr">
                      <a:solidFill>
                        <a:srgbClr val="D4EEDF"/>
                      </a:solidFill>
                      <a:prstDash val="solid"/>
                      <a:round/>
                      <a:headEnd type="none" w="med" len="med"/>
                      <a:tailEnd type="none" w="med" len="med"/>
                    </a:lnB>
                    <a:solidFill>
                      <a:srgbClr val="0E4D32"/>
                    </a:solidFill>
                  </a:tcPr>
                </a:tc>
              </a:tr>
              <a:tr h="438912">
                <a:tc>
                  <a:txBody>
                    <a:bodyPr/>
                    <a:lstStyle/>
                    <a:p>
                      <a:pPr indent="0" marL="0">
                        <a:buNone/>
                      </a:pPr>
                      <a:r>
                        <a:rPr lang="en-US" sz="1400" b="1" dirty="0">
                          <a:solidFill>
                            <a:srgbClr val="1B8A5A"/>
                          </a:solidFill>
                          <a:latin typeface="Calibri" pitchFamily="34" charset="0"/>
                          <a:ea typeface="Calibri" pitchFamily="34" charset="-122"/>
                          <a:cs typeface="Calibri" pitchFamily="34" charset="-120"/>
                        </a:rPr>
                        <a:t>IGMP</a:t>
                      </a:r>
                      <a:endParaRPr lang="en-US" sz="1400" dirty="0">
                        <a:latin typeface="Calibri" charset="0"/>
                        <a:ea typeface="Calibri" charset="0"/>
                        <a:cs typeface="Calibri" charset="0"/>
                      </a:endParaRPr>
                    </a:p>
                  </a:txBody>
                  <a:tcPr marL="137160" marR="137160" marT="0" marB="0" anchor="ctr">
                    <a:lnL w="6350" cap="flat" cmpd="sng" algn="ctr">
                      <a:solidFill>
                        <a:srgbClr val="D4EEDF"/>
                      </a:solidFill>
                      <a:prstDash val="solid"/>
                      <a:round/>
                      <a:headEnd type="none" w="med" len="med"/>
                      <a:tailEnd type="none" w="med" len="med"/>
                    </a:lnL>
                    <a:lnR w="6350" cap="flat" cmpd="sng" algn="ctr">
                      <a:solidFill>
                        <a:srgbClr val="D4EEDF"/>
                      </a:solidFill>
                      <a:prstDash val="solid"/>
                      <a:round/>
                      <a:headEnd type="none" w="med" len="med"/>
                      <a:tailEnd type="none" w="med" len="med"/>
                    </a:lnR>
                    <a:lnT w="6350" cap="flat" cmpd="sng" algn="ctr">
                      <a:solidFill>
                        <a:srgbClr val="D4EEDF"/>
                      </a:solidFill>
                      <a:prstDash val="solid"/>
                      <a:round/>
                      <a:headEnd type="none" w="med" len="med"/>
                      <a:tailEnd type="none" w="med" len="med"/>
                    </a:lnT>
                    <a:lnB w="6350" cap="flat" cmpd="sng" algn="ctr">
                      <a:solidFill>
                        <a:srgbClr val="D4EEDF"/>
                      </a:solidFill>
                      <a:prstDash val="solid"/>
                      <a:round/>
                      <a:headEnd type="none" w="med" len="med"/>
                      <a:tailEnd type="none" w="med" len="med"/>
                    </a:lnB>
                    <a:solidFill>
                      <a:srgbClr val="FFFFFF"/>
                    </a:solidFill>
                  </a:tcPr>
                </a:tc>
                <a:tc>
                  <a:txBody>
                    <a:bodyPr/>
                    <a:lstStyle/>
                    <a:p>
                      <a:pPr indent="0" marL="0">
                        <a:buNone/>
                      </a:pPr>
                      <a:r>
                        <a:rPr lang="en-US" sz="1400" dirty="0">
                          <a:solidFill>
                            <a:srgbClr val="1F2D27"/>
                          </a:solidFill>
                          <a:latin typeface="Calibri" pitchFamily="34" charset="0"/>
                          <a:ea typeface="Calibri" pitchFamily="34" charset="-122"/>
                          <a:cs typeface="Calibri" pitchFamily="34" charset="-120"/>
                        </a:rPr>
                        <a:t>L'abonné rejoint ou quitte un groupe multicast (une chaîne)</a:t>
                      </a:r>
                      <a:endParaRPr lang="en-US" sz="1400" dirty="0">
                        <a:latin typeface="Calibri" charset="0"/>
                        <a:ea typeface="Calibri" charset="0"/>
                        <a:cs typeface="Calibri" charset="0"/>
                      </a:endParaRPr>
                    </a:p>
                  </a:txBody>
                  <a:tcPr marL="137160" marR="137160" marT="0" marB="0" anchor="ctr">
                    <a:lnL w="6350" cap="flat" cmpd="sng" algn="ctr">
                      <a:solidFill>
                        <a:srgbClr val="D4EEDF"/>
                      </a:solidFill>
                      <a:prstDash val="solid"/>
                      <a:round/>
                      <a:headEnd type="none" w="med" len="med"/>
                      <a:tailEnd type="none" w="med" len="med"/>
                    </a:lnL>
                    <a:lnR w="6350" cap="flat" cmpd="sng" algn="ctr">
                      <a:solidFill>
                        <a:srgbClr val="D4EEDF"/>
                      </a:solidFill>
                      <a:prstDash val="solid"/>
                      <a:round/>
                      <a:headEnd type="none" w="med" len="med"/>
                      <a:tailEnd type="none" w="med" len="med"/>
                    </a:lnR>
                    <a:lnT w="6350" cap="flat" cmpd="sng" algn="ctr">
                      <a:solidFill>
                        <a:srgbClr val="D4EEDF"/>
                      </a:solidFill>
                      <a:prstDash val="solid"/>
                      <a:round/>
                      <a:headEnd type="none" w="med" len="med"/>
                      <a:tailEnd type="none" w="med" len="med"/>
                    </a:lnT>
                    <a:lnB w="6350" cap="flat" cmpd="sng" algn="ctr">
                      <a:solidFill>
                        <a:srgbClr val="D4EEDF"/>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B8A5A"/>
                          </a:solidFill>
                          <a:latin typeface="Calibri" pitchFamily="34" charset="0"/>
                          <a:ea typeface="Calibri" pitchFamily="34" charset="-122"/>
                          <a:cs typeface="Calibri" pitchFamily="34" charset="-120"/>
                        </a:rPr>
                        <a:t>PIM</a:t>
                      </a:r>
                      <a:endParaRPr lang="en-US" sz="1400" dirty="0">
                        <a:latin typeface="Calibri" charset="0"/>
                        <a:ea typeface="Calibri" charset="0"/>
                        <a:cs typeface="Calibri" charset="0"/>
                      </a:endParaRPr>
                    </a:p>
                  </a:txBody>
                  <a:tcPr marL="137160" marR="137160" marT="0" marB="0" anchor="ctr">
                    <a:lnL w="6350" cap="flat" cmpd="sng" algn="ctr">
                      <a:solidFill>
                        <a:srgbClr val="D4EEDF"/>
                      </a:solidFill>
                      <a:prstDash val="solid"/>
                      <a:round/>
                      <a:headEnd type="none" w="med" len="med"/>
                      <a:tailEnd type="none" w="med" len="med"/>
                    </a:lnL>
                    <a:lnR w="6350" cap="flat" cmpd="sng" algn="ctr">
                      <a:solidFill>
                        <a:srgbClr val="D4EEDF"/>
                      </a:solidFill>
                      <a:prstDash val="solid"/>
                      <a:round/>
                      <a:headEnd type="none" w="med" len="med"/>
                      <a:tailEnd type="none" w="med" len="med"/>
                    </a:lnR>
                    <a:lnT w="6350" cap="flat" cmpd="sng" algn="ctr">
                      <a:solidFill>
                        <a:srgbClr val="D4EEDF"/>
                      </a:solidFill>
                      <a:prstDash val="solid"/>
                      <a:round/>
                      <a:headEnd type="none" w="med" len="med"/>
                      <a:tailEnd type="none" w="med" len="med"/>
                    </a:lnT>
                    <a:lnB w="6350" cap="flat" cmpd="sng" algn="ctr">
                      <a:solidFill>
                        <a:srgbClr val="D4EEDF"/>
                      </a:solidFill>
                      <a:prstDash val="solid"/>
                      <a:round/>
                      <a:headEnd type="none" w="med" len="med"/>
                      <a:tailEnd type="none" w="med" len="med"/>
                    </a:lnB>
                    <a:solidFill>
                      <a:srgbClr val="E9F6EF"/>
                    </a:solidFill>
                  </a:tcPr>
                </a:tc>
                <a:tc>
                  <a:txBody>
                    <a:bodyPr/>
                    <a:lstStyle/>
                    <a:p>
                      <a:pPr indent="0" marL="0">
                        <a:buNone/>
                      </a:pPr>
                      <a:r>
                        <a:rPr lang="en-US" sz="1400" dirty="0">
                          <a:solidFill>
                            <a:srgbClr val="1F2D27"/>
                          </a:solidFill>
                          <a:latin typeface="Calibri" pitchFamily="34" charset="0"/>
                          <a:ea typeface="Calibri" pitchFamily="34" charset="-122"/>
                          <a:cs typeface="Calibri" pitchFamily="34" charset="-120"/>
                        </a:rPr>
                        <a:t>Construit l'arbre de diffusion multicast entre routeurs</a:t>
                      </a:r>
                      <a:endParaRPr lang="en-US" sz="1400" dirty="0">
                        <a:latin typeface="Calibri" charset="0"/>
                        <a:ea typeface="Calibri" charset="0"/>
                        <a:cs typeface="Calibri" charset="0"/>
                      </a:endParaRPr>
                    </a:p>
                  </a:txBody>
                  <a:tcPr marL="137160" marR="137160" marT="0" marB="0" anchor="ctr">
                    <a:lnL w="6350" cap="flat" cmpd="sng" algn="ctr">
                      <a:solidFill>
                        <a:srgbClr val="D4EEDF"/>
                      </a:solidFill>
                      <a:prstDash val="solid"/>
                      <a:round/>
                      <a:headEnd type="none" w="med" len="med"/>
                      <a:tailEnd type="none" w="med" len="med"/>
                    </a:lnL>
                    <a:lnR w="6350" cap="flat" cmpd="sng" algn="ctr">
                      <a:solidFill>
                        <a:srgbClr val="D4EEDF"/>
                      </a:solidFill>
                      <a:prstDash val="solid"/>
                      <a:round/>
                      <a:headEnd type="none" w="med" len="med"/>
                      <a:tailEnd type="none" w="med" len="med"/>
                    </a:lnR>
                    <a:lnT w="6350" cap="flat" cmpd="sng" algn="ctr">
                      <a:solidFill>
                        <a:srgbClr val="D4EEDF"/>
                      </a:solidFill>
                      <a:prstDash val="solid"/>
                      <a:round/>
                      <a:headEnd type="none" w="med" len="med"/>
                      <a:tailEnd type="none" w="med" len="med"/>
                    </a:lnT>
                    <a:lnB w="6350" cap="flat" cmpd="sng" algn="ctr">
                      <a:solidFill>
                        <a:srgbClr val="D4EEDF"/>
                      </a:solidFill>
                      <a:prstDash val="solid"/>
                      <a:round/>
                      <a:headEnd type="none" w="med" len="med"/>
                      <a:tailEnd type="none" w="med" len="med"/>
                    </a:lnB>
                    <a:solidFill>
                      <a:srgbClr val="E9F6EF"/>
                    </a:solidFill>
                  </a:tcPr>
                </a:tc>
              </a:tr>
              <a:tr h="438912">
                <a:tc>
                  <a:txBody>
                    <a:bodyPr/>
                    <a:lstStyle/>
                    <a:p>
                      <a:pPr indent="0" marL="0">
                        <a:buNone/>
                      </a:pPr>
                      <a:r>
                        <a:rPr lang="en-US" sz="1400" b="1" dirty="0">
                          <a:solidFill>
                            <a:srgbClr val="1B8A5A"/>
                          </a:solidFill>
                          <a:latin typeface="Calibri" pitchFamily="34" charset="0"/>
                          <a:ea typeface="Calibri" pitchFamily="34" charset="-122"/>
                          <a:cs typeface="Calibri" pitchFamily="34" charset="-120"/>
                        </a:rPr>
                        <a:t>UDP / RTP</a:t>
                      </a:r>
                      <a:endParaRPr lang="en-US" sz="1400" dirty="0">
                        <a:latin typeface="Calibri" charset="0"/>
                        <a:ea typeface="Calibri" charset="0"/>
                        <a:cs typeface="Calibri" charset="0"/>
                      </a:endParaRPr>
                    </a:p>
                  </a:txBody>
                  <a:tcPr marL="137160" marR="137160" marT="0" marB="0" anchor="ctr">
                    <a:lnL w="6350" cap="flat" cmpd="sng" algn="ctr">
                      <a:solidFill>
                        <a:srgbClr val="D4EEDF"/>
                      </a:solidFill>
                      <a:prstDash val="solid"/>
                      <a:round/>
                      <a:headEnd type="none" w="med" len="med"/>
                      <a:tailEnd type="none" w="med" len="med"/>
                    </a:lnL>
                    <a:lnR w="6350" cap="flat" cmpd="sng" algn="ctr">
                      <a:solidFill>
                        <a:srgbClr val="D4EEDF"/>
                      </a:solidFill>
                      <a:prstDash val="solid"/>
                      <a:round/>
                      <a:headEnd type="none" w="med" len="med"/>
                      <a:tailEnd type="none" w="med" len="med"/>
                    </a:lnR>
                    <a:lnT w="6350" cap="flat" cmpd="sng" algn="ctr">
                      <a:solidFill>
                        <a:srgbClr val="D4EEDF"/>
                      </a:solidFill>
                      <a:prstDash val="solid"/>
                      <a:round/>
                      <a:headEnd type="none" w="med" len="med"/>
                      <a:tailEnd type="none" w="med" len="med"/>
                    </a:lnT>
                    <a:lnB w="6350" cap="flat" cmpd="sng" algn="ctr">
                      <a:solidFill>
                        <a:srgbClr val="D4EEDF"/>
                      </a:solidFill>
                      <a:prstDash val="solid"/>
                      <a:round/>
                      <a:headEnd type="none" w="med" len="med"/>
                      <a:tailEnd type="none" w="med" len="med"/>
                    </a:lnB>
                    <a:solidFill>
                      <a:srgbClr val="FFFFFF"/>
                    </a:solidFill>
                  </a:tcPr>
                </a:tc>
                <a:tc>
                  <a:txBody>
                    <a:bodyPr/>
                    <a:lstStyle/>
                    <a:p>
                      <a:pPr indent="0" marL="0">
                        <a:buNone/>
                      </a:pPr>
                      <a:r>
                        <a:rPr lang="en-US" sz="1400" dirty="0">
                          <a:solidFill>
                            <a:srgbClr val="1F2D27"/>
                          </a:solidFill>
                          <a:latin typeface="Calibri" pitchFamily="34" charset="0"/>
                          <a:ea typeface="Calibri" pitchFamily="34" charset="-122"/>
                          <a:cs typeface="Calibri" pitchFamily="34" charset="-120"/>
                        </a:rPr>
                        <a:t>Transport temps réel des paquets vidéo</a:t>
                      </a:r>
                      <a:endParaRPr lang="en-US" sz="1400" dirty="0">
                        <a:latin typeface="Calibri" charset="0"/>
                        <a:ea typeface="Calibri" charset="0"/>
                        <a:cs typeface="Calibri" charset="0"/>
                      </a:endParaRPr>
                    </a:p>
                  </a:txBody>
                  <a:tcPr marL="137160" marR="137160" marT="0" marB="0" anchor="ctr">
                    <a:lnL w="6350" cap="flat" cmpd="sng" algn="ctr">
                      <a:solidFill>
                        <a:srgbClr val="D4EEDF"/>
                      </a:solidFill>
                      <a:prstDash val="solid"/>
                      <a:round/>
                      <a:headEnd type="none" w="med" len="med"/>
                      <a:tailEnd type="none" w="med" len="med"/>
                    </a:lnL>
                    <a:lnR w="6350" cap="flat" cmpd="sng" algn="ctr">
                      <a:solidFill>
                        <a:srgbClr val="D4EEDF"/>
                      </a:solidFill>
                      <a:prstDash val="solid"/>
                      <a:round/>
                      <a:headEnd type="none" w="med" len="med"/>
                      <a:tailEnd type="none" w="med" len="med"/>
                    </a:lnR>
                    <a:lnT w="6350" cap="flat" cmpd="sng" algn="ctr">
                      <a:solidFill>
                        <a:srgbClr val="D4EEDF"/>
                      </a:solidFill>
                      <a:prstDash val="solid"/>
                      <a:round/>
                      <a:headEnd type="none" w="med" len="med"/>
                      <a:tailEnd type="none" w="med" len="med"/>
                    </a:lnT>
                    <a:lnB w="6350" cap="flat" cmpd="sng" algn="ctr">
                      <a:solidFill>
                        <a:srgbClr val="D4EEDF"/>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B8A5A"/>
                          </a:solidFill>
                          <a:latin typeface="Calibri" pitchFamily="34" charset="0"/>
                          <a:ea typeface="Calibri" pitchFamily="34" charset="-122"/>
                          <a:cs typeface="Calibri" pitchFamily="34" charset="-120"/>
                        </a:rPr>
                        <a:t>MPEG-TS</a:t>
                      </a:r>
                      <a:endParaRPr lang="en-US" sz="1400" dirty="0">
                        <a:latin typeface="Calibri" charset="0"/>
                        <a:ea typeface="Calibri" charset="0"/>
                        <a:cs typeface="Calibri" charset="0"/>
                      </a:endParaRPr>
                    </a:p>
                  </a:txBody>
                  <a:tcPr marL="137160" marR="137160" marT="0" marB="0" anchor="ctr">
                    <a:lnL w="6350" cap="flat" cmpd="sng" algn="ctr">
                      <a:solidFill>
                        <a:srgbClr val="D4EEDF"/>
                      </a:solidFill>
                      <a:prstDash val="solid"/>
                      <a:round/>
                      <a:headEnd type="none" w="med" len="med"/>
                      <a:tailEnd type="none" w="med" len="med"/>
                    </a:lnL>
                    <a:lnR w="6350" cap="flat" cmpd="sng" algn="ctr">
                      <a:solidFill>
                        <a:srgbClr val="D4EEDF"/>
                      </a:solidFill>
                      <a:prstDash val="solid"/>
                      <a:round/>
                      <a:headEnd type="none" w="med" len="med"/>
                      <a:tailEnd type="none" w="med" len="med"/>
                    </a:lnR>
                    <a:lnT w="6350" cap="flat" cmpd="sng" algn="ctr">
                      <a:solidFill>
                        <a:srgbClr val="D4EEDF"/>
                      </a:solidFill>
                      <a:prstDash val="solid"/>
                      <a:round/>
                      <a:headEnd type="none" w="med" len="med"/>
                      <a:tailEnd type="none" w="med" len="med"/>
                    </a:lnT>
                    <a:lnB w="6350" cap="flat" cmpd="sng" algn="ctr">
                      <a:solidFill>
                        <a:srgbClr val="D4EEDF"/>
                      </a:solidFill>
                      <a:prstDash val="solid"/>
                      <a:round/>
                      <a:headEnd type="none" w="med" len="med"/>
                      <a:tailEnd type="none" w="med" len="med"/>
                    </a:lnB>
                    <a:solidFill>
                      <a:srgbClr val="E9F6EF"/>
                    </a:solidFill>
                  </a:tcPr>
                </a:tc>
                <a:tc>
                  <a:txBody>
                    <a:bodyPr/>
                    <a:lstStyle/>
                    <a:p>
                      <a:pPr indent="0" marL="0">
                        <a:buNone/>
                      </a:pPr>
                      <a:r>
                        <a:rPr lang="en-US" sz="1400" dirty="0">
                          <a:solidFill>
                            <a:srgbClr val="1F2D27"/>
                          </a:solidFill>
                          <a:latin typeface="Calibri" pitchFamily="34" charset="0"/>
                          <a:ea typeface="Calibri" pitchFamily="34" charset="-122"/>
                          <a:cs typeface="Calibri" pitchFamily="34" charset="-120"/>
                        </a:rPr>
                        <a:t>Conteneur qui regroupe vidéo, audio et sous-titres</a:t>
                      </a:r>
                      <a:endParaRPr lang="en-US" sz="1400" dirty="0">
                        <a:latin typeface="Calibri" charset="0"/>
                        <a:ea typeface="Calibri" charset="0"/>
                        <a:cs typeface="Calibri" charset="0"/>
                      </a:endParaRPr>
                    </a:p>
                  </a:txBody>
                  <a:tcPr marL="137160" marR="137160" marT="0" marB="0" anchor="ctr">
                    <a:lnL w="6350" cap="flat" cmpd="sng" algn="ctr">
                      <a:solidFill>
                        <a:srgbClr val="D4EEDF"/>
                      </a:solidFill>
                      <a:prstDash val="solid"/>
                      <a:round/>
                      <a:headEnd type="none" w="med" len="med"/>
                      <a:tailEnd type="none" w="med" len="med"/>
                    </a:lnL>
                    <a:lnR w="6350" cap="flat" cmpd="sng" algn="ctr">
                      <a:solidFill>
                        <a:srgbClr val="D4EEDF"/>
                      </a:solidFill>
                      <a:prstDash val="solid"/>
                      <a:round/>
                      <a:headEnd type="none" w="med" len="med"/>
                      <a:tailEnd type="none" w="med" len="med"/>
                    </a:lnR>
                    <a:lnT w="6350" cap="flat" cmpd="sng" algn="ctr">
                      <a:solidFill>
                        <a:srgbClr val="D4EEDF"/>
                      </a:solidFill>
                      <a:prstDash val="solid"/>
                      <a:round/>
                      <a:headEnd type="none" w="med" len="med"/>
                      <a:tailEnd type="none" w="med" len="med"/>
                    </a:lnT>
                    <a:lnB w="6350" cap="flat" cmpd="sng" algn="ctr">
                      <a:solidFill>
                        <a:srgbClr val="D4EEDF"/>
                      </a:solidFill>
                      <a:prstDash val="solid"/>
                      <a:round/>
                      <a:headEnd type="none" w="med" len="med"/>
                      <a:tailEnd type="none" w="med" len="med"/>
                    </a:lnB>
                    <a:solidFill>
                      <a:srgbClr val="E9F6EF"/>
                    </a:solidFill>
                  </a:tcPr>
                </a:tc>
              </a:tr>
              <a:tr h="438912">
                <a:tc>
                  <a:txBody>
                    <a:bodyPr/>
                    <a:lstStyle/>
                    <a:p>
                      <a:pPr indent="0" marL="0">
                        <a:buNone/>
                      </a:pPr>
                      <a:r>
                        <a:rPr lang="en-US" sz="1400" b="1" dirty="0">
                          <a:solidFill>
                            <a:srgbClr val="1B8A5A"/>
                          </a:solidFill>
                          <a:latin typeface="Calibri" pitchFamily="34" charset="0"/>
                          <a:ea typeface="Calibri" pitchFamily="34" charset="-122"/>
                          <a:cs typeface="Calibri" pitchFamily="34" charset="-120"/>
                        </a:rPr>
                        <a:t>RTSP</a:t>
                      </a:r>
                      <a:endParaRPr lang="en-US" sz="1400" dirty="0">
                        <a:latin typeface="Calibri" charset="0"/>
                        <a:ea typeface="Calibri" charset="0"/>
                        <a:cs typeface="Calibri" charset="0"/>
                      </a:endParaRPr>
                    </a:p>
                  </a:txBody>
                  <a:tcPr marL="137160" marR="137160" marT="0" marB="0" anchor="ctr">
                    <a:lnL w="6350" cap="flat" cmpd="sng" algn="ctr">
                      <a:solidFill>
                        <a:srgbClr val="D4EEDF"/>
                      </a:solidFill>
                      <a:prstDash val="solid"/>
                      <a:round/>
                      <a:headEnd type="none" w="med" len="med"/>
                      <a:tailEnd type="none" w="med" len="med"/>
                    </a:lnL>
                    <a:lnR w="6350" cap="flat" cmpd="sng" algn="ctr">
                      <a:solidFill>
                        <a:srgbClr val="D4EEDF"/>
                      </a:solidFill>
                      <a:prstDash val="solid"/>
                      <a:round/>
                      <a:headEnd type="none" w="med" len="med"/>
                      <a:tailEnd type="none" w="med" len="med"/>
                    </a:lnR>
                    <a:lnT w="6350" cap="flat" cmpd="sng" algn="ctr">
                      <a:solidFill>
                        <a:srgbClr val="D4EEDF"/>
                      </a:solidFill>
                      <a:prstDash val="solid"/>
                      <a:round/>
                      <a:headEnd type="none" w="med" len="med"/>
                      <a:tailEnd type="none" w="med" len="med"/>
                    </a:lnT>
                    <a:lnB w="6350" cap="flat" cmpd="sng" algn="ctr">
                      <a:solidFill>
                        <a:srgbClr val="D4EEDF"/>
                      </a:solidFill>
                      <a:prstDash val="solid"/>
                      <a:round/>
                      <a:headEnd type="none" w="med" len="med"/>
                      <a:tailEnd type="none" w="med" len="med"/>
                    </a:lnB>
                    <a:solidFill>
                      <a:srgbClr val="FFFFFF"/>
                    </a:solidFill>
                  </a:tcPr>
                </a:tc>
                <a:tc>
                  <a:txBody>
                    <a:bodyPr/>
                    <a:lstStyle/>
                    <a:p>
                      <a:pPr indent="0" marL="0">
                        <a:buNone/>
                      </a:pPr>
                      <a:r>
                        <a:rPr lang="en-US" sz="1400" dirty="0">
                          <a:solidFill>
                            <a:srgbClr val="1F2D27"/>
                          </a:solidFill>
                          <a:latin typeface="Calibri" pitchFamily="34" charset="0"/>
                          <a:ea typeface="Calibri" pitchFamily="34" charset="-122"/>
                          <a:cs typeface="Calibri" pitchFamily="34" charset="-120"/>
                        </a:rPr>
                        <a:t>Pilotage de la VoD : lecture, pause, avance</a:t>
                      </a:r>
                      <a:endParaRPr lang="en-US" sz="1400" dirty="0">
                        <a:latin typeface="Calibri" charset="0"/>
                        <a:ea typeface="Calibri" charset="0"/>
                        <a:cs typeface="Calibri" charset="0"/>
                      </a:endParaRPr>
                    </a:p>
                  </a:txBody>
                  <a:tcPr marL="137160" marR="137160" marT="0" marB="0" anchor="ctr">
                    <a:lnL w="6350" cap="flat" cmpd="sng" algn="ctr">
                      <a:solidFill>
                        <a:srgbClr val="D4EEDF"/>
                      </a:solidFill>
                      <a:prstDash val="solid"/>
                      <a:round/>
                      <a:headEnd type="none" w="med" len="med"/>
                      <a:tailEnd type="none" w="med" len="med"/>
                    </a:lnL>
                    <a:lnR w="6350" cap="flat" cmpd="sng" algn="ctr">
                      <a:solidFill>
                        <a:srgbClr val="D4EEDF"/>
                      </a:solidFill>
                      <a:prstDash val="solid"/>
                      <a:round/>
                      <a:headEnd type="none" w="med" len="med"/>
                      <a:tailEnd type="none" w="med" len="med"/>
                    </a:lnR>
                    <a:lnT w="6350" cap="flat" cmpd="sng" algn="ctr">
                      <a:solidFill>
                        <a:srgbClr val="D4EEDF"/>
                      </a:solidFill>
                      <a:prstDash val="solid"/>
                      <a:round/>
                      <a:headEnd type="none" w="med" len="med"/>
                      <a:tailEnd type="none" w="med" len="med"/>
                    </a:lnT>
                    <a:lnB w="6350" cap="flat" cmpd="sng" algn="ctr">
                      <a:solidFill>
                        <a:srgbClr val="D4EEDF"/>
                      </a:solidFill>
                      <a:prstDash val="solid"/>
                      <a:round/>
                      <a:headEnd type="none" w="med" len="med"/>
                      <a:tailEnd type="none" w="med" len="med"/>
                    </a:lnB>
                    <a:solidFill>
                      <a:srgbClr val="FFFFFF"/>
                    </a:solidFill>
                  </a:tcPr>
                </a:tc>
              </a:tr>
              <a:tr h="438912">
                <a:tc>
                  <a:txBody>
                    <a:bodyPr/>
                    <a:lstStyle/>
                    <a:p>
                      <a:pPr indent="0" marL="0">
                        <a:buNone/>
                      </a:pPr>
                      <a:r>
                        <a:rPr lang="en-US" sz="1400" b="1" dirty="0">
                          <a:solidFill>
                            <a:srgbClr val="1B8A5A"/>
                          </a:solidFill>
                          <a:latin typeface="Calibri" pitchFamily="34" charset="0"/>
                          <a:ea typeface="Calibri" pitchFamily="34" charset="-122"/>
                          <a:cs typeface="Calibri" pitchFamily="34" charset="-120"/>
                        </a:rPr>
                        <a:t>HLS / DASH</a:t>
                      </a:r>
                      <a:endParaRPr lang="en-US" sz="1400" dirty="0">
                        <a:latin typeface="Calibri" charset="0"/>
                        <a:ea typeface="Calibri" charset="0"/>
                        <a:cs typeface="Calibri" charset="0"/>
                      </a:endParaRPr>
                    </a:p>
                  </a:txBody>
                  <a:tcPr marL="137160" marR="137160" marT="0" marB="0" anchor="ctr">
                    <a:lnL w="6350" cap="flat" cmpd="sng" algn="ctr">
                      <a:solidFill>
                        <a:srgbClr val="D4EEDF"/>
                      </a:solidFill>
                      <a:prstDash val="solid"/>
                      <a:round/>
                      <a:headEnd type="none" w="med" len="med"/>
                      <a:tailEnd type="none" w="med" len="med"/>
                    </a:lnL>
                    <a:lnR w="6350" cap="flat" cmpd="sng" algn="ctr">
                      <a:solidFill>
                        <a:srgbClr val="D4EEDF"/>
                      </a:solidFill>
                      <a:prstDash val="solid"/>
                      <a:round/>
                      <a:headEnd type="none" w="med" len="med"/>
                      <a:tailEnd type="none" w="med" len="med"/>
                    </a:lnR>
                    <a:lnT w="6350" cap="flat" cmpd="sng" algn="ctr">
                      <a:solidFill>
                        <a:srgbClr val="D4EEDF"/>
                      </a:solidFill>
                      <a:prstDash val="solid"/>
                      <a:round/>
                      <a:headEnd type="none" w="med" len="med"/>
                      <a:tailEnd type="none" w="med" len="med"/>
                    </a:lnT>
                    <a:lnB w="6350" cap="flat" cmpd="sng" algn="ctr">
                      <a:solidFill>
                        <a:srgbClr val="D4EEDF"/>
                      </a:solidFill>
                      <a:prstDash val="solid"/>
                      <a:round/>
                      <a:headEnd type="none" w="med" len="med"/>
                      <a:tailEnd type="none" w="med" len="med"/>
                    </a:lnB>
                    <a:solidFill>
                      <a:srgbClr val="E9F6EF"/>
                    </a:solidFill>
                  </a:tcPr>
                </a:tc>
                <a:tc>
                  <a:txBody>
                    <a:bodyPr/>
                    <a:lstStyle/>
                    <a:p>
                      <a:pPr indent="0" marL="0">
                        <a:buNone/>
                      </a:pPr>
                      <a:r>
                        <a:rPr lang="en-US" sz="1400" dirty="0">
                          <a:solidFill>
                            <a:srgbClr val="1F2D27"/>
                          </a:solidFill>
                          <a:latin typeface="Calibri" pitchFamily="34" charset="0"/>
                          <a:ea typeface="Calibri" pitchFamily="34" charset="-122"/>
                          <a:cs typeface="Calibri" pitchFamily="34" charset="-120"/>
                        </a:rPr>
                        <a:t>Streaming adaptatif sur HTTP (mobiles, OTT)</a:t>
                      </a:r>
                      <a:endParaRPr lang="en-US" sz="1400" dirty="0">
                        <a:latin typeface="Calibri" charset="0"/>
                        <a:ea typeface="Calibri" charset="0"/>
                        <a:cs typeface="Calibri" charset="0"/>
                      </a:endParaRPr>
                    </a:p>
                  </a:txBody>
                  <a:tcPr marL="137160" marR="137160" marT="0" marB="0" anchor="ctr">
                    <a:lnL w="6350" cap="flat" cmpd="sng" algn="ctr">
                      <a:solidFill>
                        <a:srgbClr val="D4EEDF"/>
                      </a:solidFill>
                      <a:prstDash val="solid"/>
                      <a:round/>
                      <a:headEnd type="none" w="med" len="med"/>
                      <a:tailEnd type="none" w="med" len="med"/>
                    </a:lnL>
                    <a:lnR w="6350" cap="flat" cmpd="sng" algn="ctr">
                      <a:solidFill>
                        <a:srgbClr val="D4EEDF"/>
                      </a:solidFill>
                      <a:prstDash val="solid"/>
                      <a:round/>
                      <a:headEnd type="none" w="med" len="med"/>
                      <a:tailEnd type="none" w="med" len="med"/>
                    </a:lnR>
                    <a:lnT w="6350" cap="flat" cmpd="sng" algn="ctr">
                      <a:solidFill>
                        <a:srgbClr val="D4EEDF"/>
                      </a:solidFill>
                      <a:prstDash val="solid"/>
                      <a:round/>
                      <a:headEnd type="none" w="med" len="med"/>
                      <a:tailEnd type="none" w="med" len="med"/>
                    </a:lnT>
                    <a:lnB w="6350" cap="flat" cmpd="sng" algn="ctr">
                      <a:solidFill>
                        <a:srgbClr val="D4EEDF"/>
                      </a:solidFill>
                      <a:prstDash val="solid"/>
                      <a:round/>
                      <a:headEnd type="none" w="med" len="med"/>
                      <a:tailEnd type="none" w="med" len="med"/>
                    </a:lnB>
                    <a:solidFill>
                      <a:srgbClr val="E9F6EF"/>
                    </a:solidFill>
                  </a:tcPr>
                </a:tc>
              </a:tr>
            </a:tbl>
          </a:graphicData>
        </a:graphic>
      </p:graphicFrame>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4D32"/>
                </a:solidFill>
                <a:latin typeface="Cambria" pitchFamily="34" charset="0"/>
                <a:ea typeface="Cambria" pitchFamily="34" charset="-122"/>
                <a:cs typeface="Cambria" pitchFamily="34" charset="-120"/>
              </a:rPr>
              <a:t>Compression : quel débit par chaîne ?</a:t>
            </a:r>
            <a:endParaRPr lang="en-US" sz="3000" dirty="0"/>
          </a:p>
        </p:txBody>
      </p:sp>
      <p:sp>
        <p:nvSpPr>
          <p:cNvPr id="3" name="Stat SD en H.264"/>
          <p:cNvSpPr/>
          <p:nvPr/>
        </p:nvSpPr>
        <p:spPr>
          <a:xfrm>
            <a:off x="457200" y="1280160"/>
            <a:ext cx="1920240" cy="2103120"/>
          </a:xfrm>
          <a:prstGeom prst="roundRect">
            <a:avLst>
              <a:gd name="adj" fmla="val 5714"/>
            </a:avLst>
          </a:prstGeom>
          <a:solidFill>
            <a:srgbClr val="E9F6EF"/>
          </a:solidFill>
          <a:ln w="12700">
            <a:solidFill>
              <a:srgbClr val="E9F6EF"/>
            </a:solidFill>
            <a:prstDash val="solid"/>
          </a:ln>
        </p:spPr>
      </p:sp>
      <p:sp>
        <p:nvSpPr>
          <p:cNvPr id="4" name="Text 2"/>
          <p:cNvSpPr txBox="1"/>
          <p:nvPr/>
        </p:nvSpPr>
        <p:spPr>
          <a:xfrm>
            <a:off x="457200" y="1463040"/>
            <a:ext cx="1920240" cy="731520"/>
          </a:xfrm>
          <a:prstGeom prst="rect">
            <a:avLst/>
          </a:prstGeom>
          <a:noFill/>
          <a:ln/>
        </p:spPr>
        <p:txBody>
          <a:bodyPr wrap="square" lIns="0" tIns="0" rIns="0" bIns="0" rtlCol="0" anchor="ctr"/>
          <a:lstStyle/>
          <a:p>
            <a:pPr algn="ctr" indent="0" marL="0">
              <a:buNone/>
            </a:pPr>
            <a:r>
              <a:rPr lang="en-US" sz="3400" b="1" dirty="0">
                <a:solidFill>
                  <a:srgbClr val="0E4D32"/>
                </a:solidFill>
                <a:latin typeface="Cambria" pitchFamily="34" charset="0"/>
                <a:ea typeface="Cambria" pitchFamily="34" charset="-122"/>
                <a:cs typeface="Cambria" pitchFamily="34" charset="-120"/>
              </a:rPr>
              <a:t>2 à 3</a:t>
            </a:r>
            <a:endParaRPr lang="en-US" sz="3400" dirty="0"/>
          </a:p>
        </p:txBody>
      </p:sp>
      <p:sp>
        <p:nvSpPr>
          <p:cNvPr id="5" name="Text 3"/>
          <p:cNvSpPr txBox="1"/>
          <p:nvPr/>
        </p:nvSpPr>
        <p:spPr>
          <a:xfrm>
            <a:off x="457200" y="2194560"/>
            <a:ext cx="1920240" cy="320040"/>
          </a:xfrm>
          <a:prstGeom prst="rect">
            <a:avLst/>
          </a:prstGeom>
          <a:noFill/>
          <a:ln/>
        </p:spPr>
        <p:txBody>
          <a:bodyPr wrap="square" lIns="0" tIns="0" rIns="0" bIns="0" rtlCol="0" anchor="ctr"/>
          <a:lstStyle/>
          <a:p>
            <a:pPr algn="ctr" indent="0" marL="0">
              <a:buNone/>
            </a:pPr>
            <a:r>
              <a:rPr lang="en-US" sz="1400" dirty="0">
                <a:solidFill>
                  <a:srgbClr val="1B8A5A"/>
                </a:solidFill>
                <a:latin typeface="Calibri" pitchFamily="34" charset="0"/>
                <a:ea typeface="Calibri" pitchFamily="34" charset="-122"/>
                <a:cs typeface="Calibri" pitchFamily="34" charset="-120"/>
              </a:rPr>
              <a:t>Mbit/s</a:t>
            </a:r>
            <a:endParaRPr lang="en-US" sz="1400" dirty="0"/>
          </a:p>
        </p:txBody>
      </p:sp>
      <p:sp>
        <p:nvSpPr>
          <p:cNvPr id="6" name="Text 4"/>
          <p:cNvSpPr txBox="1"/>
          <p:nvPr/>
        </p:nvSpPr>
        <p:spPr>
          <a:xfrm>
            <a:off x="457200" y="2697480"/>
            <a:ext cx="1920240" cy="411480"/>
          </a:xfrm>
          <a:prstGeom prst="rect">
            <a:avLst/>
          </a:prstGeom>
          <a:noFill/>
          <a:ln/>
        </p:spPr>
        <p:txBody>
          <a:bodyPr wrap="square" lIns="0" tIns="0" rIns="0" bIns="0" rtlCol="0" anchor="ctr"/>
          <a:lstStyle/>
          <a:p>
            <a:pPr algn="ctr" indent="0" marL="0">
              <a:buNone/>
            </a:pPr>
            <a:r>
              <a:rPr lang="en-US" sz="1500" b="1" dirty="0">
                <a:solidFill>
                  <a:srgbClr val="1F2D27"/>
                </a:solidFill>
                <a:latin typeface="Calibri" pitchFamily="34" charset="0"/>
                <a:ea typeface="Calibri" pitchFamily="34" charset="-122"/>
                <a:cs typeface="Calibri" pitchFamily="34" charset="-120"/>
              </a:rPr>
              <a:t>SD en H.264</a:t>
            </a:r>
            <a:endParaRPr lang="en-US" sz="1500" dirty="0"/>
          </a:p>
        </p:txBody>
      </p:sp>
      <p:sp>
        <p:nvSpPr>
          <p:cNvPr id="7" name="Stat HD en H.264"/>
          <p:cNvSpPr/>
          <p:nvPr/>
        </p:nvSpPr>
        <p:spPr>
          <a:xfrm>
            <a:off x="2560320" y="1280160"/>
            <a:ext cx="1920240" cy="2103120"/>
          </a:xfrm>
          <a:prstGeom prst="roundRect">
            <a:avLst>
              <a:gd name="adj" fmla="val 5714"/>
            </a:avLst>
          </a:prstGeom>
          <a:solidFill>
            <a:srgbClr val="E9F6EF"/>
          </a:solidFill>
          <a:ln w="12700">
            <a:solidFill>
              <a:srgbClr val="E9F6EF"/>
            </a:solidFill>
            <a:prstDash val="solid"/>
          </a:ln>
        </p:spPr>
      </p:sp>
      <p:sp>
        <p:nvSpPr>
          <p:cNvPr id="8" name="Text 6"/>
          <p:cNvSpPr txBox="1"/>
          <p:nvPr/>
        </p:nvSpPr>
        <p:spPr>
          <a:xfrm>
            <a:off x="2560320" y="1463040"/>
            <a:ext cx="1920240" cy="731520"/>
          </a:xfrm>
          <a:prstGeom prst="rect">
            <a:avLst/>
          </a:prstGeom>
          <a:noFill/>
          <a:ln/>
        </p:spPr>
        <p:txBody>
          <a:bodyPr wrap="square" lIns="0" tIns="0" rIns="0" bIns="0" rtlCol="0" anchor="ctr"/>
          <a:lstStyle/>
          <a:p>
            <a:pPr algn="ctr" indent="0" marL="0">
              <a:buNone/>
            </a:pPr>
            <a:r>
              <a:rPr lang="en-US" sz="3400" b="1" dirty="0">
                <a:solidFill>
                  <a:srgbClr val="0E4D32"/>
                </a:solidFill>
                <a:latin typeface="Cambria" pitchFamily="34" charset="0"/>
                <a:ea typeface="Cambria" pitchFamily="34" charset="-122"/>
                <a:cs typeface="Cambria" pitchFamily="34" charset="-120"/>
              </a:rPr>
              <a:t>6 à 8</a:t>
            </a:r>
            <a:endParaRPr lang="en-US" sz="3400" dirty="0"/>
          </a:p>
        </p:txBody>
      </p:sp>
      <p:sp>
        <p:nvSpPr>
          <p:cNvPr id="9" name="Text 7"/>
          <p:cNvSpPr txBox="1"/>
          <p:nvPr/>
        </p:nvSpPr>
        <p:spPr>
          <a:xfrm>
            <a:off x="2560320" y="2194560"/>
            <a:ext cx="1920240" cy="320040"/>
          </a:xfrm>
          <a:prstGeom prst="rect">
            <a:avLst/>
          </a:prstGeom>
          <a:noFill/>
          <a:ln/>
        </p:spPr>
        <p:txBody>
          <a:bodyPr wrap="square" lIns="0" tIns="0" rIns="0" bIns="0" rtlCol="0" anchor="ctr"/>
          <a:lstStyle/>
          <a:p>
            <a:pPr algn="ctr" indent="0" marL="0">
              <a:buNone/>
            </a:pPr>
            <a:r>
              <a:rPr lang="en-US" sz="1400" dirty="0">
                <a:solidFill>
                  <a:srgbClr val="1B8A5A"/>
                </a:solidFill>
                <a:latin typeface="Calibri" pitchFamily="34" charset="0"/>
                <a:ea typeface="Calibri" pitchFamily="34" charset="-122"/>
                <a:cs typeface="Calibri" pitchFamily="34" charset="-120"/>
              </a:rPr>
              <a:t>Mbit/s</a:t>
            </a:r>
            <a:endParaRPr lang="en-US" sz="1400" dirty="0"/>
          </a:p>
        </p:txBody>
      </p:sp>
      <p:sp>
        <p:nvSpPr>
          <p:cNvPr id="10" name="Text 8"/>
          <p:cNvSpPr txBox="1"/>
          <p:nvPr/>
        </p:nvSpPr>
        <p:spPr>
          <a:xfrm>
            <a:off x="2560320" y="2697480"/>
            <a:ext cx="1920240" cy="411480"/>
          </a:xfrm>
          <a:prstGeom prst="rect">
            <a:avLst/>
          </a:prstGeom>
          <a:noFill/>
          <a:ln/>
        </p:spPr>
        <p:txBody>
          <a:bodyPr wrap="square" lIns="0" tIns="0" rIns="0" bIns="0" rtlCol="0" anchor="ctr"/>
          <a:lstStyle/>
          <a:p>
            <a:pPr algn="ctr" indent="0" marL="0">
              <a:buNone/>
            </a:pPr>
            <a:r>
              <a:rPr lang="en-US" sz="1500" b="1" dirty="0">
                <a:solidFill>
                  <a:srgbClr val="1F2D27"/>
                </a:solidFill>
                <a:latin typeface="Calibri" pitchFamily="34" charset="0"/>
                <a:ea typeface="Calibri" pitchFamily="34" charset="-122"/>
                <a:cs typeface="Calibri" pitchFamily="34" charset="-120"/>
              </a:rPr>
              <a:t>HD en H.264</a:t>
            </a:r>
            <a:endParaRPr lang="en-US" sz="1500" dirty="0"/>
          </a:p>
        </p:txBody>
      </p:sp>
      <p:sp>
        <p:nvSpPr>
          <p:cNvPr id="11" name="Stat HD en H.265"/>
          <p:cNvSpPr/>
          <p:nvPr/>
        </p:nvSpPr>
        <p:spPr>
          <a:xfrm>
            <a:off x="4663440" y="1280160"/>
            <a:ext cx="1920240" cy="2103120"/>
          </a:xfrm>
          <a:prstGeom prst="roundRect">
            <a:avLst>
              <a:gd name="adj" fmla="val 5714"/>
            </a:avLst>
          </a:prstGeom>
          <a:solidFill>
            <a:srgbClr val="1B8A5A"/>
          </a:solidFill>
          <a:ln w="12700">
            <a:solidFill>
              <a:srgbClr val="1B8A5A"/>
            </a:solidFill>
            <a:prstDash val="solid"/>
          </a:ln>
        </p:spPr>
      </p:sp>
      <p:sp>
        <p:nvSpPr>
          <p:cNvPr id="12" name="Text 10"/>
          <p:cNvSpPr txBox="1"/>
          <p:nvPr/>
        </p:nvSpPr>
        <p:spPr>
          <a:xfrm>
            <a:off x="4663440" y="1463040"/>
            <a:ext cx="1920240" cy="731520"/>
          </a:xfrm>
          <a:prstGeom prst="rect">
            <a:avLst/>
          </a:prstGeom>
          <a:noFill/>
          <a:ln/>
        </p:spPr>
        <p:txBody>
          <a:bodyPr wrap="square" lIns="0" tIns="0" rIns="0" bIns="0"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3 à 4</a:t>
            </a:r>
            <a:endParaRPr lang="en-US" sz="3400" dirty="0"/>
          </a:p>
        </p:txBody>
      </p:sp>
      <p:sp>
        <p:nvSpPr>
          <p:cNvPr id="13" name="Text 11"/>
          <p:cNvSpPr txBox="1"/>
          <p:nvPr/>
        </p:nvSpPr>
        <p:spPr>
          <a:xfrm>
            <a:off x="4663440" y="2194560"/>
            <a:ext cx="1920240" cy="320040"/>
          </a:xfrm>
          <a:prstGeom prst="rect">
            <a:avLst/>
          </a:prstGeom>
          <a:noFill/>
          <a:ln/>
        </p:spPr>
        <p:txBody>
          <a:bodyPr wrap="square" lIns="0" tIns="0" rIns="0" bIns="0" rtlCol="0" anchor="ctr"/>
          <a:lstStyle/>
          <a:p>
            <a:pPr algn="ctr" indent="0" marL="0">
              <a:buNone/>
            </a:pPr>
            <a:r>
              <a:rPr lang="en-US" sz="1400" dirty="0">
                <a:solidFill>
                  <a:srgbClr val="8FD3AE"/>
                </a:solidFill>
                <a:latin typeface="Calibri" pitchFamily="34" charset="0"/>
                <a:ea typeface="Calibri" pitchFamily="34" charset="-122"/>
                <a:cs typeface="Calibri" pitchFamily="34" charset="-120"/>
              </a:rPr>
              <a:t>Mbit/s</a:t>
            </a:r>
            <a:endParaRPr lang="en-US" sz="1400" dirty="0"/>
          </a:p>
        </p:txBody>
      </p:sp>
      <p:sp>
        <p:nvSpPr>
          <p:cNvPr id="14" name="Text 12"/>
          <p:cNvSpPr txBox="1"/>
          <p:nvPr/>
        </p:nvSpPr>
        <p:spPr>
          <a:xfrm>
            <a:off x="4663440" y="2697480"/>
            <a:ext cx="192024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HD en H.265</a:t>
            </a:r>
            <a:endParaRPr lang="en-US" sz="1500" dirty="0"/>
          </a:p>
        </p:txBody>
      </p:sp>
      <p:sp>
        <p:nvSpPr>
          <p:cNvPr id="15" name="Stat 4K en H.265"/>
          <p:cNvSpPr/>
          <p:nvPr/>
        </p:nvSpPr>
        <p:spPr>
          <a:xfrm>
            <a:off x="6766560" y="1280160"/>
            <a:ext cx="1920240" cy="2103120"/>
          </a:xfrm>
          <a:prstGeom prst="roundRect">
            <a:avLst>
              <a:gd name="adj" fmla="val 5714"/>
            </a:avLst>
          </a:prstGeom>
          <a:solidFill>
            <a:srgbClr val="E9F6EF"/>
          </a:solidFill>
          <a:ln w="12700">
            <a:solidFill>
              <a:srgbClr val="E9F6EF"/>
            </a:solidFill>
            <a:prstDash val="solid"/>
          </a:ln>
        </p:spPr>
      </p:sp>
      <p:sp>
        <p:nvSpPr>
          <p:cNvPr id="16" name="Text 14"/>
          <p:cNvSpPr txBox="1"/>
          <p:nvPr/>
        </p:nvSpPr>
        <p:spPr>
          <a:xfrm>
            <a:off x="6766560" y="1463040"/>
            <a:ext cx="1920240" cy="731520"/>
          </a:xfrm>
          <a:prstGeom prst="rect">
            <a:avLst/>
          </a:prstGeom>
          <a:noFill/>
          <a:ln/>
        </p:spPr>
        <p:txBody>
          <a:bodyPr wrap="square" lIns="0" tIns="0" rIns="0" bIns="0" rtlCol="0" anchor="ctr"/>
          <a:lstStyle/>
          <a:p>
            <a:pPr algn="ctr" indent="0" marL="0">
              <a:buNone/>
            </a:pPr>
            <a:r>
              <a:rPr lang="en-US" sz="3400" b="1" dirty="0">
                <a:solidFill>
                  <a:srgbClr val="0E4D32"/>
                </a:solidFill>
                <a:latin typeface="Cambria" pitchFamily="34" charset="0"/>
                <a:ea typeface="Cambria" pitchFamily="34" charset="-122"/>
                <a:cs typeface="Cambria" pitchFamily="34" charset="-120"/>
              </a:rPr>
              <a:t>15 à 25</a:t>
            </a:r>
            <a:endParaRPr lang="en-US" sz="3400" dirty="0"/>
          </a:p>
        </p:txBody>
      </p:sp>
      <p:sp>
        <p:nvSpPr>
          <p:cNvPr id="17" name="Text 15"/>
          <p:cNvSpPr txBox="1"/>
          <p:nvPr/>
        </p:nvSpPr>
        <p:spPr>
          <a:xfrm>
            <a:off x="6766560" y="2194560"/>
            <a:ext cx="1920240" cy="320040"/>
          </a:xfrm>
          <a:prstGeom prst="rect">
            <a:avLst/>
          </a:prstGeom>
          <a:noFill/>
          <a:ln/>
        </p:spPr>
        <p:txBody>
          <a:bodyPr wrap="square" lIns="0" tIns="0" rIns="0" bIns="0" rtlCol="0" anchor="ctr"/>
          <a:lstStyle/>
          <a:p>
            <a:pPr algn="ctr" indent="0" marL="0">
              <a:buNone/>
            </a:pPr>
            <a:r>
              <a:rPr lang="en-US" sz="1400" dirty="0">
                <a:solidFill>
                  <a:srgbClr val="1B8A5A"/>
                </a:solidFill>
                <a:latin typeface="Calibri" pitchFamily="34" charset="0"/>
                <a:ea typeface="Calibri" pitchFamily="34" charset="-122"/>
                <a:cs typeface="Calibri" pitchFamily="34" charset="-120"/>
              </a:rPr>
              <a:t>Mbit/s</a:t>
            </a:r>
            <a:endParaRPr lang="en-US" sz="1400" dirty="0"/>
          </a:p>
        </p:txBody>
      </p:sp>
      <p:sp>
        <p:nvSpPr>
          <p:cNvPr id="18" name="Text 16"/>
          <p:cNvSpPr txBox="1"/>
          <p:nvPr/>
        </p:nvSpPr>
        <p:spPr>
          <a:xfrm>
            <a:off x="6766560" y="2697480"/>
            <a:ext cx="1920240" cy="411480"/>
          </a:xfrm>
          <a:prstGeom prst="rect">
            <a:avLst/>
          </a:prstGeom>
          <a:noFill/>
          <a:ln/>
        </p:spPr>
        <p:txBody>
          <a:bodyPr wrap="square" lIns="0" tIns="0" rIns="0" bIns="0" rtlCol="0" anchor="ctr"/>
          <a:lstStyle/>
          <a:p>
            <a:pPr algn="ctr" indent="0" marL="0">
              <a:buNone/>
            </a:pPr>
            <a:r>
              <a:rPr lang="en-US" sz="1500" b="1" dirty="0">
                <a:solidFill>
                  <a:srgbClr val="1F2D27"/>
                </a:solidFill>
                <a:latin typeface="Calibri" pitchFamily="34" charset="0"/>
                <a:ea typeface="Calibri" pitchFamily="34" charset="-122"/>
                <a:cs typeface="Calibri" pitchFamily="34" charset="-120"/>
              </a:rPr>
              <a:t>4K en H.265</a:t>
            </a:r>
            <a:endParaRPr lang="en-US" sz="1500" dirty="0"/>
          </a:p>
        </p:txBody>
      </p:sp>
      <p:sp>
        <p:nvSpPr>
          <p:cNvPr id="19" name="Text 17"/>
          <p:cNvSpPr txBox="1"/>
          <p:nvPr/>
        </p:nvSpPr>
        <p:spPr>
          <a:xfrm>
            <a:off x="457200" y="3657600"/>
            <a:ext cx="8229600" cy="548640"/>
          </a:xfrm>
          <a:prstGeom prst="rect">
            <a:avLst/>
          </a:prstGeom>
          <a:noFill/>
          <a:ln/>
        </p:spPr>
        <p:txBody>
          <a:bodyPr wrap="square" lIns="0" tIns="0" rIns="0" bIns="0" rtlCol="0" anchor="ctr"/>
          <a:lstStyle/>
          <a:p>
            <a:pPr indent="0" marL="0">
              <a:buNone/>
            </a:pPr>
            <a:r>
              <a:rPr lang="en-US" sz="1400" dirty="0">
                <a:solidFill>
                  <a:srgbClr val="56685F"/>
                </a:solidFill>
                <a:latin typeface="Calibri" pitchFamily="34" charset="0"/>
                <a:ea typeface="Calibri" pitchFamily="34" charset="-122"/>
                <a:cs typeface="Calibri" pitchFamily="34" charset="-120"/>
              </a:rPr>
              <a:t>Ordres de grandeur. À qualité égale, le H.265 (HEVC) divise le débit environ par deux par rapport au H.264.</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4D32"/>
                </a:solidFill>
                <a:latin typeface="Cambria" pitchFamily="34" charset="0"/>
                <a:ea typeface="Cambria" pitchFamily="34" charset="-122"/>
                <a:cs typeface="Cambria" pitchFamily="34" charset="-120"/>
              </a:rPr>
              <a:t>Pourquoi le multicast ?</a:t>
            </a:r>
            <a:endParaRPr lang="en-US" sz="3000" dirty="0"/>
          </a:p>
        </p:txBody>
      </p:sp>
      <p:sp>
        <p:nvSpPr>
          <p:cNvPr id="3" name="Text 1"/>
          <p:cNvSpPr txBox="1"/>
          <p:nvPr/>
        </p:nvSpPr>
        <p:spPr>
          <a:xfrm>
            <a:off x="457200" y="1097280"/>
            <a:ext cx="8229600" cy="365760"/>
          </a:xfrm>
          <a:prstGeom prst="rect">
            <a:avLst/>
          </a:prstGeom>
          <a:noFill/>
          <a:ln/>
        </p:spPr>
        <p:txBody>
          <a:bodyPr wrap="square" lIns="0" tIns="0" rIns="0" bIns="0" rtlCol="0" anchor="ctr"/>
          <a:lstStyle/>
          <a:p>
            <a:pPr indent="0" marL="0">
              <a:buNone/>
            </a:pPr>
            <a:r>
              <a:rPr lang="en-US" sz="1500" dirty="0">
                <a:solidFill>
                  <a:srgbClr val="1F2D27"/>
                </a:solidFill>
                <a:latin typeface="Calibri" pitchFamily="34" charset="0"/>
                <a:ea typeface="Calibri" pitchFamily="34" charset="-122"/>
                <a:cs typeface="Calibri" pitchFamily="34" charset="-120"/>
              </a:rPr>
              <a:t>Exemple : 100 abonnés regardent la même chaîne HD à 6 Mbit/s</a:t>
            </a:r>
            <a:endParaRPr lang="en-US" sz="1500" dirty="0"/>
          </a:p>
        </p:txBody>
      </p:sp>
      <p:sp>
        <p:nvSpPr>
          <p:cNvPr id="4" name="Panneau Unicast"/>
          <p:cNvSpPr/>
          <p:nvPr/>
        </p:nvSpPr>
        <p:spPr>
          <a:xfrm>
            <a:off x="457200" y="1645920"/>
            <a:ext cx="3977640" cy="2651760"/>
          </a:xfrm>
          <a:prstGeom prst="roundRect">
            <a:avLst>
              <a:gd name="adj" fmla="val 4138"/>
            </a:avLst>
          </a:prstGeom>
          <a:solidFill>
            <a:srgbClr val="E9F6EF"/>
          </a:solidFill>
          <a:ln w="12700">
            <a:solidFill>
              <a:srgbClr val="E9F6EF"/>
            </a:solidFill>
            <a:prstDash val="solid"/>
          </a:ln>
        </p:spPr>
      </p:sp>
      <p:sp>
        <p:nvSpPr>
          <p:cNvPr id="5" name="Text 3"/>
          <p:cNvSpPr txBox="1"/>
          <p:nvPr/>
        </p:nvSpPr>
        <p:spPr>
          <a:xfrm>
            <a:off x="777240" y="1828800"/>
            <a:ext cx="3383280" cy="457200"/>
          </a:xfrm>
          <a:prstGeom prst="rect">
            <a:avLst/>
          </a:prstGeom>
          <a:noFill/>
          <a:ln/>
        </p:spPr>
        <p:txBody>
          <a:bodyPr wrap="square" lIns="0" tIns="0" rIns="0" bIns="0" rtlCol="0" anchor="ctr"/>
          <a:lstStyle/>
          <a:p>
            <a:pPr indent="0" marL="0">
              <a:buNone/>
            </a:pPr>
            <a:r>
              <a:rPr lang="en-US" sz="2000" b="1" dirty="0">
                <a:solidFill>
                  <a:srgbClr val="0E4D32"/>
                </a:solidFill>
                <a:latin typeface="Cambria" pitchFamily="34" charset="0"/>
                <a:ea typeface="Cambria" pitchFamily="34" charset="-122"/>
                <a:cs typeface="Cambria" pitchFamily="34" charset="-120"/>
              </a:rPr>
              <a:t>Unicast</a:t>
            </a:r>
            <a:endParaRPr lang="en-US" sz="2000" dirty="0"/>
          </a:p>
        </p:txBody>
      </p:sp>
      <p:sp>
        <p:nvSpPr>
          <p:cNvPr id="6" name="Text 4"/>
          <p:cNvSpPr txBox="1"/>
          <p:nvPr/>
        </p:nvSpPr>
        <p:spPr>
          <a:xfrm>
            <a:off x="777240" y="2377440"/>
            <a:ext cx="3383280" cy="914400"/>
          </a:xfrm>
          <a:prstGeom prst="rect">
            <a:avLst/>
          </a:prstGeom>
          <a:noFill/>
          <a:ln/>
        </p:spPr>
        <p:txBody>
          <a:bodyPr wrap="square" lIns="0" tIns="0" rIns="0" bIns="0" rtlCol="0" anchor="ctr"/>
          <a:lstStyle/>
          <a:p>
            <a:pPr indent="0" marL="0">
              <a:buNone/>
            </a:pPr>
            <a:r>
              <a:rPr lang="en-US" sz="4400" b="1" dirty="0">
                <a:solidFill>
                  <a:srgbClr val="1B8A5A"/>
                </a:solidFill>
                <a:latin typeface="Cambria" pitchFamily="34" charset="0"/>
                <a:ea typeface="Cambria" pitchFamily="34" charset="-122"/>
                <a:cs typeface="Cambria" pitchFamily="34" charset="-120"/>
              </a:rPr>
              <a:t>600 Mbit/s</a:t>
            </a:r>
            <a:endParaRPr lang="en-US" sz="4400" dirty="0"/>
          </a:p>
        </p:txBody>
      </p:sp>
      <p:sp>
        <p:nvSpPr>
          <p:cNvPr id="7" name="Text 5"/>
          <p:cNvSpPr txBox="1"/>
          <p:nvPr/>
        </p:nvSpPr>
        <p:spPr>
          <a:xfrm>
            <a:off x="777240" y="3246120"/>
            <a:ext cx="3383280" cy="274320"/>
          </a:xfrm>
          <a:prstGeom prst="rect">
            <a:avLst/>
          </a:prstGeom>
          <a:noFill/>
          <a:ln/>
        </p:spPr>
        <p:txBody>
          <a:bodyPr wrap="square" lIns="0" tIns="0" rIns="0" bIns="0" rtlCol="0" anchor="ctr"/>
          <a:lstStyle/>
          <a:p>
            <a:pPr indent="0" marL="0">
              <a:buNone/>
            </a:pPr>
            <a:r>
              <a:rPr lang="en-US" sz="1200" dirty="0">
                <a:solidFill>
                  <a:srgbClr val="1F2D27"/>
                </a:solidFill>
                <a:latin typeface="Calibri" pitchFamily="34" charset="0"/>
                <a:ea typeface="Calibri" pitchFamily="34" charset="-122"/>
                <a:cs typeface="Calibri" pitchFamily="34" charset="-120"/>
              </a:rPr>
              <a:t>sur le lien du cœur de réseau</a:t>
            </a:r>
            <a:endParaRPr lang="en-US" sz="1200" dirty="0"/>
          </a:p>
        </p:txBody>
      </p:sp>
      <p:sp>
        <p:nvSpPr>
          <p:cNvPr id="8" name="Text 6"/>
          <p:cNvSpPr txBox="1"/>
          <p:nvPr/>
        </p:nvSpPr>
        <p:spPr>
          <a:xfrm>
            <a:off x="777240" y="3566160"/>
            <a:ext cx="3383280" cy="548640"/>
          </a:xfrm>
          <a:prstGeom prst="rect">
            <a:avLst/>
          </a:prstGeom>
          <a:noFill/>
          <a:ln/>
        </p:spPr>
        <p:txBody>
          <a:bodyPr wrap="square" lIns="0" tIns="0" rIns="0" bIns="0" rtlCol="0" anchor="t"/>
          <a:lstStyle/>
          <a:p>
            <a:pPr indent="0" marL="0">
              <a:buNone/>
            </a:pPr>
            <a:r>
              <a:rPr lang="en-US" sz="1400" dirty="0">
                <a:solidFill>
                  <a:srgbClr val="0E4D32"/>
                </a:solidFill>
                <a:latin typeface="Calibri" pitchFamily="34" charset="0"/>
                <a:ea typeface="Calibri" pitchFamily="34" charset="-122"/>
                <a:cs typeface="Calibri" pitchFamily="34" charset="-120"/>
              </a:rPr>
              <a:t>Un flux par abonné : le lien sature vite</a:t>
            </a:r>
            <a:endParaRPr lang="en-US" sz="1400" dirty="0"/>
          </a:p>
        </p:txBody>
      </p:sp>
      <p:sp>
        <p:nvSpPr>
          <p:cNvPr id="9" name="Panneau Multicast"/>
          <p:cNvSpPr/>
          <p:nvPr/>
        </p:nvSpPr>
        <p:spPr>
          <a:xfrm>
            <a:off x="4709160" y="1645920"/>
            <a:ext cx="3977640" cy="2651760"/>
          </a:xfrm>
          <a:prstGeom prst="roundRect">
            <a:avLst>
              <a:gd name="adj" fmla="val 4138"/>
            </a:avLst>
          </a:prstGeom>
          <a:solidFill>
            <a:srgbClr val="0E4D32"/>
          </a:solidFill>
          <a:ln w="12700">
            <a:solidFill>
              <a:srgbClr val="0E4D32"/>
            </a:solidFill>
            <a:prstDash val="solid"/>
          </a:ln>
        </p:spPr>
      </p:sp>
      <p:sp>
        <p:nvSpPr>
          <p:cNvPr id="10" name="Text 8"/>
          <p:cNvSpPr txBox="1"/>
          <p:nvPr/>
        </p:nvSpPr>
        <p:spPr>
          <a:xfrm>
            <a:off x="5029200" y="1828800"/>
            <a:ext cx="338328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Multicast</a:t>
            </a:r>
            <a:endParaRPr lang="en-US" sz="2000" dirty="0"/>
          </a:p>
        </p:txBody>
      </p:sp>
      <p:sp>
        <p:nvSpPr>
          <p:cNvPr id="11" name="Text 9"/>
          <p:cNvSpPr txBox="1"/>
          <p:nvPr/>
        </p:nvSpPr>
        <p:spPr>
          <a:xfrm>
            <a:off x="5029200" y="2377440"/>
            <a:ext cx="3383280" cy="914400"/>
          </a:xfrm>
          <a:prstGeom prst="rect">
            <a:avLst/>
          </a:prstGeom>
          <a:noFill/>
          <a:ln/>
        </p:spPr>
        <p:txBody>
          <a:bodyPr wrap="square" lIns="0" tIns="0" rIns="0" bIns="0" rtlCol="0" anchor="ctr"/>
          <a:lstStyle/>
          <a:p>
            <a:pPr indent="0" marL="0">
              <a:buNone/>
            </a:pPr>
            <a:r>
              <a:rPr lang="en-US" sz="4400" b="1" dirty="0">
                <a:solidFill>
                  <a:srgbClr val="8FD3AE"/>
                </a:solidFill>
                <a:latin typeface="Cambria" pitchFamily="34" charset="0"/>
                <a:ea typeface="Cambria" pitchFamily="34" charset="-122"/>
                <a:cs typeface="Cambria" pitchFamily="34" charset="-120"/>
              </a:rPr>
              <a:t>6 Mbit/s</a:t>
            </a:r>
            <a:endParaRPr lang="en-US" sz="4400" dirty="0"/>
          </a:p>
        </p:txBody>
      </p:sp>
      <p:sp>
        <p:nvSpPr>
          <p:cNvPr id="12" name="Text 10"/>
          <p:cNvSpPr txBox="1"/>
          <p:nvPr/>
        </p:nvSpPr>
        <p:spPr>
          <a:xfrm>
            <a:off x="5029200" y="3246120"/>
            <a:ext cx="3383280" cy="274320"/>
          </a:xfrm>
          <a:prstGeom prst="rect">
            <a:avLst/>
          </a:prstGeom>
          <a:noFill/>
          <a:ln/>
        </p:spPr>
        <p:txBody>
          <a:bodyPr wrap="square" lIns="0" tIns="0" rIns="0" bIns="0" rtlCol="0" anchor="ctr"/>
          <a:lstStyle/>
          <a:p>
            <a:pPr indent="0" marL="0">
              <a:buNone/>
            </a:pPr>
            <a:r>
              <a:rPr lang="en-US" sz="1200" dirty="0">
                <a:solidFill>
                  <a:srgbClr val="8FD3AE"/>
                </a:solidFill>
                <a:latin typeface="Calibri" pitchFamily="34" charset="0"/>
                <a:ea typeface="Calibri" pitchFamily="34" charset="-122"/>
                <a:cs typeface="Calibri" pitchFamily="34" charset="-120"/>
              </a:rPr>
              <a:t>sur le lien du cœur de réseau</a:t>
            </a:r>
            <a:endParaRPr lang="en-US" sz="1200" dirty="0"/>
          </a:p>
        </p:txBody>
      </p:sp>
      <p:sp>
        <p:nvSpPr>
          <p:cNvPr id="13" name="Text 11"/>
          <p:cNvSpPr txBox="1"/>
          <p:nvPr/>
        </p:nvSpPr>
        <p:spPr>
          <a:xfrm>
            <a:off x="5029200" y="3566160"/>
            <a:ext cx="3383280" cy="54864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Un seul flux, dupliqué au plus près des abonnés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4D32"/>
                </a:solidFill>
                <a:latin typeface="Cambria" pitchFamily="34" charset="0"/>
                <a:ea typeface="Cambria" pitchFamily="34" charset="-122"/>
                <a:cs typeface="Cambria" pitchFamily="34" charset="-120"/>
              </a:rPr>
              <a:t>Qualité de service et d'expérience</a:t>
            </a:r>
            <a:endParaRPr lang="en-US" sz="3000" dirty="0"/>
          </a:p>
        </p:txBody>
      </p:sp>
      <p:sp>
        <p:nvSpPr>
          <p:cNvPr id="3" name="QoS Latence"/>
          <p:cNvSpPr/>
          <p:nvPr/>
        </p:nvSpPr>
        <p:spPr>
          <a:xfrm>
            <a:off x="457200" y="1234440"/>
            <a:ext cx="3977640" cy="1371600"/>
          </a:xfrm>
          <a:prstGeom prst="roundRect">
            <a:avLst>
              <a:gd name="adj" fmla="val 6667"/>
            </a:avLst>
          </a:prstGeom>
          <a:solidFill>
            <a:srgbClr val="E9F6EF"/>
          </a:solidFill>
          <a:ln w="12700">
            <a:solidFill>
              <a:srgbClr val="E9F6EF"/>
            </a:solidFill>
            <a:prstDash val="solid"/>
          </a:ln>
        </p:spPr>
      </p:sp>
      <p:sp>
        <p:nvSpPr>
          <p:cNvPr id="4" name="Latence cercle"/>
          <p:cNvSpPr/>
          <p:nvPr/>
        </p:nvSpPr>
        <p:spPr>
          <a:xfrm>
            <a:off x="731520" y="1618488"/>
            <a:ext cx="603504" cy="603504"/>
          </a:xfrm>
          <a:prstGeom prst="ellipse">
            <a:avLst/>
          </a:prstGeom>
          <a:solidFill>
            <a:srgbClr val="1B8A5A"/>
          </a:solidFill>
          <a:ln w="12700">
            <a:solidFill>
              <a:srgbClr val="1B8A5A"/>
            </a:solidFill>
            <a:prstDash val="solid"/>
          </a:ln>
        </p:spPr>
      </p:sp>
      <p:pic>
        <p:nvPicPr>
          <p:cNvPr id="5" name="Latence icône" descr="preencoded.png">    </p:cNvPr>
          <p:cNvPicPr>
            <a:picLocks noChangeAspect="1"/>
          </p:cNvPicPr>
          <p:nvPr/>
        </p:nvPicPr>
        <p:blipFill>
          <a:blip r:embed="rId1"/>
          <a:stretch>
            <a:fillRect/>
          </a:stretch>
        </p:blipFill>
        <p:spPr>
          <a:xfrm>
            <a:off x="888431" y="1775399"/>
            <a:ext cx="289682" cy="289682"/>
          </a:xfrm>
          <a:prstGeom prst="rect">
            <a:avLst/>
          </a:prstGeom>
        </p:spPr>
      </p:pic>
      <p:sp>
        <p:nvSpPr>
          <p:cNvPr id="6" name="Text 3"/>
          <p:cNvSpPr txBox="1"/>
          <p:nvPr/>
        </p:nvSpPr>
        <p:spPr>
          <a:xfrm>
            <a:off x="1554480" y="1417320"/>
            <a:ext cx="2697480" cy="365760"/>
          </a:xfrm>
          <a:prstGeom prst="rect">
            <a:avLst/>
          </a:prstGeom>
          <a:noFill/>
          <a:ln/>
        </p:spPr>
        <p:txBody>
          <a:bodyPr wrap="square" lIns="0" tIns="0" rIns="0" bIns="0" rtlCol="0" anchor="ctr"/>
          <a:lstStyle/>
          <a:p>
            <a:pPr indent="0" marL="0">
              <a:buNone/>
            </a:pPr>
            <a:r>
              <a:rPr lang="en-US" sz="1700" b="1" dirty="0">
                <a:solidFill>
                  <a:srgbClr val="0E4D32"/>
                </a:solidFill>
                <a:latin typeface="Calibri" pitchFamily="34" charset="0"/>
                <a:ea typeface="Calibri" pitchFamily="34" charset="-122"/>
                <a:cs typeface="Calibri" pitchFamily="34" charset="-120"/>
              </a:rPr>
              <a:t>Latence</a:t>
            </a:r>
            <a:endParaRPr lang="en-US" sz="1700" dirty="0"/>
          </a:p>
        </p:txBody>
      </p:sp>
      <p:sp>
        <p:nvSpPr>
          <p:cNvPr id="7" name="Text 4"/>
          <p:cNvSpPr txBox="1"/>
          <p:nvPr/>
        </p:nvSpPr>
        <p:spPr>
          <a:xfrm>
            <a:off x="1554480" y="1801368"/>
            <a:ext cx="2697480" cy="685800"/>
          </a:xfrm>
          <a:prstGeom prst="rect">
            <a:avLst/>
          </a:prstGeom>
          <a:noFill/>
          <a:ln/>
        </p:spPr>
        <p:txBody>
          <a:bodyPr wrap="square" lIns="0" tIns="0" rIns="0" bIns="0" rtlCol="0" anchor="t"/>
          <a:lstStyle/>
          <a:p>
            <a:pPr indent="0" marL="0">
              <a:buNone/>
            </a:pPr>
            <a:r>
              <a:rPr lang="en-US" sz="1300" dirty="0">
                <a:solidFill>
                  <a:srgbClr val="56685F"/>
                </a:solidFill>
                <a:latin typeface="Calibri" pitchFamily="34" charset="0"/>
                <a:ea typeface="Calibri" pitchFamily="34" charset="-122"/>
                <a:cs typeface="Calibri" pitchFamily="34" charset="-120"/>
              </a:rPr>
              <a:t>Délai de bout en bout ; important pour le direct et le sport</a:t>
            </a:r>
            <a:endParaRPr lang="en-US" sz="1300" dirty="0"/>
          </a:p>
        </p:txBody>
      </p:sp>
      <p:sp>
        <p:nvSpPr>
          <p:cNvPr id="8" name="QoS Gigue"/>
          <p:cNvSpPr/>
          <p:nvPr/>
        </p:nvSpPr>
        <p:spPr>
          <a:xfrm>
            <a:off x="4709160" y="1234440"/>
            <a:ext cx="3977640" cy="1371600"/>
          </a:xfrm>
          <a:prstGeom prst="roundRect">
            <a:avLst>
              <a:gd name="adj" fmla="val 6667"/>
            </a:avLst>
          </a:prstGeom>
          <a:solidFill>
            <a:srgbClr val="E9F6EF"/>
          </a:solidFill>
          <a:ln w="12700">
            <a:solidFill>
              <a:srgbClr val="E9F6EF"/>
            </a:solidFill>
            <a:prstDash val="solid"/>
          </a:ln>
        </p:spPr>
      </p:sp>
      <p:sp>
        <p:nvSpPr>
          <p:cNvPr id="9" name="Gigue cercle"/>
          <p:cNvSpPr/>
          <p:nvPr/>
        </p:nvSpPr>
        <p:spPr>
          <a:xfrm>
            <a:off x="4983480" y="1618488"/>
            <a:ext cx="603504" cy="603504"/>
          </a:xfrm>
          <a:prstGeom prst="ellipse">
            <a:avLst/>
          </a:prstGeom>
          <a:solidFill>
            <a:srgbClr val="1B8A5A"/>
          </a:solidFill>
          <a:ln w="12700">
            <a:solidFill>
              <a:srgbClr val="1B8A5A"/>
            </a:solidFill>
            <a:prstDash val="solid"/>
          </a:ln>
        </p:spPr>
      </p:sp>
      <p:pic>
        <p:nvPicPr>
          <p:cNvPr id="10" name="Gigue icône" descr="preencoded.png">    </p:cNvPr>
          <p:cNvPicPr>
            <a:picLocks noChangeAspect="1"/>
          </p:cNvPicPr>
          <p:nvPr/>
        </p:nvPicPr>
        <p:blipFill>
          <a:blip r:embed="rId2"/>
          <a:stretch>
            <a:fillRect/>
          </a:stretch>
        </p:blipFill>
        <p:spPr>
          <a:xfrm>
            <a:off x="5140391" y="1775399"/>
            <a:ext cx="289682" cy="289682"/>
          </a:xfrm>
          <a:prstGeom prst="rect">
            <a:avLst/>
          </a:prstGeom>
        </p:spPr>
      </p:pic>
      <p:sp>
        <p:nvSpPr>
          <p:cNvPr id="11" name="Text 7"/>
          <p:cNvSpPr txBox="1"/>
          <p:nvPr/>
        </p:nvSpPr>
        <p:spPr>
          <a:xfrm>
            <a:off x="5806440" y="1417320"/>
            <a:ext cx="2697480" cy="365760"/>
          </a:xfrm>
          <a:prstGeom prst="rect">
            <a:avLst/>
          </a:prstGeom>
          <a:noFill/>
          <a:ln/>
        </p:spPr>
        <p:txBody>
          <a:bodyPr wrap="square" lIns="0" tIns="0" rIns="0" bIns="0" rtlCol="0" anchor="ctr"/>
          <a:lstStyle/>
          <a:p>
            <a:pPr indent="0" marL="0">
              <a:buNone/>
            </a:pPr>
            <a:r>
              <a:rPr lang="en-US" sz="1700" b="1" dirty="0">
                <a:solidFill>
                  <a:srgbClr val="0E4D32"/>
                </a:solidFill>
                <a:latin typeface="Calibri" pitchFamily="34" charset="0"/>
                <a:ea typeface="Calibri" pitchFamily="34" charset="-122"/>
                <a:cs typeface="Calibri" pitchFamily="34" charset="-120"/>
              </a:rPr>
              <a:t>Gigue</a:t>
            </a:r>
            <a:endParaRPr lang="en-US" sz="1700" dirty="0"/>
          </a:p>
        </p:txBody>
      </p:sp>
      <p:sp>
        <p:nvSpPr>
          <p:cNvPr id="12" name="Text 8"/>
          <p:cNvSpPr txBox="1"/>
          <p:nvPr/>
        </p:nvSpPr>
        <p:spPr>
          <a:xfrm>
            <a:off x="5806440" y="1801368"/>
            <a:ext cx="2697480" cy="685800"/>
          </a:xfrm>
          <a:prstGeom prst="rect">
            <a:avLst/>
          </a:prstGeom>
          <a:noFill/>
          <a:ln/>
        </p:spPr>
        <p:txBody>
          <a:bodyPr wrap="square" lIns="0" tIns="0" rIns="0" bIns="0" rtlCol="0" anchor="t"/>
          <a:lstStyle/>
          <a:p>
            <a:pPr indent="0" marL="0">
              <a:buNone/>
            </a:pPr>
            <a:r>
              <a:rPr lang="en-US" sz="1300" dirty="0">
                <a:solidFill>
                  <a:srgbClr val="56685F"/>
                </a:solidFill>
                <a:latin typeface="Calibri" pitchFamily="34" charset="0"/>
                <a:ea typeface="Calibri" pitchFamily="34" charset="-122"/>
                <a:cs typeface="Calibri" pitchFamily="34" charset="-120"/>
              </a:rPr>
              <a:t>Variation du délai ; absorbée par le tampon du décodeur</a:t>
            </a:r>
            <a:endParaRPr lang="en-US" sz="1300" dirty="0"/>
          </a:p>
        </p:txBody>
      </p:sp>
      <p:sp>
        <p:nvSpPr>
          <p:cNvPr id="13" name="QoS Perte de paquets"/>
          <p:cNvSpPr/>
          <p:nvPr/>
        </p:nvSpPr>
        <p:spPr>
          <a:xfrm>
            <a:off x="457200" y="2834640"/>
            <a:ext cx="3977640" cy="1371600"/>
          </a:xfrm>
          <a:prstGeom prst="roundRect">
            <a:avLst>
              <a:gd name="adj" fmla="val 6667"/>
            </a:avLst>
          </a:prstGeom>
          <a:solidFill>
            <a:srgbClr val="E9F6EF"/>
          </a:solidFill>
          <a:ln w="12700">
            <a:solidFill>
              <a:srgbClr val="E9F6EF"/>
            </a:solidFill>
            <a:prstDash val="solid"/>
          </a:ln>
        </p:spPr>
      </p:sp>
      <p:sp>
        <p:nvSpPr>
          <p:cNvPr id="14" name="Perte de paquets cercle"/>
          <p:cNvSpPr/>
          <p:nvPr/>
        </p:nvSpPr>
        <p:spPr>
          <a:xfrm>
            <a:off x="731520" y="3218688"/>
            <a:ext cx="603504" cy="603504"/>
          </a:xfrm>
          <a:prstGeom prst="ellipse">
            <a:avLst/>
          </a:prstGeom>
          <a:solidFill>
            <a:srgbClr val="1B8A5A"/>
          </a:solidFill>
          <a:ln w="12700">
            <a:solidFill>
              <a:srgbClr val="1B8A5A"/>
            </a:solidFill>
            <a:prstDash val="solid"/>
          </a:ln>
        </p:spPr>
      </p:sp>
      <p:pic>
        <p:nvPicPr>
          <p:cNvPr id="15" name="Perte de paquets icône" descr="preencoded.png">    </p:cNvPr>
          <p:cNvPicPr>
            <a:picLocks noChangeAspect="1"/>
          </p:cNvPicPr>
          <p:nvPr/>
        </p:nvPicPr>
        <p:blipFill>
          <a:blip r:embed="rId3"/>
          <a:stretch>
            <a:fillRect/>
          </a:stretch>
        </p:blipFill>
        <p:spPr>
          <a:xfrm>
            <a:off x="888431" y="3375599"/>
            <a:ext cx="289682" cy="289682"/>
          </a:xfrm>
          <a:prstGeom prst="rect">
            <a:avLst/>
          </a:prstGeom>
        </p:spPr>
      </p:pic>
      <p:sp>
        <p:nvSpPr>
          <p:cNvPr id="16" name="Text 11"/>
          <p:cNvSpPr txBox="1"/>
          <p:nvPr/>
        </p:nvSpPr>
        <p:spPr>
          <a:xfrm>
            <a:off x="1554480" y="3017520"/>
            <a:ext cx="2697480" cy="365760"/>
          </a:xfrm>
          <a:prstGeom prst="rect">
            <a:avLst/>
          </a:prstGeom>
          <a:noFill/>
          <a:ln/>
        </p:spPr>
        <p:txBody>
          <a:bodyPr wrap="square" lIns="0" tIns="0" rIns="0" bIns="0" rtlCol="0" anchor="ctr"/>
          <a:lstStyle/>
          <a:p>
            <a:pPr indent="0" marL="0">
              <a:buNone/>
            </a:pPr>
            <a:r>
              <a:rPr lang="en-US" sz="1700" b="1" dirty="0">
                <a:solidFill>
                  <a:srgbClr val="0E4D32"/>
                </a:solidFill>
                <a:latin typeface="Calibri" pitchFamily="34" charset="0"/>
                <a:ea typeface="Calibri" pitchFamily="34" charset="-122"/>
                <a:cs typeface="Calibri" pitchFamily="34" charset="-120"/>
              </a:rPr>
              <a:t>Perte de paquets</a:t>
            </a:r>
            <a:endParaRPr lang="en-US" sz="1700" dirty="0"/>
          </a:p>
        </p:txBody>
      </p:sp>
      <p:sp>
        <p:nvSpPr>
          <p:cNvPr id="17" name="Text 12"/>
          <p:cNvSpPr txBox="1"/>
          <p:nvPr/>
        </p:nvSpPr>
        <p:spPr>
          <a:xfrm>
            <a:off x="1554480" y="3401568"/>
            <a:ext cx="2697480" cy="685800"/>
          </a:xfrm>
          <a:prstGeom prst="rect">
            <a:avLst/>
          </a:prstGeom>
          <a:noFill/>
          <a:ln/>
        </p:spPr>
        <p:txBody>
          <a:bodyPr wrap="square" lIns="0" tIns="0" rIns="0" bIns="0" rtlCol="0" anchor="t"/>
          <a:lstStyle/>
          <a:p>
            <a:pPr indent="0" marL="0">
              <a:buNone/>
            </a:pPr>
            <a:r>
              <a:rPr lang="en-US" sz="1300" dirty="0">
                <a:solidFill>
                  <a:srgbClr val="56685F"/>
                </a:solidFill>
                <a:latin typeface="Calibri" pitchFamily="34" charset="0"/>
                <a:ea typeface="Calibri" pitchFamily="34" charset="-122"/>
                <a:cs typeface="Calibri" pitchFamily="34" charset="-120"/>
              </a:rPr>
              <a:t>Provoque des blocs (pixellisation) et des gels d'image</a:t>
            </a:r>
            <a:endParaRPr lang="en-US" sz="1300" dirty="0"/>
          </a:p>
        </p:txBody>
      </p:sp>
      <p:sp>
        <p:nvSpPr>
          <p:cNvPr id="18" name="QoS Temps de zapping"/>
          <p:cNvSpPr/>
          <p:nvPr/>
        </p:nvSpPr>
        <p:spPr>
          <a:xfrm>
            <a:off x="4709160" y="2834640"/>
            <a:ext cx="3977640" cy="1371600"/>
          </a:xfrm>
          <a:prstGeom prst="roundRect">
            <a:avLst>
              <a:gd name="adj" fmla="val 6667"/>
            </a:avLst>
          </a:prstGeom>
          <a:solidFill>
            <a:srgbClr val="E9F6EF"/>
          </a:solidFill>
          <a:ln w="12700">
            <a:solidFill>
              <a:srgbClr val="E9F6EF"/>
            </a:solidFill>
            <a:prstDash val="solid"/>
          </a:ln>
        </p:spPr>
      </p:sp>
      <p:sp>
        <p:nvSpPr>
          <p:cNvPr id="19" name="Temps de zapping cercle"/>
          <p:cNvSpPr/>
          <p:nvPr/>
        </p:nvSpPr>
        <p:spPr>
          <a:xfrm>
            <a:off x="4983480" y="3218688"/>
            <a:ext cx="603504" cy="603504"/>
          </a:xfrm>
          <a:prstGeom prst="ellipse">
            <a:avLst/>
          </a:prstGeom>
          <a:solidFill>
            <a:srgbClr val="1B8A5A"/>
          </a:solidFill>
          <a:ln w="12700">
            <a:solidFill>
              <a:srgbClr val="1B8A5A"/>
            </a:solidFill>
            <a:prstDash val="solid"/>
          </a:ln>
        </p:spPr>
      </p:sp>
      <p:pic>
        <p:nvPicPr>
          <p:cNvPr id="20" name="Temps de zapping icône" descr="preencoded.png">    </p:cNvPr>
          <p:cNvPicPr>
            <a:picLocks noChangeAspect="1"/>
          </p:cNvPicPr>
          <p:nvPr/>
        </p:nvPicPr>
        <p:blipFill>
          <a:blip r:embed="rId4"/>
          <a:stretch>
            <a:fillRect/>
          </a:stretch>
        </p:blipFill>
        <p:spPr>
          <a:xfrm>
            <a:off x="5140391" y="3375599"/>
            <a:ext cx="289682" cy="289682"/>
          </a:xfrm>
          <a:prstGeom prst="rect">
            <a:avLst/>
          </a:prstGeom>
        </p:spPr>
      </p:pic>
      <p:sp>
        <p:nvSpPr>
          <p:cNvPr id="21" name="Text 15"/>
          <p:cNvSpPr txBox="1"/>
          <p:nvPr/>
        </p:nvSpPr>
        <p:spPr>
          <a:xfrm>
            <a:off x="5806440" y="3017520"/>
            <a:ext cx="2697480" cy="365760"/>
          </a:xfrm>
          <a:prstGeom prst="rect">
            <a:avLst/>
          </a:prstGeom>
          <a:noFill/>
          <a:ln/>
        </p:spPr>
        <p:txBody>
          <a:bodyPr wrap="square" lIns="0" tIns="0" rIns="0" bIns="0" rtlCol="0" anchor="ctr"/>
          <a:lstStyle/>
          <a:p>
            <a:pPr indent="0" marL="0">
              <a:buNone/>
            </a:pPr>
            <a:r>
              <a:rPr lang="en-US" sz="1700" b="1" dirty="0">
                <a:solidFill>
                  <a:srgbClr val="0E4D32"/>
                </a:solidFill>
                <a:latin typeface="Calibri" pitchFamily="34" charset="0"/>
                <a:ea typeface="Calibri" pitchFamily="34" charset="-122"/>
                <a:cs typeface="Calibri" pitchFamily="34" charset="-120"/>
              </a:rPr>
              <a:t>Temps de zapping</a:t>
            </a:r>
            <a:endParaRPr lang="en-US" sz="1700" dirty="0"/>
          </a:p>
        </p:txBody>
      </p:sp>
      <p:sp>
        <p:nvSpPr>
          <p:cNvPr id="22" name="Text 16"/>
          <p:cNvSpPr txBox="1"/>
          <p:nvPr/>
        </p:nvSpPr>
        <p:spPr>
          <a:xfrm>
            <a:off x="5806440" y="3401568"/>
            <a:ext cx="2697480" cy="685800"/>
          </a:xfrm>
          <a:prstGeom prst="rect">
            <a:avLst/>
          </a:prstGeom>
          <a:noFill/>
          <a:ln/>
        </p:spPr>
        <p:txBody>
          <a:bodyPr wrap="square" lIns="0" tIns="0" rIns="0" bIns="0" rtlCol="0" anchor="t"/>
          <a:lstStyle/>
          <a:p>
            <a:pPr indent="0" marL="0">
              <a:buNone/>
            </a:pPr>
            <a:r>
              <a:rPr lang="en-US" sz="1300" dirty="0">
                <a:solidFill>
                  <a:srgbClr val="56685F"/>
                </a:solidFill>
                <a:latin typeface="Calibri" pitchFamily="34" charset="0"/>
                <a:ea typeface="Calibri" pitchFamily="34" charset="-122"/>
                <a:cs typeface="Calibri" pitchFamily="34" charset="-120"/>
              </a:rPr>
              <a:t>Délai de changement de chaîne ; viser moins de 2 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4D32"/>
                </a:solidFill>
                <a:latin typeface="Cambria" pitchFamily="34" charset="0"/>
                <a:ea typeface="Cambria" pitchFamily="34" charset="-122"/>
                <a:cs typeface="Cambria" pitchFamily="34" charset="-120"/>
              </a:rPr>
              <a:t>L'IPTV au Sénégal</a:t>
            </a:r>
            <a:endParaRPr lang="en-US" sz="3000" dirty="0"/>
          </a:p>
        </p:txBody>
      </p:sp>
      <p:sp>
        <p:nvSpPr>
          <p:cNvPr id="3" name="Bloc opportunités"/>
          <p:cNvSpPr/>
          <p:nvPr/>
        </p:nvSpPr>
        <p:spPr>
          <a:xfrm>
            <a:off x="457200" y="1234440"/>
            <a:ext cx="3977640" cy="2743200"/>
          </a:xfrm>
          <a:prstGeom prst="roundRect">
            <a:avLst>
              <a:gd name="adj" fmla="val 4000"/>
            </a:avLst>
          </a:prstGeom>
          <a:solidFill>
            <a:srgbClr val="E9F6EF"/>
          </a:solidFill>
          <a:ln w="12700">
            <a:solidFill>
              <a:srgbClr val="E9F6EF"/>
            </a:solidFill>
            <a:prstDash val="solid"/>
          </a:ln>
        </p:spPr>
      </p:sp>
      <p:sp>
        <p:nvSpPr>
          <p:cNvPr id="4" name="Opportunités cercle"/>
          <p:cNvSpPr/>
          <p:nvPr/>
        </p:nvSpPr>
        <p:spPr>
          <a:xfrm>
            <a:off x="731520" y="1463040"/>
            <a:ext cx="548640" cy="548640"/>
          </a:xfrm>
          <a:prstGeom prst="ellipse">
            <a:avLst/>
          </a:prstGeom>
          <a:solidFill>
            <a:srgbClr val="1B8A5A"/>
          </a:solidFill>
          <a:ln w="12700">
            <a:solidFill>
              <a:srgbClr val="1B8A5A"/>
            </a:solidFill>
            <a:prstDash val="solid"/>
          </a:ln>
        </p:spPr>
      </p:sp>
      <p:pic>
        <p:nvPicPr>
          <p:cNvPr id="5" name="Opportunités icône" descr="preencoded.png">    </p:cNvPr>
          <p:cNvPicPr>
            <a:picLocks noChangeAspect="1"/>
          </p:cNvPicPr>
          <p:nvPr/>
        </p:nvPicPr>
        <p:blipFill>
          <a:blip r:embed="rId1"/>
          <a:stretch>
            <a:fillRect/>
          </a:stretch>
        </p:blipFill>
        <p:spPr>
          <a:xfrm>
            <a:off x="874166" y="1605686"/>
            <a:ext cx="263347" cy="263347"/>
          </a:xfrm>
          <a:prstGeom prst="rect">
            <a:avLst/>
          </a:prstGeom>
        </p:spPr>
      </p:pic>
      <p:sp>
        <p:nvSpPr>
          <p:cNvPr id="6" name="Text 3"/>
          <p:cNvSpPr txBox="1"/>
          <p:nvPr/>
        </p:nvSpPr>
        <p:spPr>
          <a:xfrm>
            <a:off x="1463040" y="1463040"/>
            <a:ext cx="2743200" cy="548640"/>
          </a:xfrm>
          <a:prstGeom prst="rect">
            <a:avLst/>
          </a:prstGeom>
          <a:noFill/>
          <a:ln/>
        </p:spPr>
        <p:txBody>
          <a:bodyPr wrap="square" lIns="0" tIns="0" rIns="0" bIns="0" rtlCol="0" anchor="ctr"/>
          <a:lstStyle/>
          <a:p>
            <a:pPr indent="0" marL="0">
              <a:buNone/>
            </a:pPr>
            <a:r>
              <a:rPr lang="en-US" sz="1900" b="1" dirty="0">
                <a:solidFill>
                  <a:srgbClr val="0E4D32"/>
                </a:solidFill>
                <a:latin typeface="Cambria" pitchFamily="34" charset="0"/>
                <a:ea typeface="Cambria" pitchFamily="34" charset="-122"/>
                <a:cs typeface="Cambria" pitchFamily="34" charset="-120"/>
              </a:rPr>
              <a:t>Opportunités</a:t>
            </a:r>
            <a:endParaRPr lang="en-US" sz="1900" dirty="0"/>
          </a:p>
        </p:txBody>
      </p:sp>
      <p:sp>
        <p:nvSpPr>
          <p:cNvPr id="7" name="Text 4"/>
          <p:cNvSpPr txBox="1"/>
          <p:nvPr/>
        </p:nvSpPr>
        <p:spPr>
          <a:xfrm>
            <a:off x="731520" y="2240280"/>
            <a:ext cx="3520440" cy="19202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D27"/>
                </a:solidFill>
                <a:latin typeface="Calibri" pitchFamily="34" charset="0"/>
                <a:ea typeface="Calibri" pitchFamily="34" charset="-122"/>
                <a:cs typeface="Calibri" pitchFamily="34" charset="-120"/>
              </a:rPr>
              <a:t>Déploiement de la fibre dans les villes</a:t>
            </a:r>
            <a:endParaRPr lang="en-US" sz="1400" dirty="0"/>
          </a:p>
          <a:p>
            <a:pPr marL="342900" indent="-342900">
              <a:spcAft>
                <a:spcPts val="800"/>
              </a:spcAft>
              <a:buSzPct val="100000"/>
              <a:buChar char="•"/>
            </a:pPr>
            <a:r>
              <a:rPr lang="en-US" sz="1400" dirty="0">
                <a:solidFill>
                  <a:srgbClr val="1F2D27"/>
                </a:solidFill>
                <a:latin typeface="Calibri" pitchFamily="34" charset="0"/>
                <a:ea typeface="Calibri" pitchFamily="34" charset="-122"/>
                <a:cs typeface="Calibri" pitchFamily="34" charset="-120"/>
              </a:rPr>
              <a:t>Offres TV associées à la box Internet</a:t>
            </a:r>
            <a:endParaRPr lang="en-US" sz="1400" dirty="0"/>
          </a:p>
          <a:p>
            <a:pPr marL="342900" indent="-342900">
              <a:spcAft>
                <a:spcPts val="800"/>
              </a:spcAft>
              <a:buSzPct val="100000"/>
              <a:buChar char="•"/>
            </a:pPr>
            <a:r>
              <a:rPr lang="en-US" sz="1400" dirty="0">
                <a:solidFill>
                  <a:srgbClr val="1F2D27"/>
                </a:solidFill>
                <a:latin typeface="Calibri" pitchFamily="34" charset="0"/>
                <a:ea typeface="Calibri" pitchFamily="34" charset="-122"/>
                <a:cs typeface="Calibri" pitchFamily="34" charset="-120"/>
              </a:rPr>
              <a:t>Débouché pour les contenus locaux</a:t>
            </a:r>
            <a:endParaRPr lang="en-US" sz="1400" dirty="0"/>
          </a:p>
        </p:txBody>
      </p:sp>
      <p:sp>
        <p:nvSpPr>
          <p:cNvPr id="8" name="Bloc piratage"/>
          <p:cNvSpPr/>
          <p:nvPr/>
        </p:nvSpPr>
        <p:spPr>
          <a:xfrm>
            <a:off x="4709160" y="1234440"/>
            <a:ext cx="3977640" cy="2743200"/>
          </a:xfrm>
          <a:prstGeom prst="roundRect">
            <a:avLst>
              <a:gd name="adj" fmla="val 4000"/>
            </a:avLst>
          </a:prstGeom>
          <a:solidFill>
            <a:srgbClr val="0E4D32"/>
          </a:solidFill>
          <a:ln w="12700">
            <a:solidFill>
              <a:srgbClr val="0E4D32"/>
            </a:solidFill>
            <a:prstDash val="solid"/>
          </a:ln>
        </p:spPr>
      </p:sp>
      <p:sp>
        <p:nvSpPr>
          <p:cNvPr id="9" name="Cercle alerte"/>
          <p:cNvSpPr/>
          <p:nvPr/>
        </p:nvSpPr>
        <p:spPr>
          <a:xfrm>
            <a:off x="4983480" y="1463040"/>
            <a:ext cx="548640" cy="548640"/>
          </a:xfrm>
          <a:prstGeom prst="ellipse">
            <a:avLst/>
          </a:prstGeom>
          <a:solidFill>
            <a:srgbClr val="8FD3AE"/>
          </a:solidFill>
          <a:ln w="12700">
            <a:solidFill>
              <a:srgbClr val="8FD3AE"/>
            </a:solidFill>
            <a:prstDash val="solid"/>
          </a:ln>
        </p:spPr>
      </p:sp>
      <p:pic>
        <p:nvPicPr>
          <p:cNvPr id="10" name="Icône alerte" descr="preencoded.png">    </p:cNvPr>
          <p:cNvPicPr>
            <a:picLocks noChangeAspect="1"/>
          </p:cNvPicPr>
          <p:nvPr/>
        </p:nvPicPr>
        <p:blipFill>
          <a:blip r:embed="rId2"/>
          <a:stretch>
            <a:fillRect/>
          </a:stretch>
        </p:blipFill>
        <p:spPr>
          <a:xfrm>
            <a:off x="5120640" y="1600200"/>
            <a:ext cx="274320" cy="274320"/>
          </a:xfrm>
          <a:prstGeom prst="rect">
            <a:avLst/>
          </a:prstGeom>
        </p:spPr>
      </p:pic>
      <p:sp>
        <p:nvSpPr>
          <p:cNvPr id="11" name="Text 7"/>
          <p:cNvSpPr txBox="1"/>
          <p:nvPr/>
        </p:nvSpPr>
        <p:spPr>
          <a:xfrm>
            <a:off x="5715000" y="1463040"/>
            <a:ext cx="2834640" cy="54864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Le défi du piratage</a:t>
            </a:r>
            <a:endParaRPr lang="en-US" sz="1900" dirty="0"/>
          </a:p>
        </p:txBody>
      </p:sp>
      <p:sp>
        <p:nvSpPr>
          <p:cNvPr id="12" name="Text 8"/>
          <p:cNvSpPr txBox="1"/>
          <p:nvPr/>
        </p:nvSpPr>
        <p:spPr>
          <a:xfrm>
            <a:off x="4983480" y="2240280"/>
            <a:ext cx="3520440" cy="20116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Boîtiers et abonnements IPTV illégaux</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Plus de 200 revendeurs interpellés dans la sous-région</a:t>
            </a:r>
            <a:endParaRPr lang="en-US" sz="1400" dirty="0"/>
          </a:p>
          <a:p>
            <a:pPr marL="342900" indent="-342900">
              <a:spcAft>
                <a:spcPts val="800"/>
              </a:spcAft>
              <a:buSzPct val="100000"/>
              <a:buChar char="•"/>
            </a:pPr>
            <a:r>
              <a:rPr lang="en-US" sz="1400" dirty="0">
                <a:solidFill>
                  <a:srgbClr val="FFFFFF"/>
                </a:solidFill>
                <a:latin typeface="Calibri" pitchFamily="34" charset="0"/>
                <a:ea typeface="Calibri" pitchFamily="34" charset="-122"/>
                <a:cs typeface="Calibri" pitchFamily="34" charset="-120"/>
              </a:rPr>
              <a:t>Réseau Senabonnement.com démantelé par la DSC après plainte de Canal+</a:t>
            </a:r>
            <a:endParaRPr lang="en-US" sz="1400" dirty="0"/>
          </a:p>
        </p:txBody>
      </p:sp>
      <p:sp>
        <p:nvSpPr>
          <p:cNvPr id="13" name="Text 9"/>
          <p:cNvSpPr txBox="1"/>
          <p:nvPr/>
        </p:nvSpPr>
        <p:spPr>
          <a:xfrm>
            <a:off x="457200" y="4160520"/>
            <a:ext cx="8229600" cy="274320"/>
          </a:xfrm>
          <a:prstGeom prst="rect">
            <a:avLst/>
          </a:prstGeom>
          <a:noFill/>
          <a:ln/>
        </p:spPr>
        <p:txBody>
          <a:bodyPr wrap="square" lIns="0" tIns="0" rIns="0" bIns="0" rtlCol="0" anchor="ctr"/>
          <a:lstStyle/>
          <a:p>
            <a:pPr indent="0" marL="0">
              <a:buNone/>
            </a:pPr>
            <a:r>
              <a:rPr lang="en-US" sz="1100" i="1" dirty="0">
                <a:solidFill>
                  <a:srgbClr val="56685F"/>
                </a:solidFill>
                <a:latin typeface="Calibri" pitchFamily="34" charset="0"/>
                <a:ea typeface="Calibri" pitchFamily="34" charset="-122"/>
                <a:cs typeface="Calibri" pitchFamily="34" charset="-120"/>
              </a:rPr>
              <a:t>Sources : OSIRIS (2025), Dakaractu</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4D32"/>
                </a:solidFill>
                <a:latin typeface="Cambria" pitchFamily="34" charset="0"/>
                <a:ea typeface="Cambria" pitchFamily="34" charset="-122"/>
                <a:cs typeface="Cambria" pitchFamily="34" charset="-120"/>
              </a:rPr>
              <a:t>Avantages et limites</a:t>
            </a:r>
            <a:endParaRPr lang="en-US" sz="3000" dirty="0"/>
          </a:p>
        </p:txBody>
      </p:sp>
      <p:sp>
        <p:nvSpPr>
          <p:cNvPr id="3" name="Avantages cercle"/>
          <p:cNvSpPr/>
          <p:nvPr/>
        </p:nvSpPr>
        <p:spPr>
          <a:xfrm>
            <a:off x="457200" y="1234440"/>
            <a:ext cx="548640" cy="548640"/>
          </a:xfrm>
          <a:prstGeom prst="ellipse">
            <a:avLst/>
          </a:prstGeom>
          <a:solidFill>
            <a:srgbClr val="1B8A5A"/>
          </a:solidFill>
          <a:ln w="12700">
            <a:solidFill>
              <a:srgbClr val="1B8A5A"/>
            </a:solidFill>
            <a:prstDash val="solid"/>
          </a:ln>
        </p:spPr>
      </p:sp>
      <p:pic>
        <p:nvPicPr>
          <p:cNvPr id="4" name="Avantages icône" descr="preencoded.png">    </p:cNvPr>
          <p:cNvPicPr>
            <a:picLocks noChangeAspect="1"/>
          </p:cNvPicPr>
          <p:nvPr/>
        </p:nvPicPr>
        <p:blipFill>
          <a:blip r:embed="rId1"/>
          <a:stretch>
            <a:fillRect/>
          </a:stretch>
        </p:blipFill>
        <p:spPr>
          <a:xfrm>
            <a:off x="599846" y="1377086"/>
            <a:ext cx="263347" cy="263347"/>
          </a:xfrm>
          <a:prstGeom prst="rect">
            <a:avLst/>
          </a:prstGeom>
        </p:spPr>
      </p:pic>
      <p:sp>
        <p:nvSpPr>
          <p:cNvPr id="5" name="Text 2"/>
          <p:cNvSpPr txBox="1"/>
          <p:nvPr/>
        </p:nvSpPr>
        <p:spPr>
          <a:xfrm>
            <a:off x="1188720" y="1234440"/>
            <a:ext cx="3200400" cy="548640"/>
          </a:xfrm>
          <a:prstGeom prst="rect">
            <a:avLst/>
          </a:prstGeom>
          <a:noFill/>
          <a:ln/>
        </p:spPr>
        <p:txBody>
          <a:bodyPr wrap="square" lIns="0" tIns="0" rIns="0" bIns="0" rtlCol="0" anchor="ctr"/>
          <a:lstStyle/>
          <a:p>
            <a:pPr indent="0" marL="0">
              <a:buNone/>
            </a:pPr>
            <a:r>
              <a:rPr lang="en-US" sz="2000" b="1" dirty="0">
                <a:solidFill>
                  <a:srgbClr val="0E4D32"/>
                </a:solidFill>
                <a:latin typeface="Cambria" pitchFamily="34" charset="0"/>
                <a:ea typeface="Cambria" pitchFamily="34" charset="-122"/>
                <a:cs typeface="Cambria" pitchFamily="34" charset="-120"/>
              </a:rPr>
              <a:t>Avantages</a:t>
            </a:r>
            <a:endParaRPr lang="en-US" sz="2000" dirty="0"/>
          </a:p>
        </p:txBody>
      </p:sp>
      <p:sp>
        <p:nvSpPr>
          <p:cNvPr id="6" name="Avantages 1"/>
          <p:cNvSpPr/>
          <p:nvPr/>
        </p:nvSpPr>
        <p:spPr>
          <a:xfrm>
            <a:off x="457200" y="2011680"/>
            <a:ext cx="3977640" cy="502920"/>
          </a:xfrm>
          <a:prstGeom prst="roundRect">
            <a:avLst>
              <a:gd name="adj" fmla="val 14545"/>
            </a:avLst>
          </a:prstGeom>
          <a:solidFill>
            <a:srgbClr val="E9F6EF"/>
          </a:solidFill>
          <a:ln w="12700">
            <a:solidFill>
              <a:srgbClr val="D4EEDF"/>
            </a:solidFill>
            <a:prstDash val="solid"/>
          </a:ln>
        </p:spPr>
      </p:sp>
      <p:sp>
        <p:nvSpPr>
          <p:cNvPr id="7" name="Text 4"/>
          <p:cNvSpPr txBox="1"/>
          <p:nvPr/>
        </p:nvSpPr>
        <p:spPr>
          <a:xfrm>
            <a:off x="640080" y="2011680"/>
            <a:ext cx="3657600" cy="502920"/>
          </a:xfrm>
          <a:prstGeom prst="rect">
            <a:avLst/>
          </a:prstGeom>
          <a:noFill/>
          <a:ln/>
        </p:spPr>
        <p:txBody>
          <a:bodyPr wrap="square" lIns="0" tIns="0" rIns="0" bIns="0" rtlCol="0" anchor="ctr"/>
          <a:lstStyle/>
          <a:p>
            <a:pPr indent="0" marL="0">
              <a:buNone/>
            </a:pPr>
            <a:r>
              <a:rPr lang="en-US" sz="1400" dirty="0">
                <a:solidFill>
                  <a:srgbClr val="1F2D27"/>
                </a:solidFill>
                <a:latin typeface="Calibri" pitchFamily="34" charset="0"/>
                <a:ea typeface="Calibri" pitchFamily="34" charset="-122"/>
                <a:cs typeface="Calibri" pitchFamily="34" charset="-120"/>
              </a:rPr>
              <a:t>Interactivité et services à la demande</a:t>
            </a:r>
            <a:endParaRPr lang="en-US" sz="1400" dirty="0"/>
          </a:p>
        </p:txBody>
      </p:sp>
      <p:sp>
        <p:nvSpPr>
          <p:cNvPr id="8" name="Avantages 2"/>
          <p:cNvSpPr/>
          <p:nvPr/>
        </p:nvSpPr>
        <p:spPr>
          <a:xfrm>
            <a:off x="457200" y="2651760"/>
            <a:ext cx="3977640" cy="502920"/>
          </a:xfrm>
          <a:prstGeom prst="roundRect">
            <a:avLst>
              <a:gd name="adj" fmla="val 14545"/>
            </a:avLst>
          </a:prstGeom>
          <a:solidFill>
            <a:srgbClr val="E9F6EF"/>
          </a:solidFill>
          <a:ln w="12700">
            <a:solidFill>
              <a:srgbClr val="D4EEDF"/>
            </a:solidFill>
            <a:prstDash val="solid"/>
          </a:ln>
        </p:spPr>
      </p:sp>
      <p:sp>
        <p:nvSpPr>
          <p:cNvPr id="9" name="Text 6"/>
          <p:cNvSpPr txBox="1"/>
          <p:nvPr/>
        </p:nvSpPr>
        <p:spPr>
          <a:xfrm>
            <a:off x="640080" y="2651760"/>
            <a:ext cx="3657600" cy="502920"/>
          </a:xfrm>
          <a:prstGeom prst="rect">
            <a:avLst/>
          </a:prstGeom>
          <a:noFill/>
          <a:ln/>
        </p:spPr>
        <p:txBody>
          <a:bodyPr wrap="square" lIns="0" tIns="0" rIns="0" bIns="0" rtlCol="0" anchor="ctr"/>
          <a:lstStyle/>
          <a:p>
            <a:pPr indent="0" marL="0">
              <a:buNone/>
            </a:pPr>
            <a:r>
              <a:rPr lang="en-US" sz="1400" dirty="0">
                <a:solidFill>
                  <a:srgbClr val="1F2D27"/>
                </a:solidFill>
                <a:latin typeface="Calibri" pitchFamily="34" charset="0"/>
                <a:ea typeface="Calibri" pitchFamily="34" charset="-122"/>
                <a:cs typeface="Calibri" pitchFamily="34" charset="-120"/>
              </a:rPr>
              <a:t>Qualité garantie sur réseau géré</a:t>
            </a:r>
            <a:endParaRPr lang="en-US" sz="1400" dirty="0"/>
          </a:p>
        </p:txBody>
      </p:sp>
      <p:sp>
        <p:nvSpPr>
          <p:cNvPr id="10" name="Avantages 3"/>
          <p:cNvSpPr/>
          <p:nvPr/>
        </p:nvSpPr>
        <p:spPr>
          <a:xfrm>
            <a:off x="457200" y="3291840"/>
            <a:ext cx="3977640" cy="502920"/>
          </a:xfrm>
          <a:prstGeom prst="roundRect">
            <a:avLst>
              <a:gd name="adj" fmla="val 14545"/>
            </a:avLst>
          </a:prstGeom>
          <a:solidFill>
            <a:srgbClr val="E9F6EF"/>
          </a:solidFill>
          <a:ln w="12700">
            <a:solidFill>
              <a:srgbClr val="D4EEDF"/>
            </a:solidFill>
            <a:prstDash val="solid"/>
          </a:ln>
        </p:spPr>
      </p:sp>
      <p:sp>
        <p:nvSpPr>
          <p:cNvPr id="11" name="Text 8"/>
          <p:cNvSpPr txBox="1"/>
          <p:nvPr/>
        </p:nvSpPr>
        <p:spPr>
          <a:xfrm>
            <a:off x="640080" y="3291840"/>
            <a:ext cx="3657600" cy="502920"/>
          </a:xfrm>
          <a:prstGeom prst="rect">
            <a:avLst/>
          </a:prstGeom>
          <a:noFill/>
          <a:ln/>
        </p:spPr>
        <p:txBody>
          <a:bodyPr wrap="square" lIns="0" tIns="0" rIns="0" bIns="0" rtlCol="0" anchor="ctr"/>
          <a:lstStyle/>
          <a:p>
            <a:pPr indent="0" marL="0">
              <a:buNone/>
            </a:pPr>
            <a:r>
              <a:rPr lang="en-US" sz="1400" dirty="0">
                <a:solidFill>
                  <a:srgbClr val="1F2D27"/>
                </a:solidFill>
                <a:latin typeface="Calibri" pitchFamily="34" charset="0"/>
                <a:ea typeface="Calibri" pitchFamily="34" charset="-122"/>
                <a:cs typeface="Calibri" pitchFamily="34" charset="-120"/>
              </a:rPr>
              <a:t>Offre groupée Internet + TV + téléphone</a:t>
            </a:r>
            <a:endParaRPr lang="en-US" sz="1400" dirty="0"/>
          </a:p>
        </p:txBody>
      </p:sp>
      <p:sp>
        <p:nvSpPr>
          <p:cNvPr id="12" name="Avantages 4"/>
          <p:cNvSpPr/>
          <p:nvPr/>
        </p:nvSpPr>
        <p:spPr>
          <a:xfrm>
            <a:off x="457200" y="3931920"/>
            <a:ext cx="3977640" cy="502920"/>
          </a:xfrm>
          <a:prstGeom prst="roundRect">
            <a:avLst>
              <a:gd name="adj" fmla="val 14545"/>
            </a:avLst>
          </a:prstGeom>
          <a:solidFill>
            <a:srgbClr val="E9F6EF"/>
          </a:solidFill>
          <a:ln w="12700">
            <a:solidFill>
              <a:srgbClr val="D4EEDF"/>
            </a:solidFill>
            <a:prstDash val="solid"/>
          </a:ln>
        </p:spPr>
      </p:sp>
      <p:sp>
        <p:nvSpPr>
          <p:cNvPr id="13" name="Text 10"/>
          <p:cNvSpPr txBox="1"/>
          <p:nvPr/>
        </p:nvSpPr>
        <p:spPr>
          <a:xfrm>
            <a:off x="640080" y="3931920"/>
            <a:ext cx="3657600" cy="502920"/>
          </a:xfrm>
          <a:prstGeom prst="rect">
            <a:avLst/>
          </a:prstGeom>
          <a:noFill/>
          <a:ln/>
        </p:spPr>
        <p:txBody>
          <a:bodyPr wrap="square" lIns="0" tIns="0" rIns="0" bIns="0" rtlCol="0" anchor="ctr"/>
          <a:lstStyle/>
          <a:p>
            <a:pPr indent="0" marL="0">
              <a:buNone/>
            </a:pPr>
            <a:r>
              <a:rPr lang="en-US" sz="1400" dirty="0">
                <a:solidFill>
                  <a:srgbClr val="1F2D27"/>
                </a:solidFill>
                <a:latin typeface="Calibri" pitchFamily="34" charset="0"/>
                <a:ea typeface="Calibri" pitchFamily="34" charset="-122"/>
                <a:cs typeface="Calibri" pitchFamily="34" charset="-120"/>
              </a:rPr>
              <a:t>Économie de bande passante grâce au multicast</a:t>
            </a:r>
            <a:endParaRPr lang="en-US" sz="1400" dirty="0"/>
          </a:p>
        </p:txBody>
      </p:sp>
      <p:sp>
        <p:nvSpPr>
          <p:cNvPr id="14" name="Limites cercle"/>
          <p:cNvSpPr/>
          <p:nvPr/>
        </p:nvSpPr>
        <p:spPr>
          <a:xfrm>
            <a:off x="4709160" y="1234440"/>
            <a:ext cx="548640" cy="548640"/>
          </a:xfrm>
          <a:prstGeom prst="ellipse">
            <a:avLst/>
          </a:prstGeom>
          <a:solidFill>
            <a:srgbClr val="1B8A5A"/>
          </a:solidFill>
          <a:ln w="12700">
            <a:solidFill>
              <a:srgbClr val="1B8A5A"/>
            </a:solidFill>
            <a:prstDash val="solid"/>
          </a:ln>
        </p:spPr>
      </p:sp>
      <p:pic>
        <p:nvPicPr>
          <p:cNvPr id="15" name="Limites icône" descr="preencoded.png">    </p:cNvPr>
          <p:cNvPicPr>
            <a:picLocks noChangeAspect="1"/>
          </p:cNvPicPr>
          <p:nvPr/>
        </p:nvPicPr>
        <p:blipFill>
          <a:blip r:embed="rId2"/>
          <a:stretch>
            <a:fillRect/>
          </a:stretch>
        </p:blipFill>
        <p:spPr>
          <a:xfrm>
            <a:off x="4851806" y="1377086"/>
            <a:ext cx="263347" cy="263347"/>
          </a:xfrm>
          <a:prstGeom prst="rect">
            <a:avLst/>
          </a:prstGeom>
        </p:spPr>
      </p:pic>
      <p:sp>
        <p:nvSpPr>
          <p:cNvPr id="16" name="Text 12"/>
          <p:cNvSpPr txBox="1"/>
          <p:nvPr/>
        </p:nvSpPr>
        <p:spPr>
          <a:xfrm>
            <a:off x="5440680" y="1234440"/>
            <a:ext cx="3200400" cy="548640"/>
          </a:xfrm>
          <a:prstGeom prst="rect">
            <a:avLst/>
          </a:prstGeom>
          <a:noFill/>
          <a:ln/>
        </p:spPr>
        <p:txBody>
          <a:bodyPr wrap="square" lIns="0" tIns="0" rIns="0" bIns="0" rtlCol="0" anchor="ctr"/>
          <a:lstStyle/>
          <a:p>
            <a:pPr indent="0" marL="0">
              <a:buNone/>
            </a:pPr>
            <a:r>
              <a:rPr lang="en-US" sz="2000" b="1" dirty="0">
                <a:solidFill>
                  <a:srgbClr val="0E4D32"/>
                </a:solidFill>
                <a:latin typeface="Cambria" pitchFamily="34" charset="0"/>
                <a:ea typeface="Cambria" pitchFamily="34" charset="-122"/>
                <a:cs typeface="Cambria" pitchFamily="34" charset="-120"/>
              </a:rPr>
              <a:t>Limites</a:t>
            </a:r>
            <a:endParaRPr lang="en-US" sz="2000" dirty="0"/>
          </a:p>
        </p:txBody>
      </p:sp>
      <p:sp>
        <p:nvSpPr>
          <p:cNvPr id="17" name="Limites 1"/>
          <p:cNvSpPr/>
          <p:nvPr/>
        </p:nvSpPr>
        <p:spPr>
          <a:xfrm>
            <a:off x="4709160" y="2011680"/>
            <a:ext cx="3977640" cy="502920"/>
          </a:xfrm>
          <a:prstGeom prst="roundRect">
            <a:avLst>
              <a:gd name="adj" fmla="val 14545"/>
            </a:avLst>
          </a:prstGeom>
          <a:solidFill>
            <a:srgbClr val="FFFFFF"/>
          </a:solidFill>
          <a:ln w="12700">
            <a:solidFill>
              <a:srgbClr val="D4EEDF"/>
            </a:solidFill>
            <a:prstDash val="solid"/>
          </a:ln>
        </p:spPr>
      </p:sp>
      <p:sp>
        <p:nvSpPr>
          <p:cNvPr id="18" name="Text 14"/>
          <p:cNvSpPr txBox="1"/>
          <p:nvPr/>
        </p:nvSpPr>
        <p:spPr>
          <a:xfrm>
            <a:off x="4892040" y="2011680"/>
            <a:ext cx="3657600" cy="502920"/>
          </a:xfrm>
          <a:prstGeom prst="rect">
            <a:avLst/>
          </a:prstGeom>
          <a:noFill/>
          <a:ln/>
        </p:spPr>
        <p:txBody>
          <a:bodyPr wrap="square" lIns="0" tIns="0" rIns="0" bIns="0" rtlCol="0" anchor="ctr"/>
          <a:lstStyle/>
          <a:p>
            <a:pPr indent="0" marL="0">
              <a:buNone/>
            </a:pPr>
            <a:r>
              <a:rPr lang="en-US" sz="1400" dirty="0">
                <a:solidFill>
                  <a:srgbClr val="1F2D27"/>
                </a:solidFill>
                <a:latin typeface="Calibri" pitchFamily="34" charset="0"/>
                <a:ea typeface="Calibri" pitchFamily="34" charset="-122"/>
                <a:cs typeface="Calibri" pitchFamily="34" charset="-120"/>
              </a:rPr>
              <a:t>Dépend de la qualité de la ligne d'accès</a:t>
            </a:r>
            <a:endParaRPr lang="en-US" sz="1400" dirty="0"/>
          </a:p>
        </p:txBody>
      </p:sp>
      <p:sp>
        <p:nvSpPr>
          <p:cNvPr id="19" name="Limites 2"/>
          <p:cNvSpPr/>
          <p:nvPr/>
        </p:nvSpPr>
        <p:spPr>
          <a:xfrm>
            <a:off x="4709160" y="2651760"/>
            <a:ext cx="3977640" cy="502920"/>
          </a:xfrm>
          <a:prstGeom prst="roundRect">
            <a:avLst>
              <a:gd name="adj" fmla="val 14545"/>
            </a:avLst>
          </a:prstGeom>
          <a:solidFill>
            <a:srgbClr val="FFFFFF"/>
          </a:solidFill>
          <a:ln w="12700">
            <a:solidFill>
              <a:srgbClr val="D4EEDF"/>
            </a:solidFill>
            <a:prstDash val="solid"/>
          </a:ln>
        </p:spPr>
      </p:sp>
      <p:sp>
        <p:nvSpPr>
          <p:cNvPr id="20" name="Text 16"/>
          <p:cNvSpPr txBox="1"/>
          <p:nvPr/>
        </p:nvSpPr>
        <p:spPr>
          <a:xfrm>
            <a:off x="4892040" y="2651760"/>
            <a:ext cx="3657600" cy="502920"/>
          </a:xfrm>
          <a:prstGeom prst="rect">
            <a:avLst/>
          </a:prstGeom>
          <a:noFill/>
          <a:ln/>
        </p:spPr>
        <p:txBody>
          <a:bodyPr wrap="square" lIns="0" tIns="0" rIns="0" bIns="0" rtlCol="0" anchor="ctr"/>
          <a:lstStyle/>
          <a:p>
            <a:pPr indent="0" marL="0">
              <a:buNone/>
            </a:pPr>
            <a:r>
              <a:rPr lang="en-US" sz="1400" dirty="0">
                <a:solidFill>
                  <a:srgbClr val="1F2D27"/>
                </a:solidFill>
                <a:latin typeface="Calibri" pitchFamily="34" charset="0"/>
                <a:ea typeface="Calibri" pitchFamily="34" charset="-122"/>
                <a:cs typeface="Calibri" pitchFamily="34" charset="-120"/>
              </a:rPr>
              <a:t>Infrastructure coûteuse pour l'opérateur</a:t>
            </a:r>
            <a:endParaRPr lang="en-US" sz="1400" dirty="0"/>
          </a:p>
        </p:txBody>
      </p:sp>
      <p:sp>
        <p:nvSpPr>
          <p:cNvPr id="21" name="Limites 3"/>
          <p:cNvSpPr/>
          <p:nvPr/>
        </p:nvSpPr>
        <p:spPr>
          <a:xfrm>
            <a:off x="4709160" y="3291840"/>
            <a:ext cx="3977640" cy="502920"/>
          </a:xfrm>
          <a:prstGeom prst="roundRect">
            <a:avLst>
              <a:gd name="adj" fmla="val 14545"/>
            </a:avLst>
          </a:prstGeom>
          <a:solidFill>
            <a:srgbClr val="FFFFFF"/>
          </a:solidFill>
          <a:ln w="12700">
            <a:solidFill>
              <a:srgbClr val="D4EEDF"/>
            </a:solidFill>
            <a:prstDash val="solid"/>
          </a:ln>
        </p:spPr>
      </p:sp>
      <p:sp>
        <p:nvSpPr>
          <p:cNvPr id="22" name="Text 18"/>
          <p:cNvSpPr txBox="1"/>
          <p:nvPr/>
        </p:nvSpPr>
        <p:spPr>
          <a:xfrm>
            <a:off x="4892040" y="3291840"/>
            <a:ext cx="3657600" cy="502920"/>
          </a:xfrm>
          <a:prstGeom prst="rect">
            <a:avLst/>
          </a:prstGeom>
          <a:noFill/>
          <a:ln/>
        </p:spPr>
        <p:txBody>
          <a:bodyPr wrap="square" lIns="0" tIns="0" rIns="0" bIns="0" rtlCol="0" anchor="ctr"/>
          <a:lstStyle/>
          <a:p>
            <a:pPr indent="0" marL="0">
              <a:buNone/>
            </a:pPr>
            <a:r>
              <a:rPr lang="en-US" sz="1400" dirty="0">
                <a:solidFill>
                  <a:srgbClr val="1F2D27"/>
                </a:solidFill>
                <a:latin typeface="Calibri" pitchFamily="34" charset="0"/>
                <a:ea typeface="Calibri" pitchFamily="34" charset="-122"/>
                <a:cs typeface="Calibri" pitchFamily="34" charset="-120"/>
              </a:rPr>
              <a:t>Couverture limitée hors des villes</a:t>
            </a:r>
            <a:endParaRPr lang="en-US" sz="1400" dirty="0"/>
          </a:p>
        </p:txBody>
      </p:sp>
      <p:sp>
        <p:nvSpPr>
          <p:cNvPr id="23" name="Limites 4"/>
          <p:cNvSpPr/>
          <p:nvPr/>
        </p:nvSpPr>
        <p:spPr>
          <a:xfrm>
            <a:off x="4709160" y="3931920"/>
            <a:ext cx="3977640" cy="502920"/>
          </a:xfrm>
          <a:prstGeom prst="roundRect">
            <a:avLst>
              <a:gd name="adj" fmla="val 14545"/>
            </a:avLst>
          </a:prstGeom>
          <a:solidFill>
            <a:srgbClr val="FFFFFF"/>
          </a:solidFill>
          <a:ln w="12700">
            <a:solidFill>
              <a:srgbClr val="D4EEDF"/>
            </a:solidFill>
            <a:prstDash val="solid"/>
          </a:ln>
        </p:spPr>
      </p:sp>
      <p:sp>
        <p:nvSpPr>
          <p:cNvPr id="24" name="Text 20"/>
          <p:cNvSpPr txBox="1"/>
          <p:nvPr/>
        </p:nvSpPr>
        <p:spPr>
          <a:xfrm>
            <a:off x="4892040" y="3931920"/>
            <a:ext cx="3657600" cy="502920"/>
          </a:xfrm>
          <a:prstGeom prst="rect">
            <a:avLst/>
          </a:prstGeom>
          <a:noFill/>
          <a:ln/>
        </p:spPr>
        <p:txBody>
          <a:bodyPr wrap="square" lIns="0" tIns="0" rIns="0" bIns="0" rtlCol="0" anchor="ctr"/>
          <a:lstStyle/>
          <a:p>
            <a:pPr indent="0" marL="0">
              <a:buNone/>
            </a:pPr>
            <a:r>
              <a:rPr lang="en-US" sz="1400" dirty="0">
                <a:solidFill>
                  <a:srgbClr val="1F2D27"/>
                </a:solidFill>
                <a:latin typeface="Calibri" pitchFamily="34" charset="0"/>
                <a:ea typeface="Calibri" pitchFamily="34" charset="-122"/>
                <a:cs typeface="Calibri" pitchFamily="34" charset="-120"/>
              </a:rPr>
              <a:t>Exposition au piratage des contenus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E4D32"/>
                </a:solidFill>
                <a:latin typeface="Cambria" pitchFamily="34" charset="0"/>
                <a:ea typeface="Cambria" pitchFamily="34" charset="-122"/>
                <a:cs typeface="Cambria" pitchFamily="34" charset="-120"/>
              </a:rPr>
              <a:t>Notre démonstration</a:t>
            </a:r>
            <a:endParaRPr lang="en-US" sz="3000" dirty="0"/>
          </a:p>
        </p:txBody>
      </p:sp>
      <p:sp>
        <p:nvSpPr>
          <p:cNvPr id="3" name="Étape démo 1"/>
          <p:cNvSpPr/>
          <p:nvPr/>
        </p:nvSpPr>
        <p:spPr>
          <a:xfrm>
            <a:off x="457200" y="1234440"/>
            <a:ext cx="2606040" cy="2514600"/>
          </a:xfrm>
          <a:prstGeom prst="roundRect">
            <a:avLst>
              <a:gd name="adj" fmla="val 4364"/>
            </a:avLst>
          </a:prstGeom>
          <a:solidFill>
            <a:srgbClr val="E9F6EF"/>
          </a:solidFill>
          <a:ln w="12700">
            <a:solidFill>
              <a:srgbClr val="E9F6EF"/>
            </a:solidFill>
            <a:prstDash val="solid"/>
          </a:ln>
        </p:spPr>
      </p:sp>
      <p:sp>
        <p:nvSpPr>
          <p:cNvPr id="4" name="Text 2"/>
          <p:cNvSpPr txBox="1"/>
          <p:nvPr/>
        </p:nvSpPr>
        <p:spPr>
          <a:xfrm>
            <a:off x="685800" y="1371600"/>
            <a:ext cx="731520" cy="731520"/>
          </a:xfrm>
          <a:prstGeom prst="rect">
            <a:avLst/>
          </a:prstGeom>
          <a:noFill/>
          <a:ln/>
        </p:spPr>
        <p:txBody>
          <a:bodyPr wrap="square" lIns="0" tIns="0" rIns="0" bIns="0" rtlCol="0" anchor="ctr"/>
          <a:lstStyle/>
          <a:p>
            <a:pPr indent="0" marL="0">
              <a:buNone/>
            </a:pPr>
            <a:r>
              <a:rPr lang="en-US" sz="4000" b="1" dirty="0">
                <a:solidFill>
                  <a:srgbClr val="1B8A5A"/>
                </a:solidFill>
                <a:latin typeface="Cambria" pitchFamily="34" charset="0"/>
                <a:ea typeface="Cambria" pitchFamily="34" charset="-122"/>
                <a:cs typeface="Cambria" pitchFamily="34" charset="-120"/>
              </a:rPr>
              <a:t>1</a:t>
            </a:r>
            <a:endParaRPr lang="en-US" sz="4000" dirty="0"/>
          </a:p>
        </p:txBody>
      </p:sp>
      <p:sp>
        <p:nvSpPr>
          <p:cNvPr id="5" name="Diffusion multicast cercle"/>
          <p:cNvSpPr/>
          <p:nvPr/>
        </p:nvSpPr>
        <p:spPr>
          <a:xfrm>
            <a:off x="2286000" y="1463040"/>
            <a:ext cx="548640" cy="548640"/>
          </a:xfrm>
          <a:prstGeom prst="ellipse">
            <a:avLst/>
          </a:prstGeom>
          <a:solidFill>
            <a:srgbClr val="1B8A5A"/>
          </a:solidFill>
          <a:ln w="12700">
            <a:solidFill>
              <a:srgbClr val="1B8A5A"/>
            </a:solidFill>
            <a:prstDash val="solid"/>
          </a:ln>
        </p:spPr>
      </p:sp>
      <p:pic>
        <p:nvPicPr>
          <p:cNvPr id="6" name="Diffusion multicast icône" descr="preencoded.png">    </p:cNvPr>
          <p:cNvPicPr>
            <a:picLocks noChangeAspect="1"/>
          </p:cNvPicPr>
          <p:nvPr/>
        </p:nvPicPr>
        <p:blipFill>
          <a:blip r:embed="rId1"/>
          <a:stretch>
            <a:fillRect/>
          </a:stretch>
        </p:blipFill>
        <p:spPr>
          <a:xfrm>
            <a:off x="2428646" y="1605686"/>
            <a:ext cx="263347" cy="263347"/>
          </a:xfrm>
          <a:prstGeom prst="rect">
            <a:avLst/>
          </a:prstGeom>
        </p:spPr>
      </p:pic>
      <p:sp>
        <p:nvSpPr>
          <p:cNvPr id="7" name="Text 4"/>
          <p:cNvSpPr txBox="1"/>
          <p:nvPr/>
        </p:nvSpPr>
        <p:spPr>
          <a:xfrm>
            <a:off x="685800" y="2194560"/>
            <a:ext cx="2194560" cy="457200"/>
          </a:xfrm>
          <a:prstGeom prst="rect">
            <a:avLst/>
          </a:prstGeom>
          <a:noFill/>
          <a:ln/>
        </p:spPr>
        <p:txBody>
          <a:bodyPr wrap="square" lIns="0" tIns="0" rIns="0" bIns="0" rtlCol="0" anchor="t"/>
          <a:lstStyle/>
          <a:p>
            <a:pPr indent="0" marL="0">
              <a:buNone/>
            </a:pPr>
            <a:r>
              <a:rPr lang="en-US" sz="1700" b="1" dirty="0">
                <a:solidFill>
                  <a:srgbClr val="0E4D32"/>
                </a:solidFill>
                <a:latin typeface="Calibri" pitchFamily="34" charset="0"/>
                <a:ea typeface="Calibri" pitchFamily="34" charset="-122"/>
                <a:cs typeface="Calibri" pitchFamily="34" charset="-120"/>
              </a:rPr>
              <a:t>Diffusion multicast</a:t>
            </a:r>
            <a:endParaRPr lang="en-US" sz="1700" dirty="0"/>
          </a:p>
        </p:txBody>
      </p:sp>
      <p:sp>
        <p:nvSpPr>
          <p:cNvPr id="8" name="Text 5"/>
          <p:cNvSpPr txBox="1"/>
          <p:nvPr/>
        </p:nvSpPr>
        <p:spPr>
          <a:xfrm>
            <a:off x="685800" y="2743200"/>
            <a:ext cx="2194560" cy="914400"/>
          </a:xfrm>
          <a:prstGeom prst="rect">
            <a:avLst/>
          </a:prstGeom>
          <a:noFill/>
          <a:ln/>
        </p:spPr>
        <p:txBody>
          <a:bodyPr wrap="square" lIns="0" tIns="0" rIns="0" bIns="0" rtlCol="0" anchor="t"/>
          <a:lstStyle/>
          <a:p>
            <a:pPr indent="0" marL="0">
              <a:buNone/>
            </a:pPr>
            <a:r>
              <a:rPr lang="en-US" sz="1300" dirty="0">
                <a:solidFill>
                  <a:srgbClr val="56685F"/>
                </a:solidFill>
                <a:latin typeface="Calibri" pitchFamily="34" charset="0"/>
                <a:ea typeface="Calibri" pitchFamily="34" charset="-122"/>
                <a:cs typeface="Calibri" pitchFamily="34" charset="-120"/>
              </a:rPr>
              <a:t>VLC diffuse une chaîne sur 239.255.1.1 ; les postes de la salle la reçoivent</a:t>
            </a:r>
            <a:endParaRPr lang="en-US" sz="1300" dirty="0"/>
          </a:p>
        </p:txBody>
      </p:sp>
      <p:sp>
        <p:nvSpPr>
          <p:cNvPr id="9" name="Étape démo 2"/>
          <p:cNvSpPr/>
          <p:nvPr/>
        </p:nvSpPr>
        <p:spPr>
          <a:xfrm>
            <a:off x="3264408" y="1234440"/>
            <a:ext cx="2606040" cy="2514600"/>
          </a:xfrm>
          <a:prstGeom prst="roundRect">
            <a:avLst>
              <a:gd name="adj" fmla="val 4364"/>
            </a:avLst>
          </a:prstGeom>
          <a:solidFill>
            <a:srgbClr val="E9F6EF"/>
          </a:solidFill>
          <a:ln w="12700">
            <a:solidFill>
              <a:srgbClr val="E9F6EF"/>
            </a:solidFill>
            <a:prstDash val="solid"/>
          </a:ln>
        </p:spPr>
      </p:sp>
      <p:sp>
        <p:nvSpPr>
          <p:cNvPr id="10" name="Text 7"/>
          <p:cNvSpPr txBox="1"/>
          <p:nvPr/>
        </p:nvSpPr>
        <p:spPr>
          <a:xfrm>
            <a:off x="3493008" y="1371600"/>
            <a:ext cx="731520" cy="731520"/>
          </a:xfrm>
          <a:prstGeom prst="rect">
            <a:avLst/>
          </a:prstGeom>
          <a:noFill/>
          <a:ln/>
        </p:spPr>
        <p:txBody>
          <a:bodyPr wrap="square" lIns="0" tIns="0" rIns="0" bIns="0" rtlCol="0" anchor="ctr"/>
          <a:lstStyle/>
          <a:p>
            <a:pPr indent="0" marL="0">
              <a:buNone/>
            </a:pPr>
            <a:r>
              <a:rPr lang="en-US" sz="4000" b="1" dirty="0">
                <a:solidFill>
                  <a:srgbClr val="1B8A5A"/>
                </a:solidFill>
                <a:latin typeface="Cambria" pitchFamily="34" charset="0"/>
                <a:ea typeface="Cambria" pitchFamily="34" charset="-122"/>
                <a:cs typeface="Cambria" pitchFamily="34" charset="-120"/>
              </a:rPr>
              <a:t>2</a:t>
            </a:r>
            <a:endParaRPr lang="en-US" sz="4000" dirty="0"/>
          </a:p>
        </p:txBody>
      </p:sp>
      <p:sp>
        <p:nvSpPr>
          <p:cNvPr id="11" name="Plateforme web HLS cercle"/>
          <p:cNvSpPr/>
          <p:nvPr/>
        </p:nvSpPr>
        <p:spPr>
          <a:xfrm>
            <a:off x="5093208" y="1463040"/>
            <a:ext cx="548640" cy="548640"/>
          </a:xfrm>
          <a:prstGeom prst="ellipse">
            <a:avLst/>
          </a:prstGeom>
          <a:solidFill>
            <a:srgbClr val="1B8A5A"/>
          </a:solidFill>
          <a:ln w="12700">
            <a:solidFill>
              <a:srgbClr val="1B8A5A"/>
            </a:solidFill>
            <a:prstDash val="solid"/>
          </a:ln>
        </p:spPr>
      </p:sp>
      <p:pic>
        <p:nvPicPr>
          <p:cNvPr id="12" name="Plateforme web HLS icône" descr="preencoded.png">    </p:cNvPr>
          <p:cNvPicPr>
            <a:picLocks noChangeAspect="1"/>
          </p:cNvPicPr>
          <p:nvPr/>
        </p:nvPicPr>
        <p:blipFill>
          <a:blip r:embed="rId2"/>
          <a:stretch>
            <a:fillRect/>
          </a:stretch>
        </p:blipFill>
        <p:spPr>
          <a:xfrm>
            <a:off x="5235854" y="1605686"/>
            <a:ext cx="263347" cy="263347"/>
          </a:xfrm>
          <a:prstGeom prst="rect">
            <a:avLst/>
          </a:prstGeom>
        </p:spPr>
      </p:pic>
      <p:sp>
        <p:nvSpPr>
          <p:cNvPr id="13" name="Text 9"/>
          <p:cNvSpPr txBox="1"/>
          <p:nvPr/>
        </p:nvSpPr>
        <p:spPr>
          <a:xfrm>
            <a:off x="3493008" y="2194560"/>
            <a:ext cx="2194560" cy="457200"/>
          </a:xfrm>
          <a:prstGeom prst="rect">
            <a:avLst/>
          </a:prstGeom>
          <a:noFill/>
          <a:ln/>
        </p:spPr>
        <p:txBody>
          <a:bodyPr wrap="square" lIns="0" tIns="0" rIns="0" bIns="0" rtlCol="0" anchor="t"/>
          <a:lstStyle/>
          <a:p>
            <a:pPr indent="0" marL="0">
              <a:buNone/>
            </a:pPr>
            <a:r>
              <a:rPr lang="en-US" sz="1700" b="1" dirty="0">
                <a:solidFill>
                  <a:srgbClr val="0E4D32"/>
                </a:solidFill>
                <a:latin typeface="Calibri" pitchFamily="34" charset="0"/>
                <a:ea typeface="Calibri" pitchFamily="34" charset="-122"/>
                <a:cs typeface="Calibri" pitchFamily="34" charset="-120"/>
              </a:rPr>
              <a:t>Plateforme web HLS</a:t>
            </a:r>
            <a:endParaRPr lang="en-US" sz="1700" dirty="0"/>
          </a:p>
        </p:txBody>
      </p:sp>
      <p:sp>
        <p:nvSpPr>
          <p:cNvPr id="14" name="Text 10"/>
          <p:cNvSpPr txBox="1"/>
          <p:nvPr/>
        </p:nvSpPr>
        <p:spPr>
          <a:xfrm>
            <a:off x="3493008" y="2743200"/>
            <a:ext cx="2194560" cy="914400"/>
          </a:xfrm>
          <a:prstGeom prst="rect">
            <a:avLst/>
          </a:prstGeom>
          <a:noFill/>
          <a:ln/>
        </p:spPr>
        <p:txBody>
          <a:bodyPr wrap="square" lIns="0" tIns="0" rIns="0" bIns="0" rtlCol="0" anchor="t"/>
          <a:lstStyle/>
          <a:p>
            <a:pPr indent="0" marL="0">
              <a:buNone/>
            </a:pPr>
            <a:r>
              <a:rPr lang="en-US" sz="1300" dirty="0">
                <a:solidFill>
                  <a:srgbClr val="56685F"/>
                </a:solidFill>
                <a:latin typeface="Calibri" pitchFamily="34" charset="0"/>
                <a:ea typeface="Calibri" pitchFamily="34" charset="-122"/>
                <a:cs typeface="Calibri" pitchFamily="34" charset="-120"/>
              </a:rPr>
              <a:t>FFmpeg + Nginx : un mini-portail avec plusieurs chaînes</a:t>
            </a:r>
            <a:endParaRPr lang="en-US" sz="1300" dirty="0"/>
          </a:p>
        </p:txBody>
      </p:sp>
      <p:sp>
        <p:nvSpPr>
          <p:cNvPr id="15" name="Étape démo 3"/>
          <p:cNvSpPr/>
          <p:nvPr/>
        </p:nvSpPr>
        <p:spPr>
          <a:xfrm>
            <a:off x="6071616" y="1234440"/>
            <a:ext cx="2606040" cy="2514600"/>
          </a:xfrm>
          <a:prstGeom prst="roundRect">
            <a:avLst>
              <a:gd name="adj" fmla="val 4364"/>
            </a:avLst>
          </a:prstGeom>
          <a:solidFill>
            <a:srgbClr val="E9F6EF"/>
          </a:solidFill>
          <a:ln w="12700">
            <a:solidFill>
              <a:srgbClr val="E9F6EF"/>
            </a:solidFill>
            <a:prstDash val="solid"/>
          </a:ln>
        </p:spPr>
      </p:sp>
      <p:sp>
        <p:nvSpPr>
          <p:cNvPr id="16" name="Text 12"/>
          <p:cNvSpPr txBox="1"/>
          <p:nvPr/>
        </p:nvSpPr>
        <p:spPr>
          <a:xfrm>
            <a:off x="6300216" y="1371600"/>
            <a:ext cx="731520" cy="731520"/>
          </a:xfrm>
          <a:prstGeom prst="rect">
            <a:avLst/>
          </a:prstGeom>
          <a:noFill/>
          <a:ln/>
        </p:spPr>
        <p:txBody>
          <a:bodyPr wrap="square" lIns="0" tIns="0" rIns="0" bIns="0" rtlCol="0" anchor="ctr"/>
          <a:lstStyle/>
          <a:p>
            <a:pPr indent="0" marL="0">
              <a:buNone/>
            </a:pPr>
            <a:r>
              <a:rPr lang="en-US" sz="4000" b="1" dirty="0">
                <a:solidFill>
                  <a:srgbClr val="1B8A5A"/>
                </a:solidFill>
                <a:latin typeface="Cambria" pitchFamily="34" charset="0"/>
                <a:ea typeface="Cambria" pitchFamily="34" charset="-122"/>
                <a:cs typeface="Cambria" pitchFamily="34" charset="-120"/>
              </a:rPr>
              <a:t>3</a:t>
            </a:r>
            <a:endParaRPr lang="en-US" sz="4000" dirty="0"/>
          </a:p>
        </p:txBody>
      </p:sp>
      <p:sp>
        <p:nvSpPr>
          <p:cNvPr id="17" name="Analyse réseau cercle"/>
          <p:cNvSpPr/>
          <p:nvPr/>
        </p:nvSpPr>
        <p:spPr>
          <a:xfrm>
            <a:off x="7900416" y="1463040"/>
            <a:ext cx="548640" cy="548640"/>
          </a:xfrm>
          <a:prstGeom prst="ellipse">
            <a:avLst/>
          </a:prstGeom>
          <a:solidFill>
            <a:srgbClr val="1B8A5A"/>
          </a:solidFill>
          <a:ln w="12700">
            <a:solidFill>
              <a:srgbClr val="1B8A5A"/>
            </a:solidFill>
            <a:prstDash val="solid"/>
          </a:ln>
        </p:spPr>
      </p:sp>
      <p:pic>
        <p:nvPicPr>
          <p:cNvPr id="18" name="Analyse réseau icône" descr="preencoded.png">    </p:cNvPr>
          <p:cNvPicPr>
            <a:picLocks noChangeAspect="1"/>
          </p:cNvPicPr>
          <p:nvPr/>
        </p:nvPicPr>
        <p:blipFill>
          <a:blip r:embed="rId3"/>
          <a:stretch>
            <a:fillRect/>
          </a:stretch>
        </p:blipFill>
        <p:spPr>
          <a:xfrm>
            <a:off x="8043062" y="1605686"/>
            <a:ext cx="263347" cy="263347"/>
          </a:xfrm>
          <a:prstGeom prst="rect">
            <a:avLst/>
          </a:prstGeom>
        </p:spPr>
      </p:pic>
      <p:sp>
        <p:nvSpPr>
          <p:cNvPr id="19" name="Text 14"/>
          <p:cNvSpPr txBox="1"/>
          <p:nvPr/>
        </p:nvSpPr>
        <p:spPr>
          <a:xfrm>
            <a:off x="6300216" y="2194560"/>
            <a:ext cx="2194560" cy="457200"/>
          </a:xfrm>
          <a:prstGeom prst="rect">
            <a:avLst/>
          </a:prstGeom>
          <a:noFill/>
          <a:ln/>
        </p:spPr>
        <p:txBody>
          <a:bodyPr wrap="square" lIns="0" tIns="0" rIns="0" bIns="0" rtlCol="0" anchor="t"/>
          <a:lstStyle/>
          <a:p>
            <a:pPr indent="0" marL="0">
              <a:buNone/>
            </a:pPr>
            <a:r>
              <a:rPr lang="en-US" sz="1700" b="1" dirty="0">
                <a:solidFill>
                  <a:srgbClr val="0E4D32"/>
                </a:solidFill>
                <a:latin typeface="Calibri" pitchFamily="34" charset="0"/>
                <a:ea typeface="Calibri" pitchFamily="34" charset="-122"/>
                <a:cs typeface="Calibri" pitchFamily="34" charset="-120"/>
              </a:rPr>
              <a:t>Analyse réseau</a:t>
            </a:r>
            <a:endParaRPr lang="en-US" sz="1700" dirty="0"/>
          </a:p>
        </p:txBody>
      </p:sp>
      <p:sp>
        <p:nvSpPr>
          <p:cNvPr id="20" name="Text 15"/>
          <p:cNvSpPr txBox="1"/>
          <p:nvPr/>
        </p:nvSpPr>
        <p:spPr>
          <a:xfrm>
            <a:off x="6300216" y="2743200"/>
            <a:ext cx="2194560" cy="914400"/>
          </a:xfrm>
          <a:prstGeom prst="rect">
            <a:avLst/>
          </a:prstGeom>
          <a:noFill/>
          <a:ln/>
        </p:spPr>
        <p:txBody>
          <a:bodyPr wrap="square" lIns="0" tIns="0" rIns="0" bIns="0" rtlCol="0" anchor="t"/>
          <a:lstStyle/>
          <a:p>
            <a:pPr indent="0" marL="0">
              <a:buNone/>
            </a:pPr>
            <a:r>
              <a:rPr lang="en-US" sz="1300" dirty="0">
                <a:solidFill>
                  <a:srgbClr val="56685F"/>
                </a:solidFill>
                <a:latin typeface="Calibri" pitchFamily="34" charset="0"/>
                <a:ea typeface="Calibri" pitchFamily="34" charset="-122"/>
                <a:cs typeface="Calibri" pitchFamily="34" charset="-120"/>
              </a:rPr>
              <a:t>Wireshark montre les IGMP Join/Leave et les paquets UDP</a:t>
            </a:r>
            <a:endParaRPr lang="en-US" sz="1300" dirty="0"/>
          </a:p>
        </p:txBody>
      </p:sp>
      <p:sp>
        <p:nvSpPr>
          <p:cNvPr id="21" name="Text 16"/>
          <p:cNvSpPr txBox="1"/>
          <p:nvPr/>
        </p:nvSpPr>
        <p:spPr>
          <a:xfrm>
            <a:off x="457200" y="3977640"/>
            <a:ext cx="8229600" cy="365760"/>
          </a:xfrm>
          <a:prstGeom prst="rect">
            <a:avLst/>
          </a:prstGeom>
          <a:noFill/>
          <a:ln/>
        </p:spPr>
        <p:txBody>
          <a:bodyPr wrap="square" lIns="0" tIns="0" rIns="0" bIns="0" rtlCol="0" anchor="ctr"/>
          <a:lstStyle/>
          <a:p>
            <a:pPr indent="0" marL="0">
              <a:buNone/>
            </a:pPr>
            <a:r>
              <a:rPr lang="en-US" sz="1300" i="1" dirty="0">
                <a:solidFill>
                  <a:srgbClr val="56685F"/>
                </a:solidFill>
                <a:latin typeface="Calibri" pitchFamily="34" charset="0"/>
                <a:ea typeface="Calibri" pitchFamily="34" charset="-122"/>
                <a:cs typeface="Calibri" pitchFamily="34" charset="-120"/>
              </a:rPr>
              <a:t>Matériel : 2 à 3 PC sur le même réseau local (switch ou point d'accès Wi-Fi), VLC, FFmpeg, Nginx, Wireshark.</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8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Décor cercle 3"/>
          <p:cNvSpPr/>
          <p:nvPr/>
        </p:nvSpPr>
        <p:spPr>
          <a:xfrm>
            <a:off x="-1371600" y="2926080"/>
            <a:ext cx="3657600" cy="3657600"/>
          </a:xfrm>
          <a:prstGeom prst="ellipse">
            <a:avLst/>
          </a:prstGeom>
          <a:solidFill>
            <a:srgbClr val="1B8A5A">
              <a:alpha val="40000"/>
            </a:srgbClr>
          </a:solidFill>
          <a:ln w="12700">
            <a:solidFill>
              <a:srgbClr val="1B8A5A">
                <a:alpha val="0"/>
              </a:srgbClr>
            </a:solidFill>
            <a:prstDash val="solid"/>
          </a:ln>
        </p:spPr>
      </p:sp>
      <p:sp>
        <p:nvSpPr>
          <p:cNvPr id="3" name="Text 1"/>
          <p:cNvSpPr txBox="1"/>
          <p:nvPr/>
        </p:nvSpPr>
        <p:spPr>
          <a:xfrm>
            <a:off x="548640" y="502920"/>
            <a:ext cx="804672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4" name="Text 2"/>
          <p:cNvSpPr txBox="1"/>
          <p:nvPr/>
        </p:nvSpPr>
        <p:spPr>
          <a:xfrm>
            <a:off x="548640" y="1325880"/>
            <a:ext cx="7863840" cy="16459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L'IPTV transforme la télévision en service réseau interactif</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Multicast, compression et QoS sont ses trois piliers techniques</a:t>
            </a:r>
            <a:endParaRPr lang="en-US" sz="1800" dirty="0"/>
          </a:p>
          <a:p>
            <a:pPr marL="342900" indent="-342900">
              <a:spcAft>
                <a:spcPts val="1000"/>
              </a:spcAft>
              <a:buSzPct val="100000"/>
              <a:buChar char="•"/>
            </a:pPr>
            <a:r>
              <a:rPr lang="en-US" sz="1800" dirty="0">
                <a:solidFill>
                  <a:srgbClr val="FFFFFF"/>
                </a:solidFill>
                <a:latin typeface="Calibri" pitchFamily="34" charset="0"/>
                <a:ea typeface="Calibri" pitchFamily="34" charset="-122"/>
                <a:cs typeface="Calibri" pitchFamily="34" charset="-120"/>
              </a:rPr>
              <a:t>Au Sénégal, son avenir dépend de la fibre et de la lutte contre le piratage</a:t>
            </a:r>
            <a:endParaRPr lang="en-US" sz="1800" dirty="0"/>
          </a:p>
        </p:txBody>
      </p:sp>
      <p:sp>
        <p:nvSpPr>
          <p:cNvPr id="5" name="Text 3"/>
          <p:cNvSpPr txBox="1"/>
          <p:nvPr/>
        </p:nvSpPr>
        <p:spPr>
          <a:xfrm>
            <a:off x="2926080" y="3291840"/>
            <a:ext cx="5669280" cy="548640"/>
          </a:xfrm>
          <a:prstGeom prst="rect">
            <a:avLst/>
          </a:prstGeom>
          <a:noFill/>
          <a:ln/>
        </p:spPr>
        <p:txBody>
          <a:bodyPr wrap="square" lIns="0" tIns="0" rIns="0" bIns="0" rtlCol="0" anchor="ctr"/>
          <a:lstStyle/>
          <a:p>
            <a:pPr algn="r" indent="0" marL="0">
              <a:buNone/>
            </a:pPr>
            <a:r>
              <a:rPr lang="en-US" sz="2800" b="1" dirty="0">
                <a:solidFill>
                  <a:srgbClr val="8FD3AE"/>
                </a:solidFill>
                <a:latin typeface="Cambria" pitchFamily="34" charset="0"/>
                <a:ea typeface="Cambria" pitchFamily="34" charset="-122"/>
                <a:cs typeface="Cambria" pitchFamily="34" charset="-120"/>
              </a:rPr>
              <a:t>Merci de votre attention</a:t>
            </a:r>
            <a:endParaRPr lang="en-US" sz="2800" dirty="0"/>
          </a:p>
        </p:txBody>
      </p:sp>
      <p:sp>
        <p:nvSpPr>
          <p:cNvPr id="6" name="Text 4"/>
          <p:cNvSpPr txBox="1"/>
          <p:nvPr/>
        </p:nvSpPr>
        <p:spPr>
          <a:xfrm>
            <a:off x="2926080" y="3840480"/>
            <a:ext cx="5669280" cy="457200"/>
          </a:xfrm>
          <a:prstGeom prst="rect">
            <a:avLst/>
          </a:prstGeom>
          <a:noFill/>
          <a:ln/>
        </p:spPr>
        <p:txBody>
          <a:bodyPr wrap="square" lIns="0" tIns="0" rIns="0" bIns="0" rtlCol="0" anchor="ctr"/>
          <a:lstStyle/>
          <a:p>
            <a:pPr algn="r" indent="0" marL="0">
              <a:buNone/>
            </a:pPr>
            <a:r>
              <a:rPr lang="en-US" sz="2000" dirty="0">
                <a:solidFill>
                  <a:srgbClr val="FFFFFF"/>
                </a:solidFill>
                <a:latin typeface="Calibri" pitchFamily="34" charset="0"/>
                <a:ea typeface="Calibri" pitchFamily="34" charset="-122"/>
                <a:cs typeface="Calibri" pitchFamily="34" charset="-120"/>
              </a:rPr>
              <a:t>Questions ?</a:t>
            </a:r>
            <a:endParaRPr lang="en-US" sz="2000" dirty="0"/>
          </a:p>
        </p:txBody>
      </p:sp>
    </p:spTree>
  </p:cSld>
  <p:clrMapOvr>
    <a:masterClrMapping/>
  </p:clrMapOvr>
</p:sld>
</file>

<file path=ppt/theme/theme1.xml><?xml version="1.0" encoding="utf-8"?>
<a:theme xmlns:a="http://schemas.openxmlformats.org/drawingml/2006/main" name="IPTV Vert">
  <a:themeElements>
    <a:clrScheme name="IPTV Vert">
      <a:dk1>
        <a:srgbClr val="1F2D27"/>
      </a:dk1>
      <a:lt1>
        <a:srgbClr val="FFFFFF"/>
      </a:lt1>
      <a:dk2>
        <a:srgbClr val="0E4D32"/>
      </a:dk2>
      <a:lt2>
        <a:srgbClr val="E9F6EF"/>
      </a:lt2>
      <a:accent1>
        <a:srgbClr val="1B8A5A"/>
      </a:accent1>
      <a:accent2>
        <a:srgbClr val="8FD3AE"/>
      </a:accent2>
      <a:accent3>
        <a:srgbClr val="0E4D32"/>
      </a:accent3>
      <a:accent4>
        <a:srgbClr val="56685F"/>
      </a:accent4>
      <a:accent5>
        <a:srgbClr val="D4EEDF"/>
      </a:accent5>
      <a:accent6>
        <a:srgbClr val="2E6B4F"/>
      </a:accent6>
      <a:hlink>
        <a:srgbClr val="1B8A5A"/>
      </a:hlink>
      <a:folHlink>
        <a:srgbClr val="0E4D32"/>
      </a:folHlink>
    </a:clrScheme>
    <a:fontScheme name="IPTV Ver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UASZ</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L'IPTV - Télévision sur protocole IP</dc:title>
  <dc:subject>PptxGenJS Presentation</dc:subject>
  <dc:creator>Groupe 4</dc:creator>
  <cp:lastModifiedBy>Groupe 4</cp:lastModifiedBy>
  <cp:revision>1</cp:revision>
  <dcterms:created xsi:type="dcterms:W3CDTF">2026-10-14T08:21:43Z</dcterms:created>
  <dcterms:modified xsi:type="dcterms:W3CDTF">2026-10-14T08:21:43Z</dcterms:modified>
</cp:coreProperties>
</file>