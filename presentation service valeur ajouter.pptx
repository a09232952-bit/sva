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1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Équipe</a:t>
            </a:r>
          </a:p>
          <a:p>
            <a:endParaRPr/>
          </a:p>
          <a:p>
            <a:r>
              <a:t>Repères oraux</a:t>
            </a:r>
          </a:p>
          <a:p>
            <a:r>
              <a:t>Présenter le titre et le module; compléter les cinq membres, le professeur, l’établissement et l’année universitaire.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Équipe</a:t>
            </a:r>
          </a:p>
          <a:p>
            <a:endParaRPr/>
          </a:p>
          <a:p>
            <a:r>
              <a:t>Repères oraux</a:t>
            </a:r>
          </a:p>
          <a:p>
            <a:r>
              <a:t>Présenter les cinq blocs et les attributions; diapositives 1 et 25 partagées. Membres 1–5 couvrent respectivement 3–5, 6–10, 11–14, 15–19 et 20–24.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1</a:t>
            </a:r>
          </a:p>
          <a:p>
            <a:endParaRPr/>
          </a:p>
          <a:p>
            <a:r>
              <a:t>Repères oraux</a:t>
            </a:r>
          </a:p>
          <a:p>
            <a:r>
              <a:t>Question centrale : comment assembler technologies et réseaux différents pour un service vocal fiable, interopérable et sûr ? Expliquer les objectifs et le fil conducteur.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1</a:t>
            </a:r>
          </a:p>
          <a:p>
            <a:endParaRPr/>
          </a:p>
          <a:p>
            <a:r>
              <a:t>Repères oraux</a:t>
            </a:r>
          </a:p>
          <a:p>
            <a:r>
              <a:t>Définir la convergence des canaux autour de l’utilisateur. Le périmètre dépend de l’organisation; distinguer voix, vidéo, messagerie et présence.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1</a:t>
            </a:r>
          </a:p>
          <a:p>
            <a:endParaRPr/>
          </a:p>
          <a:p>
            <a:r>
              <a:t>Repères oraux</a:t>
            </a:r>
          </a:p>
          <a:p>
            <a:r>
              <a:t>Suivre le trajet des terminaux au réseau, au gestionnaire d’appels et à la passerelle. Distinguer plan de contrôle et plan média; le média peut contourner le PBX.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2</a:t>
            </a:r>
          </a:p>
          <a:p>
            <a:endParaRPr/>
          </a:p>
          <a:p>
            <a:r>
              <a:t>Repères oraux</a:t>
            </a:r>
          </a:p>
          <a:p>
            <a:r>
              <a:t>La signalisation prépare la session et RTP transporte l’audio. Une passerelle relie le réseau IP à la téléphonie traditionnelle.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https://www.rfc-editor.org/info/rfc3261/</a:t>
            </a:r>
          </a:p>
          <a:p>
            <a:r>
              <a:t>https://www.rfc-editor.org/info/rfc3550/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2</a:t>
            </a:r>
          </a:p>
          <a:p>
            <a:endParaRPr/>
          </a:p>
          <a:p>
            <a:r>
              <a:t>Repères oraux</a:t>
            </a:r>
          </a:p>
          <a:p>
            <a:r>
              <a:t>REGISTER annonce une localisation. INVITE, SDP et réponses permettent de négocier la session; ACK confirme et BYE termine. SIP ne transporte pas l’audio.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https://www.rfc-editor.org/info/rfc3261/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2</a:t>
            </a:r>
          </a:p>
          <a:p>
            <a:endParaRPr/>
          </a:p>
          <a:p>
            <a:r>
              <a:t>Repères oraux</a:t>
            </a:r>
          </a:p>
          <a:p>
            <a:r>
              <a:t>RAS traite inscription et admission; H.225 assure la signalisation d’appel; H.245 négocie les capacités. RTP transporte le média.</a:t>
            </a:r>
          </a:p>
          <a:p>
            <a:endParaRPr/>
          </a:p>
          <a:p>
            <a:r>
              <a:t>Références</a:t>
            </a:r>
          </a:p>
          <a:p>
            <a:r>
              <a:t>https://www.itu.int/dms_pubrec/itu-t/rec/h/T-REC-H.323-202203-I%21%21SUM-HTM-E.htm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2</a:t>
            </a:r>
          </a:p>
          <a:p>
            <a:endParaRPr/>
          </a:p>
          <a:p>
            <a:r>
              <a:t>Repères oraux</a:t>
            </a:r>
          </a:p>
          <a:p>
            <a:r>
              <a:t>Le Call Agent commande les terminaisons d’une passerelle, qui traite le média. MGCP contrôle des périphériques; ce n’est pas un protocole pair à pair entre téléphones.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https://www.rfc-editor.org/info/rfc3435/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2</a:t>
            </a:r>
          </a:p>
          <a:p>
            <a:endParaRPr/>
          </a:p>
          <a:p>
            <a:r>
              <a:t>Repères oraux</a:t>
            </a:r>
          </a:p>
          <a:p>
            <a:r>
              <a:t>SCCP, ou Skinny, est un protocole Cisco historiquement utilisé entre téléphones et CUCM/CME. La signalisation suit le contrôleur; RTP transporte généralement l’audio.</a:t>
            </a:r>
          </a:p>
          <a:p>
            <a:endParaRPr/>
          </a:p>
          <a:p>
            <a:r>
              <a:t>Références</a:t>
            </a:r>
          </a:p>
          <a:p>
            <a:r>
              <a:t>https://www.cisco.com/c/en/us/support/docs/security/secure-firewall-threat-defense/224050-know-the-basics-of-voice-over-ip.html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3</a:t>
            </a:r>
          </a:p>
          <a:p>
            <a:endParaRPr/>
          </a:p>
          <a:p>
            <a:r>
              <a:t>Repères oraux</a:t>
            </a:r>
          </a:p>
          <a:p>
            <a:r>
              <a:t>RTP ajoute séquence et horodatage; RTCP fournit rapports de réception et informations de session. RTP seul ne garantit ni livraison ni QoS.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https://www.rfc-editor.org/info/rfc3550/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3</a:t>
            </a:r>
          </a:p>
          <a:p>
            <a:endParaRPr/>
          </a:p>
          <a:p>
            <a:r>
              <a:t>Repères oraux</a:t>
            </a:r>
          </a:p>
          <a:p>
            <a:r>
              <a:t>Comparer G.711, G.729 et Opus selon débit, qualité et compatibilité. G.729 peut impliquer des contraintes de licence selon le contexte. Le débit IP inclut les en-têtes.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https://www.rfc-editor.org/info/rfc3551/</a:t>
            </a:r>
          </a:p>
          <a:p>
            <a:r>
              <a:t>https://www.rfc-editor.org/rfc/rfc6716.html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3</a:t>
            </a:r>
          </a:p>
          <a:p>
            <a:endParaRPr/>
          </a:p>
          <a:p>
            <a:r>
              <a:t>Repères oraux</a:t>
            </a:r>
          </a:p>
          <a:p>
            <a:r>
              <a:t>Définir latence, gigue et pertes. Prioriser la voix sur chaque équipement traversé, dimensionner les liens et mesurer de bout en bout. Le marquage seul ne crée pas de capacité.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https://www.rfc-editor.org/rfc/rfc4594.html</a:t>
            </a:r>
          </a:p>
          <a:p>
            <a:r>
              <a:t>https://www.rfc-editor.org/info/rfc3550/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3</a:t>
            </a:r>
          </a:p>
          <a:p>
            <a:endParaRPr/>
          </a:p>
          <a:p>
            <a:r>
              <a:t>Repères oraux</a:t>
            </a:r>
          </a:p>
          <a:p>
            <a:r>
              <a:t>Illustrer usurpation, écoute, fraude et déni de service; associer authentification, TLS/SRTP si pris en charge, filtrage, segmentation, mises à jour et supervision.</a:t>
            </a:r>
          </a:p>
          <a:p>
            <a:endParaRPr/>
          </a:p>
          <a:p>
            <a:r>
              <a:t>Références</a:t>
            </a:r>
          </a:p>
          <a:p>
            <a:r>
              <a:t>https://www.rfc-editor.org/info/rfc3261/</a:t>
            </a:r>
          </a:p>
          <a:p>
            <a:r>
              <a:t>https://docs.asterisk.org/Configuration/Channel-Drivers/SIP/Configuring-res_pjsip/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4</a:t>
            </a:r>
          </a:p>
          <a:p>
            <a:endParaRPr/>
          </a:p>
          <a:p>
            <a:r>
              <a:t>Repères oraux</a:t>
            </a:r>
          </a:p>
          <a:p>
            <a:r>
              <a:t>Présenter cœur, pilotes, applications et dialplan. PJSIP gère SIP. Asterisk convient à la maquette pédagogique; configuration, mises à jour et protection relèvent de l’administrateur.</a:t>
            </a:r>
          </a:p>
          <a:p>
            <a:endParaRPr/>
          </a:p>
          <a:p>
            <a:r>
              <a:t>Références</a:t>
            </a:r>
          </a:p>
          <a:p>
            <a:r>
              <a:t>https://docs.asterisk.org/Fundamentals/Asterisk-Architecture/Asterisk-Architecture-The-Big-Picture/</a:t>
            </a:r>
          </a:p>
          <a:p>
            <a:r>
              <a:t>https://docs.asterisk.org/Configuration/Channel-Drivers/SIP/Configuring-res_pjsip/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4</a:t>
            </a:r>
          </a:p>
          <a:p>
            <a:endParaRPr/>
          </a:p>
          <a:p>
            <a:r>
              <a:t>Repères oraux</a:t>
            </a:r>
          </a:p>
          <a:p>
            <a:r>
              <a:t>CUCM gère les appels dans un déploiement d’entreprise centralisé; CME intègre la téléphonie à certains routeurs Cisco pour des sites plus compacts. Les fonctions dépendent des versions et appareils.</a:t>
            </a:r>
          </a:p>
          <a:p>
            <a:endParaRPr/>
          </a:p>
          <a:p>
            <a:r>
              <a:t>Références</a:t>
            </a:r>
          </a:p>
          <a:p>
            <a:r>
              <a:t>https://www.cisco.com/c/en/us/td/docs/voice_ip_comm/cucme/admin/configuration/manual/cmeadm.html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4</a:t>
            </a:r>
          </a:p>
          <a:p>
            <a:endParaRPr/>
          </a:p>
          <a:p>
            <a:r>
              <a:t>Repères oraux</a:t>
            </a:r>
          </a:p>
          <a:p>
            <a:r>
              <a:t>3CX gère extensions, applications, trunks SIP et règles d’appel avec options hébergées ou sur site. Vérifier les licences, versions et compatibilités de l’édition visée.</a:t>
            </a:r>
          </a:p>
          <a:p>
            <a:endParaRPr/>
          </a:p>
          <a:p>
            <a:r>
              <a:t>Références</a:t>
            </a:r>
          </a:p>
          <a:p>
            <a:r>
              <a:t>https://www.3cx.com/docs/manual/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4</a:t>
            </a:r>
          </a:p>
          <a:p>
            <a:endParaRPr/>
          </a:p>
          <a:p>
            <a:r>
              <a:t>Repères oraux</a:t>
            </a:r>
          </a:p>
          <a:p>
            <a:r>
              <a:t>Teams Phone ajoute la téléphonie au client Teams. Direct Routing relie Teams à un SBC certifié et à l’infrastructure téléphonique existante.</a:t>
            </a:r>
          </a:p>
          <a:p>
            <a:endParaRPr/>
          </a:p>
          <a:p>
            <a:r>
              <a:t>Références</a:t>
            </a:r>
          </a:p>
          <a:p>
            <a:r>
              <a:t>https://learn.microsoft.com/microsoftteams/direct-routing-landing-page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4</a:t>
            </a:r>
          </a:p>
          <a:p>
            <a:endParaRPr/>
          </a:p>
          <a:p>
            <a:r>
              <a:t>Repères oraux</a:t>
            </a:r>
          </a:p>
          <a:p>
            <a:r>
              <a:t>Présenter Trixbox CE et les premières générations d’Elastix comme distributions PBX historiques. Vérifier précisément le cycle de vie; ne pas les proposer comme choix par défaut sans support confirmé.</a:t>
            </a:r>
          </a:p>
          <a:p>
            <a:endParaRPr/>
          </a:p>
          <a:p>
            <a:r>
              <a:t>Références</a:t>
            </a:r>
          </a:p>
          <a:p>
            <a:r>
              <a:t>https://community.freepbx.org/t/the-official-end-of-trixbox-ce/15508</a:t>
            </a:r>
          </a:p>
          <a:p>
            <a:r>
              <a:t>https://www.3cx.com/blog/2016/12/07/elastix-5-dials-3cx/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5</a:t>
            </a:r>
          </a:p>
          <a:p>
            <a:endParaRPr/>
          </a:p>
          <a:p>
            <a:r>
              <a:t>Repères oraux</a:t>
            </a:r>
          </a:p>
          <a:p>
            <a:r>
              <a:t>Lire la comparaison comme un repère pédagogique. Licences, compatibilités et cycles de vie changent; vérifier documentation officielle et version.</a:t>
            </a:r>
          </a:p>
          <a:p>
            <a:endParaRPr/>
          </a:p>
          <a:p>
            <a:r>
              <a:t>Références</a:t>
            </a:r>
          </a:p>
          <a:p>
            <a:r>
              <a:t>https://docs.asterisk.org/Fundamentals/Asterisk-Architecture/Asterisk-Architecture-The-Big-Picture/</a:t>
            </a:r>
          </a:p>
          <a:p>
            <a:r>
              <a:t>https://www.cisco.com/c/en/us/td/docs/voice_ip_comm/cucme/admin/configuration/manual/cmeadm.html</a:t>
            </a:r>
          </a:p>
          <a:p>
            <a:r>
              <a:t>https://www.3cx.com/docs/manual/</a:t>
            </a:r>
          </a:p>
          <a:p>
            <a:r>
              <a:t>https://learn.microsoft.com/microsoftteams/direct-routing-landing-page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5</a:t>
            </a:r>
          </a:p>
          <a:p>
            <a:endParaRPr/>
          </a:p>
          <a:p>
            <a:r>
              <a:t>Repères oraux</a:t>
            </a:r>
          </a:p>
          <a:p>
            <a:r>
              <a:t>Synthétiser mobilité, intégration et souplesse avec dépendance réseau, interopérabilité, coûts et risque de fraude. Les résultats dépendent du dimensionnement et de l’exploitation.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5</a:t>
            </a:r>
          </a:p>
          <a:p>
            <a:endParaRPr/>
          </a:p>
          <a:p>
            <a:r>
              <a:t>Repères oraux</a:t>
            </a:r>
          </a:p>
          <a:p>
            <a:r>
              <a:t>Parcourir cadrage, conception, sécurité, pilote et exploitation. Valider appels d’urgence, capacité, tests, documentation et retour arrière selon le contexte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5</a:t>
            </a:r>
          </a:p>
          <a:p>
            <a:endParaRPr/>
          </a:p>
          <a:p>
            <a:r>
              <a:t>Repères oraux</a:t>
            </a:r>
          </a:p>
          <a:p>
            <a:r>
              <a:t>Annoncer la maquette future : Ubuntu Server dans VirtualBox, Asterisk avec PJSIP et deux extensions SIP 1001 et 1002. Elle reste à réaliser.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Membre 5</a:t>
            </a:r>
          </a:p>
          <a:p>
            <a:endParaRPr/>
          </a:p>
          <a:p>
            <a:r>
              <a:t>Repères oraux</a:t>
            </a:r>
          </a:p>
          <a:p>
            <a:r>
              <a:t>Décrire la séquence prévue : VM, installation, endpoints, dialplan, enregistrement, appel et vérification des journaux. Tester le réseau VirtualBox et le chemin média.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Intervenant : Équipe</a:t>
            </a:r>
          </a:p>
          <a:p>
            <a:endParaRPr/>
          </a:p>
          <a:p>
            <a:r>
              <a:t>Repères oraux</a:t>
            </a:r>
          </a:p>
          <a:p>
            <a:r>
              <a:t>Conclure que signalisation, média, codecs, réseau et sécurité forment un service cohérent. Annoncer la future maquette. Mentionner les standards et documentations officielles.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BB06576-5814-4866-8DA0-D4AAAAFB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68614A5-5CF1-472F-ABD3-B6BE2D2B97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D0FFAD5-9A17-46B4-BCD4-BCD12C37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C62A202-D522-4223-B080-6EE84AA21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4AAFAB1-6963-4AD6-B946-6BF6061CB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8360E4E-E202-422F-9E63-9D71FFCA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9D9C4C-6EA8-4048-B717-76DD86F6F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B64A335-B3CD-4841-B617-3FD33918DFF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59A9AF0-0847-4CE6-8196-E78DCE41C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E6C6985-F3E2-4CF3-B7EE-F4FEF02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8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F8D79442-0AF3-4DD3-8BB0-587B72E7EF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37" r="22837"/>
          <a:stretch>
            <a:fillRect/>
          </a:stretch>
        </p:blipFill>
        <p:spPr>
          <a:xfrm>
            <a:off x="5572125" y="0"/>
            <a:ext cx="661987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6F6AF18-C927-4BA3-A909-B4089BB8D0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572250" cy="6858000"/>
          </a:xfrm>
          <a:prstGeom prst="rect">
            <a:avLst/>
          </a:prstGeom>
          <a:solidFill>
            <a:srgbClr val="0B1830"/>
          </a:solidFill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A7A4BD3-A4FF-4C9E-8016-377D2CF2FF01}"/>
              </a:ext>
            </a:extLst>
          </p:cNvPr>
          <p:cNvSpPr>
            <a:spLocks noGrp="1"/>
          </p:cNvSpPr>
          <p:nvPr/>
        </p:nvSpPr>
        <p:spPr>
          <a:xfrm>
            <a:off x="685800" y="933450"/>
            <a:ext cx="647700" cy="57150"/>
          </a:xfrm>
          <a:prstGeom prst="rect">
            <a:avLst/>
          </a:prstGeom>
          <a:solidFill>
            <a:srgbClr val="31B7B0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6EEB8C-2E75-4E49-BAA9-B26EFAAEA46A}"/>
              </a:ext>
            </a:extLst>
          </p:cNvPr>
          <p:cNvSpPr>
            <a:spLocks noGrp="1"/>
          </p:cNvSpPr>
          <p:nvPr/>
        </p:nvSpPr>
        <p:spPr>
          <a:xfrm>
            <a:off x="685800" y="1181100"/>
            <a:ext cx="5619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1">
                <a:solidFill>
                  <a:srgbClr val="31B7B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1">
                <a:solidFill>
                  <a:srgbClr val="31B7B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1B7B0"/>
                </a:solidFill>
                <a:latin typeface="Arial"/>
                <a:ea typeface="Arial"/>
                <a:cs typeface="Arial"/>
              </a:rPr>
              <a:t>ÉTUDE ACADÉMIQUE  |  SERVICE À VALEUR AJOUTÉE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8870CF-E0C2-4DD2-8ADF-32E7DC98E1B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7150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Étude de la</a:t>
            </a:r>
          </a:p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communication</a:t>
            </a:r>
          </a:p>
          <a:p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43CD564-A076-45A2-93E2-A9A7C2B1EDA0}"/>
              </a:ext>
            </a:extLst>
          </p:cNvPr>
          <p:cNvSpPr>
            <a:spLocks noGrp="1"/>
          </p:cNvSpPr>
          <p:nvPr/>
        </p:nvSpPr>
        <p:spPr>
          <a:xfrm>
            <a:off x="685800" y="3790950"/>
            <a:ext cx="5095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6F2"/>
                </a:solidFill>
                <a:latin typeface="Arial"/>
                <a:ea typeface="Arial"/>
                <a:cs typeface="Arial"/>
              </a:rPr>
              <a:t>Principes, technologies, protocoles</a:t>
            </a:r>
          </a:p>
          <a:p>
            <a:pPr algn="l">
              <a:defRPr sz="18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CE6F2"/>
                </a:solidFill>
                <a:latin typeface="Arial"/>
                <a:ea typeface="Arial"/>
                <a:cs typeface="Arial"/>
              </a:rPr>
              <a:t>et mise en œuvre technique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F1DE50-688B-4832-AFB1-835802499B28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52387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Université / </a:t>
            </a:r>
            <a:r>
              <a:rPr sz="1200" b="0" dirty="0" err="1">
                <a:solidFill>
                  <a:srgbClr val="DCE6F2"/>
                </a:solidFill>
                <a:latin typeface="Arial"/>
                <a:ea typeface="Arial"/>
                <a:cs typeface="Arial"/>
              </a:rPr>
              <a:t>filière</a:t>
            </a:r>
            <a:r>
              <a:rPr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 : </a:t>
            </a:r>
            <a:r>
              <a:rPr lang="fr-SN" sz="120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UNIVERSITE ASSANE DE ZIGUINCHOR</a:t>
            </a:r>
          </a:p>
          <a:p>
            <a:pPr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lang="fr-SN" sz="120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                              LICENCE INGENIEURIE INFORMATIQUE</a:t>
            </a:r>
            <a:endParaRPr sz="1200" b="0" dirty="0">
              <a:solidFill>
                <a:srgbClr val="DCE6F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479CC2-723A-4524-8442-8FAD7BAC931B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95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31B7B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1">
                <a:solidFill>
                  <a:srgbClr val="31B7B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1B7B0"/>
                </a:solidFill>
                <a:latin typeface="Arial"/>
                <a:ea typeface="Arial"/>
                <a:cs typeface="Arial"/>
              </a:rPr>
              <a:t>Membres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17C74E-5F36-4A27-92E7-5729CCAAADA6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953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684"/>
          </a:bodyPr>
          <a:lstStyle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fr-S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 MAMADOU SENE  2. MARIE BADJI   3. BASSIROU  YATE</a:t>
            </a:r>
          </a:p>
          <a:p>
            <a:pPr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fr-SN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4. FATMA DIOUM  5. MAMADOU LAMINE CISSOKO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31B5F1-E8D9-433A-A0D3-4E41D1ABF597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523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 lnSpcReduction="20000"/>
          </a:bodyPr>
          <a:lstStyle>
            <a:defPPr algn="l"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DCE6F2"/>
                </a:solidFill>
                <a:latin typeface="Arial"/>
                <a:ea typeface="Arial"/>
                <a:cs typeface="Arial"/>
              </a:rPr>
              <a:t>Professeur</a:t>
            </a:r>
            <a:r>
              <a:rPr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 : </a:t>
            </a:r>
            <a:r>
              <a:rPr lang="fr-SN" sz="120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Dr FAYE</a:t>
            </a:r>
          </a:p>
          <a:p>
            <a:pPr algn="l"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endParaRPr sz="1200" b="0" dirty="0">
              <a:solidFill>
                <a:srgbClr val="DCE6F2"/>
              </a:solidFill>
              <a:latin typeface="Arial"/>
              <a:ea typeface="Arial"/>
              <a:cs typeface="Arial"/>
            </a:endParaRPr>
          </a:p>
          <a:p>
            <a:pPr algn="l">
              <a:defRPr sz="1200" b="0">
                <a:solidFill>
                  <a:srgbClr val="DCE6F2"/>
                </a:solidFill>
                <a:latin typeface="Arial"/>
                <a:ea typeface="Arial"/>
                <a:cs typeface="Arial"/>
              </a:defRPr>
            </a:pPr>
            <a:r>
              <a:rPr sz="1200" b="0" dirty="0" err="1">
                <a:solidFill>
                  <a:srgbClr val="DCE6F2"/>
                </a:solidFill>
                <a:latin typeface="Arial"/>
                <a:ea typeface="Arial"/>
                <a:cs typeface="Arial"/>
              </a:rPr>
              <a:t>Année</a:t>
            </a:r>
            <a:r>
              <a:rPr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 </a:t>
            </a:r>
            <a:r>
              <a:rPr sz="1200" b="0" dirty="0" err="1">
                <a:solidFill>
                  <a:srgbClr val="DCE6F2"/>
                </a:solidFill>
                <a:latin typeface="Arial"/>
                <a:ea typeface="Arial"/>
                <a:cs typeface="Arial"/>
              </a:rPr>
              <a:t>universitaire</a:t>
            </a:r>
            <a:r>
              <a:rPr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 : 202</a:t>
            </a:r>
            <a:r>
              <a:rPr lang="fr-SN"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5</a:t>
            </a:r>
            <a:r>
              <a:rPr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–202</a:t>
            </a:r>
            <a:r>
              <a:rPr lang="fr-SN" sz="1200" b="0" dirty="0">
                <a:solidFill>
                  <a:srgbClr val="DCE6F2"/>
                </a:solidFill>
                <a:latin typeface="Arial"/>
                <a:ea typeface="Arial"/>
                <a:cs typeface="Arial"/>
              </a:rPr>
              <a:t>6</a:t>
            </a:r>
            <a:endParaRPr sz="1200" b="0" dirty="0">
              <a:solidFill>
                <a:srgbClr val="DCE6F2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08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50FC3744-A307-4570-A1F9-6BB91C8C3D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17841F-336B-43B1-8D1C-06D40B78039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304379-820B-4392-98CB-19920B553F79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Sommaire et répartition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1173EE-54F3-413A-8BFD-79C840B5AED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291BC-1CFB-49D2-9552-522A9E1F8FE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02671C-D909-4AD8-9A1B-BDB1677B34C6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433817-96D5-4200-865E-BC7BFCBB8768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80AC74F-8399-43EB-8A34-8562A0F469AC}"/>
              </a:ext>
            </a:extLst>
          </p:cNvPr>
          <p:cNvSpPr>
            <a:spLocks noGrp="1"/>
          </p:cNvSpPr>
          <p:nvPr/>
        </p:nvSpPr>
        <p:spPr>
          <a:xfrm>
            <a:off x="1428750" y="14763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Fondements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323FEE-3562-4974-A898-9091BA08FE7B}"/>
              </a:ext>
            </a:extLst>
          </p:cNvPr>
          <p:cNvSpPr>
            <a:spLocks noGrp="1"/>
          </p:cNvSpPr>
          <p:nvPr/>
        </p:nvSpPr>
        <p:spPr>
          <a:xfrm>
            <a:off x="4381500" y="147637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Introduction, périmètre, architecture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73C3D6-602E-4D83-A7AF-D1C4A78AF8A1}"/>
              </a:ext>
            </a:extLst>
          </p:cNvPr>
          <p:cNvSpPr>
            <a:spLocks noGrp="1"/>
          </p:cNvSpPr>
          <p:nvPr/>
        </p:nvSpPr>
        <p:spPr>
          <a:xfrm>
            <a:off x="762000" y="20669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A33C9F-4B14-49EE-B6CB-E99DF8CEE43B}"/>
              </a:ext>
            </a:extLst>
          </p:cNvPr>
          <p:cNvSpPr>
            <a:spLocks noGrp="1"/>
          </p:cNvSpPr>
          <p:nvPr/>
        </p:nvSpPr>
        <p:spPr>
          <a:xfrm>
            <a:off x="1428750" y="20669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Protocoles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C7D5CE-0F12-4BAA-B058-1529478C4646}"/>
              </a:ext>
            </a:extLst>
          </p:cNvPr>
          <p:cNvSpPr>
            <a:spLocks noGrp="1"/>
          </p:cNvSpPr>
          <p:nvPr/>
        </p:nvSpPr>
        <p:spPr>
          <a:xfrm>
            <a:off x="4381500" y="206692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VoIP, SIP, H.323, MGCP, SCCP, RTP/RTCP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212D66-C27F-4199-AECB-342B0637BA3E}"/>
              </a:ext>
            </a:extLst>
          </p:cNvPr>
          <p:cNvSpPr>
            <a:spLocks noGrp="1"/>
          </p:cNvSpPr>
          <p:nvPr/>
        </p:nvSpPr>
        <p:spPr>
          <a:xfrm>
            <a:off x="762000" y="26574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AB36D9-0373-4457-8260-A08CD2108F1E}"/>
              </a:ext>
            </a:extLst>
          </p:cNvPr>
          <p:cNvSpPr>
            <a:spLocks noGrp="1"/>
          </p:cNvSpPr>
          <p:nvPr/>
        </p:nvSpPr>
        <p:spPr>
          <a:xfrm>
            <a:off x="1428750" y="26574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Qualité et sécurité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32A9C5-6D29-4C3E-8670-6D0F44A133DC}"/>
              </a:ext>
            </a:extLst>
          </p:cNvPr>
          <p:cNvSpPr>
            <a:spLocks noGrp="1"/>
          </p:cNvSpPr>
          <p:nvPr/>
        </p:nvSpPr>
        <p:spPr>
          <a:xfrm>
            <a:off x="4381500" y="265747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Codecs, QoS, menaces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A0BF20-4721-44CE-AD52-8DEBBBB17398}"/>
              </a:ext>
            </a:extLst>
          </p:cNvPr>
          <p:cNvSpPr>
            <a:spLocks noGrp="1"/>
          </p:cNvSpPr>
          <p:nvPr/>
        </p:nvSpPr>
        <p:spPr>
          <a:xfrm>
            <a:off x="762000" y="324802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E49C1C-167D-4576-91C7-DB8993B38B6F}"/>
              </a:ext>
            </a:extLst>
          </p:cNvPr>
          <p:cNvSpPr>
            <a:spLocks noGrp="1"/>
          </p:cNvSpPr>
          <p:nvPr/>
        </p:nvSpPr>
        <p:spPr>
          <a:xfrm>
            <a:off x="1428750" y="324802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Solutions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8D22B6-33EF-4AC7-AF02-C1CC6BFA3805}"/>
              </a:ext>
            </a:extLst>
          </p:cNvPr>
          <p:cNvSpPr>
            <a:spLocks noGrp="1"/>
          </p:cNvSpPr>
          <p:nvPr/>
        </p:nvSpPr>
        <p:spPr>
          <a:xfrm>
            <a:off x="4381500" y="324802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Asterisk, Cisco, 3CX, Teams, produits historiques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81D91BA-DA7C-4782-975E-22B8AD3235B2}"/>
              </a:ext>
            </a:extLst>
          </p:cNvPr>
          <p:cNvSpPr>
            <a:spLocks noGrp="1"/>
          </p:cNvSpPr>
          <p:nvPr/>
        </p:nvSpPr>
        <p:spPr>
          <a:xfrm>
            <a:off x="762000" y="3838575"/>
            <a:ext cx="523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3E4621B-214E-4D3B-9742-444406BA6EFC}"/>
              </a:ext>
            </a:extLst>
          </p:cNvPr>
          <p:cNvSpPr>
            <a:spLocks noGrp="1"/>
          </p:cNvSpPr>
          <p:nvPr/>
        </p:nvSpPr>
        <p:spPr>
          <a:xfrm>
            <a:off x="1428750" y="3838575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Comparaison et pratique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C84DDA-CEC4-4BBD-B4CD-43AD92711A43}"/>
              </a:ext>
            </a:extLst>
          </p:cNvPr>
          <p:cNvSpPr>
            <a:spLocks noGrp="1"/>
          </p:cNvSpPr>
          <p:nvPr/>
        </p:nvSpPr>
        <p:spPr>
          <a:xfrm>
            <a:off x="4381500" y="3838575"/>
            <a:ext cx="642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Déploiement et laboratoire Asterisk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A6D59-E2F7-400C-8854-3D3C65257304}"/>
              </a:ext>
            </a:extLst>
          </p:cNvPr>
          <p:cNvSpPr>
            <a:spLocks noGrp="1"/>
          </p:cNvSpPr>
          <p:nvPr/>
        </p:nvSpPr>
        <p:spPr>
          <a:xfrm>
            <a:off x="809625" y="5737225"/>
            <a:ext cx="1057275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09149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3D0534D-B6DA-4EE8-9310-797F276006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671A74-85AB-4B56-A8BF-938FCBF5E6A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94BB60-ED8A-4CC1-AD06-085D899F8F9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Introduction : problématique et objectifs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2ED18F-726D-461D-977D-3095AE8BD67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D87515-AC3F-45EF-94FC-2DF8F4F9F01B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C58C8C-ECC8-46EF-9526-117FAA1EFB0B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D7A468-AA97-4E6A-A182-73FA573BDBB6}"/>
              </a:ext>
            </a:extLst>
          </p:cNvPr>
          <p:cNvSpPr>
            <a:spLocks noGrp="1"/>
          </p:cNvSpPr>
          <p:nvPr/>
        </p:nvSpPr>
        <p:spPr>
          <a:xfrm>
            <a:off x="781050" y="1638300"/>
            <a:ext cx="381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Problématique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A22DCD-E5B6-4902-8283-4F6B0A5F01EF}"/>
              </a:ext>
            </a:extLst>
          </p:cNvPr>
          <p:cNvSpPr>
            <a:spLocks noGrp="1"/>
          </p:cNvSpPr>
          <p:nvPr/>
        </p:nvSpPr>
        <p:spPr>
          <a:xfrm>
            <a:off x="781050" y="2076450"/>
            <a:ext cx="4619625" cy="1352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0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Comment assembler des technologies et des réseaux différents pour fournir un service vocal fiable, interopérable et sûr 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E588A5-AEA5-4C66-A33A-7D63C5A7EBC8}"/>
              </a:ext>
            </a:extLst>
          </p:cNvPr>
          <p:cNvSpPr>
            <a:spLocks noGrp="1"/>
          </p:cNvSpPr>
          <p:nvPr/>
        </p:nvSpPr>
        <p:spPr>
          <a:xfrm>
            <a:off x="5905500" y="1571625"/>
            <a:ext cx="19050" cy="3429000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0F3CA5-4D90-4969-AD0A-55623AA96456}"/>
              </a:ext>
            </a:extLst>
          </p:cNvPr>
          <p:cNvSpPr>
            <a:spLocks noGrp="1"/>
          </p:cNvSpPr>
          <p:nvPr/>
        </p:nvSpPr>
        <p:spPr>
          <a:xfrm>
            <a:off x="6419850" y="16383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Objectifs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CF44B8-D9A1-49E2-BA26-CCF9E39DFA9E}"/>
              </a:ext>
            </a:extLst>
          </p:cNvPr>
          <p:cNvSpPr>
            <a:spLocks noGrp="1"/>
          </p:cNvSpPr>
          <p:nvPr/>
        </p:nvSpPr>
        <p:spPr>
          <a:xfrm>
            <a:off x="6419850" y="2114550"/>
            <a:ext cx="4714875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Expliquer l’architecture de communication unifiée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Distinguer signalisation et transport du média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Comparer les protocoles et les solutions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Relier QoS et sécurité à la qualité perçue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Préparer une maquette Asterisk sur VirtualBox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340D59-D1C3-44D4-AA84-22AE22AB96F1}"/>
              </a:ext>
            </a:extLst>
          </p:cNvPr>
          <p:cNvSpPr>
            <a:spLocks noGrp="1"/>
          </p:cNvSpPr>
          <p:nvPr/>
        </p:nvSpPr>
        <p:spPr>
          <a:xfrm>
            <a:off x="781050" y="5419725"/>
            <a:ext cx="1000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Fil conducteur : de l’appel IP à un laboratoire vérifiable</a:t>
            </a:r>
          </a:p>
        </p:txBody>
      </p:sp>
    </p:spTree>
    <p:extLst>
      <p:ext uri="{BB962C8B-B14F-4D97-AF65-F5344CB8AC3E}">
        <p14:creationId xmlns:p14="http://schemas.microsoft.com/office/powerpoint/2010/main" val="141941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F717FDC-3959-49E6-A774-D0FEBEC5BD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33C20F-87E1-482B-BBDC-514E503A6C60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63C6B9-8B90-4557-BF27-4A44480C012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Communication unifiée : périmètre et principes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984D0B-45D3-4AAB-8FE3-E833537FE4D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D432A5-8AB9-4E70-9882-F60B88299C0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F488B-1715-4464-9A77-B5F88330090E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810A54-91F5-45AC-83B7-C1F910CCE82B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10096500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9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Une expérience cohérente autour de l’utilisateur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B96977-E77E-442D-94F7-4FA8221A1145}"/>
              </a:ext>
            </a:extLst>
          </p:cNvPr>
          <p:cNvSpPr>
            <a:spLocks noGrp="1"/>
          </p:cNvSpPr>
          <p:nvPr/>
        </p:nvSpPr>
        <p:spPr>
          <a:xfrm>
            <a:off x="781050" y="2209800"/>
            <a:ext cx="2095500" cy="1066800"/>
          </a:xfrm>
          <a:prstGeom prst="rect">
            <a:avLst/>
          </a:prstGeom>
          <a:solidFill>
            <a:srgbClr val="E8F4F3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66248D-8553-42E1-81E1-6B1913586A10}"/>
              </a:ext>
            </a:extLst>
          </p:cNvPr>
          <p:cNvSpPr>
            <a:spLocks noGrp="1"/>
          </p:cNvSpPr>
          <p:nvPr/>
        </p:nvSpPr>
        <p:spPr>
          <a:xfrm>
            <a:off x="876300" y="2381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VOIX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0592A4-D9BE-495D-9EBC-44386CF8BE8E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Téléphonie IP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40C26B-96C7-43A2-9E34-F5359EF76D3D}"/>
              </a:ext>
            </a:extLst>
          </p:cNvPr>
          <p:cNvSpPr>
            <a:spLocks noGrp="1"/>
          </p:cNvSpPr>
          <p:nvPr/>
        </p:nvSpPr>
        <p:spPr>
          <a:xfrm>
            <a:off x="3438525" y="2209800"/>
            <a:ext cx="2095500" cy="1066800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1D8BAA-2FE4-4CAB-A08C-E50121C3F322}"/>
              </a:ext>
            </a:extLst>
          </p:cNvPr>
          <p:cNvSpPr>
            <a:spLocks noGrp="1"/>
          </p:cNvSpPr>
          <p:nvPr/>
        </p:nvSpPr>
        <p:spPr>
          <a:xfrm>
            <a:off x="3533775" y="2381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VIDÉO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4E5C6E-F51C-4382-8313-FA97A8F5BBD7}"/>
              </a:ext>
            </a:extLst>
          </p:cNvPr>
          <p:cNvSpPr>
            <a:spLocks noGrp="1"/>
          </p:cNvSpPr>
          <p:nvPr/>
        </p:nvSpPr>
        <p:spPr>
          <a:xfrm>
            <a:off x="3533775" y="27241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Réunion à distance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3FCE59-58C1-4729-800F-6EA524DE3C3D}"/>
              </a:ext>
            </a:extLst>
          </p:cNvPr>
          <p:cNvSpPr>
            <a:spLocks noGrp="1"/>
          </p:cNvSpPr>
          <p:nvPr/>
        </p:nvSpPr>
        <p:spPr>
          <a:xfrm>
            <a:off x="6096000" y="2209800"/>
            <a:ext cx="2095500" cy="1066800"/>
          </a:xfrm>
          <a:prstGeom prst="rect">
            <a:avLst/>
          </a:prstGeom>
          <a:solidFill>
            <a:srgbClr val="FBF4E3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7B8302-5763-43CE-B456-BFAEE7E1C459}"/>
              </a:ext>
            </a:extLst>
          </p:cNvPr>
          <p:cNvSpPr>
            <a:spLocks noGrp="1"/>
          </p:cNvSpPr>
          <p:nvPr/>
        </p:nvSpPr>
        <p:spPr>
          <a:xfrm>
            <a:off x="6191250" y="2381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MESSAGERIE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BC68B7-30ED-4560-ABBA-562280B757E2}"/>
              </a:ext>
            </a:extLst>
          </p:cNvPr>
          <p:cNvSpPr>
            <a:spLocks noGrp="1"/>
          </p:cNvSpPr>
          <p:nvPr/>
        </p:nvSpPr>
        <p:spPr>
          <a:xfrm>
            <a:off x="6191250" y="27241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Chat et boîte vocale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61E770-E883-4958-9280-C1EA1E8C3E4C}"/>
              </a:ext>
            </a:extLst>
          </p:cNvPr>
          <p:cNvSpPr>
            <a:spLocks noGrp="1"/>
          </p:cNvSpPr>
          <p:nvPr/>
        </p:nvSpPr>
        <p:spPr>
          <a:xfrm>
            <a:off x="8753475" y="2209800"/>
            <a:ext cx="2095500" cy="1066800"/>
          </a:xfrm>
          <a:prstGeom prst="rect">
            <a:avLst/>
          </a:prstGeom>
          <a:solidFill>
            <a:srgbClr val="E8F4F3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0490A9-D016-4E06-A47F-06775D99C4DB}"/>
              </a:ext>
            </a:extLst>
          </p:cNvPr>
          <p:cNvSpPr>
            <a:spLocks noGrp="1"/>
          </p:cNvSpPr>
          <p:nvPr/>
        </p:nvSpPr>
        <p:spPr>
          <a:xfrm>
            <a:off x="8848725" y="2381250"/>
            <a:ext cx="190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PRÉSENCE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18C3A7-64B0-4CCE-B391-EE6E3C0A01ED}"/>
              </a:ext>
            </a:extLst>
          </p:cNvPr>
          <p:cNvSpPr>
            <a:spLocks noGrp="1"/>
          </p:cNvSpPr>
          <p:nvPr/>
        </p:nvSpPr>
        <p:spPr>
          <a:xfrm>
            <a:off x="8848725" y="2724150"/>
            <a:ext cx="190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Disponibilité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C165E5-A498-4F59-B369-90B574F657EE}"/>
              </a:ext>
            </a:extLst>
          </p:cNvPr>
          <p:cNvSpPr>
            <a:spLocks noGrp="1"/>
          </p:cNvSpPr>
          <p:nvPr/>
        </p:nvSpPr>
        <p:spPr>
          <a:xfrm>
            <a:off x="781050" y="3857625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Principes d’architecture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62AF9E-13A9-4362-811D-C77FDFD15760}"/>
              </a:ext>
            </a:extLst>
          </p:cNvPr>
          <p:cNvSpPr>
            <a:spLocks noGrp="1"/>
          </p:cNvSpPr>
          <p:nvPr/>
        </p:nvSpPr>
        <p:spPr>
          <a:xfrm>
            <a:off x="781050" y="4305300"/>
            <a:ext cx="1019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Identité commune  ·  accès multiappareil  ·  interconnexion  ·  sécurité  ·  qualité mesurée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AFD62F-3517-470A-8CAF-4B3457ABB343}"/>
              </a:ext>
            </a:extLst>
          </p:cNvPr>
          <p:cNvSpPr>
            <a:spLocks noGrp="1"/>
          </p:cNvSpPr>
          <p:nvPr/>
        </p:nvSpPr>
        <p:spPr>
          <a:xfrm>
            <a:off x="781050" y="53721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Le périmètre dépend des besoins et de la solution retenue.</a:t>
            </a:r>
          </a:p>
        </p:txBody>
      </p:sp>
    </p:spTree>
    <p:extLst>
      <p:ext uri="{BB962C8B-B14F-4D97-AF65-F5344CB8AC3E}">
        <p14:creationId xmlns:p14="http://schemas.microsoft.com/office/powerpoint/2010/main" val="1705040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3396624-99FC-44BE-AED9-1476E91230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244A12C-AB0B-4AEA-B98A-519D38E4AB32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B85414-9934-4033-A0D5-A8529679F51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Architecture de référence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2AFC2-1285-4F55-8F9E-814E6250EA8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88E37-5556-4A51-B47A-532B5ACA322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216074-431F-4CF0-AA4F-62606A821A21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BB7E53D-3B5F-4836-BC3C-F5C838023D20}"/>
              </a:ext>
            </a:extLst>
          </p:cNvPr>
          <p:cNvSpPr>
            <a:spLocks noGrp="1"/>
          </p:cNvSpPr>
          <p:nvPr/>
        </p:nvSpPr>
        <p:spPr>
          <a:xfrm>
            <a:off x="742950" y="24193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CA466-4D34-40B6-8E66-0976143774C8}"/>
              </a:ext>
            </a:extLst>
          </p:cNvPr>
          <p:cNvSpPr>
            <a:spLocks noGrp="1"/>
          </p:cNvSpPr>
          <p:nvPr/>
        </p:nvSpPr>
        <p:spPr>
          <a:xfrm>
            <a:off x="819150" y="2543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Terminaux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7AEFAC-B2AF-462D-9F98-E8D42012512E}"/>
              </a:ext>
            </a:extLst>
          </p:cNvPr>
          <p:cNvSpPr>
            <a:spLocks noGrp="1"/>
          </p:cNvSpPr>
          <p:nvPr/>
        </p:nvSpPr>
        <p:spPr>
          <a:xfrm>
            <a:off x="838200" y="28765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Téléphone IP · softphone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15DF8C4-9F23-4C9A-89BB-848D08864D29}"/>
              </a:ext>
            </a:extLst>
          </p:cNvPr>
          <p:cNvSpPr>
            <a:spLocks noGrp="1"/>
          </p:cNvSpPr>
          <p:nvPr/>
        </p:nvSpPr>
        <p:spPr>
          <a:xfrm>
            <a:off x="3476625" y="24193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9CCD11-86DC-40CD-BBB4-DC2EF3223C62}"/>
              </a:ext>
            </a:extLst>
          </p:cNvPr>
          <p:cNvSpPr>
            <a:spLocks noGrp="1"/>
          </p:cNvSpPr>
          <p:nvPr/>
        </p:nvSpPr>
        <p:spPr>
          <a:xfrm>
            <a:off x="3552825" y="2543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Réseau LAN/WAN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2064D66-E4CA-4BC8-9C4D-775D2513FD96}"/>
              </a:ext>
            </a:extLst>
          </p:cNvPr>
          <p:cNvSpPr>
            <a:spLocks noGrp="1"/>
          </p:cNvSpPr>
          <p:nvPr/>
        </p:nvSpPr>
        <p:spPr>
          <a:xfrm>
            <a:off x="3571875" y="28765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VLAN voix · QoS · pare-feu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5F282E1-211F-40AD-9F57-81B6261BE24F}"/>
              </a:ext>
            </a:extLst>
          </p:cNvPr>
          <p:cNvSpPr>
            <a:spLocks noGrp="1"/>
          </p:cNvSpPr>
          <p:nvPr/>
        </p:nvSpPr>
        <p:spPr>
          <a:xfrm>
            <a:off x="6210300" y="2419350"/>
            <a:ext cx="2095500" cy="952500"/>
          </a:xfrm>
          <a:prstGeom prst="roundRect">
            <a:avLst>
              <a:gd name="adj" fmla="val 8000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A100D1-E3AB-4DBA-853E-5BFB72B8A0EE}"/>
              </a:ext>
            </a:extLst>
          </p:cNvPr>
          <p:cNvSpPr>
            <a:spLocks noGrp="1"/>
          </p:cNvSpPr>
          <p:nvPr/>
        </p:nvSpPr>
        <p:spPr>
          <a:xfrm>
            <a:off x="6286500" y="2543175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Gestion d’appels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39AEC8-5E92-47E0-95D3-7BC7F4033074}"/>
              </a:ext>
            </a:extLst>
          </p:cNvPr>
          <p:cNvSpPr>
            <a:spLocks noGrp="1"/>
          </p:cNvSpPr>
          <p:nvPr/>
        </p:nvSpPr>
        <p:spPr>
          <a:xfrm>
            <a:off x="6305550" y="2876550"/>
            <a:ext cx="1905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PBX · CUCM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80D3DFD8-86C3-4631-A732-9E45083F96BF}"/>
              </a:ext>
            </a:extLst>
          </p:cNvPr>
          <p:cNvSpPr>
            <a:spLocks noGrp="1"/>
          </p:cNvSpPr>
          <p:nvPr/>
        </p:nvSpPr>
        <p:spPr>
          <a:xfrm>
            <a:off x="8953500" y="2419350"/>
            <a:ext cx="2286000" cy="952500"/>
          </a:xfrm>
          <a:prstGeom prst="roundRect">
            <a:avLst>
              <a:gd name="adj" fmla="val 8000"/>
            </a:avLst>
          </a:prstGeom>
          <a:solidFill>
            <a:srgbClr val="FBF4E3"/>
          </a:solidFill>
          <a:ln w="19050">
            <a:solidFill>
              <a:srgbClr val="E3A73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26D063-6E59-49C2-B7EB-498FF0C61015}"/>
              </a:ext>
            </a:extLst>
          </p:cNvPr>
          <p:cNvSpPr>
            <a:spLocks noGrp="1"/>
          </p:cNvSpPr>
          <p:nvPr/>
        </p:nvSpPr>
        <p:spPr>
          <a:xfrm>
            <a:off x="9029700" y="2543175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Passerelle / SBC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84E45FD-04EB-44CB-93C1-6608E853ACA4}"/>
              </a:ext>
            </a:extLst>
          </p:cNvPr>
          <p:cNvSpPr>
            <a:spLocks noGrp="1"/>
          </p:cNvSpPr>
          <p:nvPr/>
        </p:nvSpPr>
        <p:spPr>
          <a:xfrm>
            <a:off x="9048750" y="2876550"/>
            <a:ext cx="2095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RTC · trunk SIP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E6C2BC4D-B91E-411A-85E7-1D2185D13A57}"/>
              </a:ext>
            </a:extLst>
          </p:cNvPr>
          <p:cNvSpPr>
            <a:spLocks noGrp="1"/>
          </p:cNvSpPr>
          <p:nvPr/>
        </p:nvSpPr>
        <p:spPr>
          <a:xfrm>
            <a:off x="2838450" y="2886075"/>
            <a:ext cx="638175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99CE2E-2223-4166-85C2-918CFB3F01FD}"/>
              </a:ext>
            </a:extLst>
          </p:cNvPr>
          <p:cNvSpPr>
            <a:spLocks noGrp="1"/>
          </p:cNvSpPr>
          <p:nvPr/>
        </p:nvSpPr>
        <p:spPr>
          <a:xfrm>
            <a:off x="2205038" y="26574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 / SCCP</a:t>
            </a: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1BDA4FFF-095F-40CA-B921-73E59AE2F6CC}"/>
              </a:ext>
            </a:extLst>
          </p:cNvPr>
          <p:cNvSpPr>
            <a:spLocks noGrp="1"/>
          </p:cNvSpPr>
          <p:nvPr/>
        </p:nvSpPr>
        <p:spPr>
          <a:xfrm>
            <a:off x="5572125" y="2886075"/>
            <a:ext cx="638175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C89AFB-6481-42DF-AA29-14D3B5F65E26}"/>
              </a:ext>
            </a:extLst>
          </p:cNvPr>
          <p:cNvSpPr>
            <a:spLocks noGrp="1"/>
          </p:cNvSpPr>
          <p:nvPr/>
        </p:nvSpPr>
        <p:spPr>
          <a:xfrm>
            <a:off x="4938713" y="26574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contrôle</a:t>
            </a:r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8008E71A-8D74-4EFF-97CA-058409C4A639}"/>
              </a:ext>
            </a:extLst>
          </p:cNvPr>
          <p:cNvSpPr>
            <a:spLocks noGrp="1"/>
          </p:cNvSpPr>
          <p:nvPr/>
        </p:nvSpPr>
        <p:spPr>
          <a:xfrm>
            <a:off x="8305800" y="2886075"/>
            <a:ext cx="64770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19A29D-79BD-4CE6-9654-855BFA51F992}"/>
              </a:ext>
            </a:extLst>
          </p:cNvPr>
          <p:cNvSpPr>
            <a:spLocks noGrp="1"/>
          </p:cNvSpPr>
          <p:nvPr/>
        </p:nvSpPr>
        <p:spPr>
          <a:xfrm>
            <a:off x="7677150" y="26574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trunk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3CE27C1-8BBB-4628-B750-5987FDA470B7}"/>
              </a:ext>
            </a:extLst>
          </p:cNvPr>
          <p:cNvSpPr>
            <a:spLocks noGrp="1"/>
          </p:cNvSpPr>
          <p:nvPr/>
        </p:nvSpPr>
        <p:spPr>
          <a:xfrm>
            <a:off x="1162050" y="4095750"/>
            <a:ext cx="4762500" cy="723900"/>
          </a:xfrm>
          <a:prstGeom prst="rect">
            <a:avLst/>
          </a:prstGeom>
          <a:solidFill>
            <a:srgbClr val="E8F4F3"/>
          </a:solidFill>
          <a:ln w="9525">
            <a:solidFill>
              <a:srgbClr val="007F8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74549D-727C-444E-B0A7-DCB578EA4F11}"/>
              </a:ext>
            </a:extLst>
          </p:cNvPr>
          <p:cNvSpPr>
            <a:spLocks noGrp="1"/>
          </p:cNvSpPr>
          <p:nvPr/>
        </p:nvSpPr>
        <p:spPr>
          <a:xfrm>
            <a:off x="1362075" y="4257675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PLAN DE CONTRÔLE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5A78FC9-A6F1-41FA-B278-EF965C58A9EC}"/>
              </a:ext>
            </a:extLst>
          </p:cNvPr>
          <p:cNvSpPr>
            <a:spLocks noGrp="1"/>
          </p:cNvSpPr>
          <p:nvPr/>
        </p:nvSpPr>
        <p:spPr>
          <a:xfrm>
            <a:off x="1362075" y="4524375"/>
            <a:ext cx="4333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Enregistrement, routage, négociation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F30BCC-AC31-4837-8955-3D54F0B61F87}"/>
              </a:ext>
            </a:extLst>
          </p:cNvPr>
          <p:cNvSpPr>
            <a:spLocks noGrp="1"/>
          </p:cNvSpPr>
          <p:nvPr/>
        </p:nvSpPr>
        <p:spPr>
          <a:xfrm>
            <a:off x="6257925" y="4095750"/>
            <a:ext cx="4762500" cy="723900"/>
          </a:xfrm>
          <a:prstGeom prst="rect">
            <a:avLst/>
          </a:prstGeom>
          <a:solidFill>
            <a:srgbClr val="EAF1F8"/>
          </a:solidFill>
          <a:ln w="9525">
            <a:solidFill>
              <a:srgbClr val="376F9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635831-C553-4356-94A9-42DED1919DE8}"/>
              </a:ext>
            </a:extLst>
          </p:cNvPr>
          <p:cNvSpPr>
            <a:spLocks noGrp="1"/>
          </p:cNvSpPr>
          <p:nvPr/>
        </p:nvSpPr>
        <p:spPr>
          <a:xfrm>
            <a:off x="6477000" y="425767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PLAN MÉDIA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B1DB0D-E9BC-4132-8C72-5D36CEB372E7}"/>
              </a:ext>
            </a:extLst>
          </p:cNvPr>
          <p:cNvSpPr>
            <a:spLocks noGrp="1"/>
          </p:cNvSpPr>
          <p:nvPr/>
        </p:nvSpPr>
        <p:spPr>
          <a:xfrm>
            <a:off x="6477000" y="4524375"/>
            <a:ext cx="43338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Audio / vidéo transportés par RTP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2B2F4EF-F01A-4F59-B6B7-B2D769932C70}"/>
              </a:ext>
            </a:extLst>
          </p:cNvPr>
          <p:cNvSpPr>
            <a:spLocks noGrp="1"/>
          </p:cNvSpPr>
          <p:nvPr/>
        </p:nvSpPr>
        <p:spPr>
          <a:xfrm>
            <a:off x="1162050" y="5286375"/>
            <a:ext cx="971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Après l’établissement, le média peut circuler directement entre terminaux.</a:t>
            </a:r>
          </a:p>
        </p:txBody>
      </p:sp>
    </p:spTree>
    <p:extLst>
      <p:ext uri="{BB962C8B-B14F-4D97-AF65-F5344CB8AC3E}">
        <p14:creationId xmlns:p14="http://schemas.microsoft.com/office/powerpoint/2010/main" val="1371484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EA07AF4-6DFF-443F-9B07-A01BC8D6A6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5059D7-D3BF-4DC6-B4B4-57AA59D4040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28602-DC49-41D8-BABD-053EC402E1BB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VoIP : établissement et transport d’un appel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3E99D5-0273-4A5B-91AD-5831EACB651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C0549A-39F9-47C3-9F99-8E1DFEEA68D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7BDB96-0BA8-4B06-AC09-1F4647DDFF4C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A0B19CE-C286-43DA-8584-8DB1180006DF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6D82AD-3F63-436D-9298-08CCC7D97EA9}"/>
              </a:ext>
            </a:extLst>
          </p:cNvPr>
          <p:cNvSpPr>
            <a:spLocks noGrp="1"/>
          </p:cNvSpPr>
          <p:nvPr/>
        </p:nvSpPr>
        <p:spPr>
          <a:xfrm>
            <a:off x="933450" y="2409825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Téléphone 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3114E7-2C74-4719-815A-CA3229767259}"/>
              </a:ext>
            </a:extLst>
          </p:cNvPr>
          <p:cNvSpPr>
            <a:spLocks noGrp="1"/>
          </p:cNvSpPr>
          <p:nvPr/>
        </p:nvSpPr>
        <p:spPr>
          <a:xfrm>
            <a:off x="952500" y="27432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Numérisation de la voix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B99E3D5-5B95-406F-834F-71A7B9882B22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3048000" cy="1428750"/>
          </a:xfrm>
          <a:prstGeom prst="roundRect">
            <a:avLst>
              <a:gd name="adj" fmla="val 5333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6A78C-1DE7-4C58-BB5A-1BDC91863E08}"/>
              </a:ext>
            </a:extLst>
          </p:cNvPr>
          <p:cNvSpPr>
            <a:spLocks noGrp="1"/>
          </p:cNvSpPr>
          <p:nvPr/>
        </p:nvSpPr>
        <p:spPr>
          <a:xfrm>
            <a:off x="4648200" y="2219325"/>
            <a:ext cx="2895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Serveur d’appels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B7233-3AD9-4933-85E2-F629F57A0E09}"/>
              </a:ext>
            </a:extLst>
          </p:cNvPr>
          <p:cNvSpPr>
            <a:spLocks noGrp="1"/>
          </p:cNvSpPr>
          <p:nvPr/>
        </p:nvSpPr>
        <p:spPr>
          <a:xfrm>
            <a:off x="4667250" y="2552700"/>
            <a:ext cx="285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Décision de routage</a:t>
            </a:r>
          </a:p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Négociation média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EE2B9C2-E6A3-474C-8AAC-7BF6E7FD110A}"/>
              </a:ext>
            </a:extLst>
          </p:cNvPr>
          <p:cNvSpPr>
            <a:spLocks noGrp="1"/>
          </p:cNvSpPr>
          <p:nvPr/>
        </p:nvSpPr>
        <p:spPr>
          <a:xfrm>
            <a:off x="8572500" y="2286000"/>
            <a:ext cx="23812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40DED2-2C48-4692-8754-DB8AEDAC3029}"/>
              </a:ext>
            </a:extLst>
          </p:cNvPr>
          <p:cNvSpPr>
            <a:spLocks noGrp="1"/>
          </p:cNvSpPr>
          <p:nvPr/>
        </p:nvSpPr>
        <p:spPr>
          <a:xfrm>
            <a:off x="8648700" y="2409825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Téléphone 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695F9A-2111-4207-9204-FD13675ED4B2}"/>
              </a:ext>
            </a:extLst>
          </p:cNvPr>
          <p:cNvSpPr>
            <a:spLocks noGrp="1"/>
          </p:cNvSpPr>
          <p:nvPr/>
        </p:nvSpPr>
        <p:spPr>
          <a:xfrm>
            <a:off x="8667750" y="2743200"/>
            <a:ext cx="219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Restitution audio</a:t>
            </a: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0EF665AA-97F8-4A42-A438-449D054086F9}"/>
              </a:ext>
            </a:extLst>
          </p:cNvPr>
          <p:cNvSpPr>
            <a:spLocks noGrp="1"/>
          </p:cNvSpPr>
          <p:nvPr/>
        </p:nvSpPr>
        <p:spPr>
          <a:xfrm>
            <a:off x="3238500" y="2571750"/>
            <a:ext cx="133350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9E9D5F-C77E-4E25-BEC7-8BBFA7127AA4}"/>
              </a:ext>
            </a:extLst>
          </p:cNvPr>
          <p:cNvSpPr>
            <a:spLocks noGrp="1"/>
          </p:cNvSpPr>
          <p:nvPr/>
        </p:nvSpPr>
        <p:spPr>
          <a:xfrm>
            <a:off x="2952750" y="23431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</a:t>
            </a: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32F8C461-6EBF-497C-BAAB-B19FB79328A6}"/>
              </a:ext>
            </a:extLst>
          </p:cNvPr>
          <p:cNvSpPr>
            <a:spLocks noGrp="1"/>
          </p:cNvSpPr>
          <p:nvPr/>
        </p:nvSpPr>
        <p:spPr>
          <a:xfrm>
            <a:off x="7620000" y="2571750"/>
            <a:ext cx="95250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58027C-5D7A-45EB-BFF5-1D7D6DB9AD6B}"/>
              </a:ext>
            </a:extLst>
          </p:cNvPr>
          <p:cNvSpPr>
            <a:spLocks noGrp="1"/>
          </p:cNvSpPr>
          <p:nvPr/>
        </p:nvSpPr>
        <p:spPr>
          <a:xfrm>
            <a:off x="7143750" y="23431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</a:t>
            </a: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5C72A15B-A493-4249-92FD-C86B55F3B026}"/>
              </a:ext>
            </a:extLst>
          </p:cNvPr>
          <p:cNvSpPr>
            <a:spLocks noGrp="1"/>
          </p:cNvSpPr>
          <p:nvPr/>
        </p:nvSpPr>
        <p:spPr>
          <a:xfrm>
            <a:off x="3238500" y="3133725"/>
            <a:ext cx="5334000" cy="953"/>
          </a:xfrm>
          <a:prstGeom prst="line">
            <a:avLst/>
          </a:prstGeom>
          <a:noFill/>
          <a:ln w="28575">
            <a:solidFill>
              <a:srgbClr val="E3A73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B8F0A0C-39B3-497F-B69B-09DD1A247BE4}"/>
              </a:ext>
            </a:extLst>
          </p:cNvPr>
          <p:cNvSpPr>
            <a:spLocks noGrp="1"/>
          </p:cNvSpPr>
          <p:nvPr/>
        </p:nvSpPr>
        <p:spPr>
          <a:xfrm>
            <a:off x="4524375" y="3248025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RTP : flux audio bidirectionnel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E904370-2613-4AB4-BA49-ACBD2205F003}"/>
              </a:ext>
            </a:extLst>
          </p:cNvPr>
          <p:cNvSpPr>
            <a:spLocks noGrp="1"/>
          </p:cNvSpPr>
          <p:nvPr/>
        </p:nvSpPr>
        <p:spPr>
          <a:xfrm>
            <a:off x="1085850" y="4410075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SIP prépare la session. RTP transporte les trames audio encodées.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51C76-E9FA-4C80-B850-5468E768EE56}"/>
              </a:ext>
            </a:extLst>
          </p:cNvPr>
          <p:cNvSpPr>
            <a:spLocks noGrp="1"/>
          </p:cNvSpPr>
          <p:nvPr/>
        </p:nvSpPr>
        <p:spPr>
          <a:xfrm>
            <a:off x="1085850" y="5181600"/>
            <a:ext cx="1000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Le débit IP comprend le codec et les en-têtes RTP, UDP, IP et réseau.</a:t>
            </a:r>
          </a:p>
        </p:txBody>
      </p:sp>
    </p:spTree>
    <p:extLst>
      <p:ext uri="{BB962C8B-B14F-4D97-AF65-F5344CB8AC3E}">
        <p14:creationId xmlns:p14="http://schemas.microsoft.com/office/powerpoint/2010/main" val="64492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9750637-0E65-47AD-8768-D9DD4E672E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F12925B-D64E-4262-81DE-695C6456FEE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C1FD8B-A490-46F5-AE69-587FDB8F391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SIP : enregistrement et appel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B0CA288-EEF7-4F76-8601-4DED8DDCFBC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57002D-2E79-4CAD-9B48-E3E15B754CE3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E9BBE-F142-4FFB-9106-2287C8D87C4A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ADE5020-7625-4460-B7CE-921378FF77C6}"/>
              </a:ext>
            </a:extLst>
          </p:cNvPr>
          <p:cNvSpPr>
            <a:spLocks noGrp="1"/>
          </p:cNvSpPr>
          <p:nvPr/>
        </p:nvSpPr>
        <p:spPr>
          <a:xfrm>
            <a:off x="895350" y="1485900"/>
            <a:ext cx="142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Téléphone A</a:t>
            </a:r>
          </a:p>
        </p:txBody>
      </p:sp>
      <p:sp>
        <p:nvSpPr>
          <p:cNvPr id="8" name="Connecteur droit 7">
            <a:extLst>
              <a:ext uri="{FF2B5EF4-FFF2-40B4-BE49-F238E27FC236}">
                <a16:creationId xmlns:a16="http://schemas.microsoft.com/office/drawing/2014/main" id="{D5CEE87A-E5FA-46A3-8806-755B02DF5C17}"/>
              </a:ext>
            </a:extLst>
          </p:cNvPr>
          <p:cNvSpPr>
            <a:spLocks noGrp="1"/>
          </p:cNvSpPr>
          <p:nvPr/>
        </p:nvSpPr>
        <p:spPr>
          <a:xfrm>
            <a:off x="1619250" y="1809750"/>
            <a:ext cx="953" cy="3571875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768DB6-3CF9-4DF1-A44D-2656EA5FF878}"/>
              </a:ext>
            </a:extLst>
          </p:cNvPr>
          <p:cNvSpPr>
            <a:spLocks noGrp="1"/>
          </p:cNvSpPr>
          <p:nvPr/>
        </p:nvSpPr>
        <p:spPr>
          <a:xfrm>
            <a:off x="3943350" y="1485900"/>
            <a:ext cx="142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Serveur SIP</a:t>
            </a: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FDD70F17-9F7E-450F-9EAF-C19EEDF1246F}"/>
              </a:ext>
            </a:extLst>
          </p:cNvPr>
          <p:cNvSpPr>
            <a:spLocks noGrp="1"/>
          </p:cNvSpPr>
          <p:nvPr/>
        </p:nvSpPr>
        <p:spPr>
          <a:xfrm>
            <a:off x="4667250" y="1809750"/>
            <a:ext cx="953" cy="3571875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7C5FE2-A9C6-4D27-BD3F-5A115005A3AB}"/>
              </a:ext>
            </a:extLst>
          </p:cNvPr>
          <p:cNvSpPr>
            <a:spLocks noGrp="1"/>
          </p:cNvSpPr>
          <p:nvPr/>
        </p:nvSpPr>
        <p:spPr>
          <a:xfrm>
            <a:off x="6991350" y="1485900"/>
            <a:ext cx="142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Téléphone B</a:t>
            </a:r>
          </a:p>
        </p:txBody>
      </p:sp>
      <p:sp>
        <p:nvSpPr>
          <p:cNvPr id="12" name="Connecteur droit 11">
            <a:extLst>
              <a:ext uri="{FF2B5EF4-FFF2-40B4-BE49-F238E27FC236}">
                <a16:creationId xmlns:a16="http://schemas.microsoft.com/office/drawing/2014/main" id="{CBEDC148-3686-43E3-A1AF-23214EDE763A}"/>
              </a:ext>
            </a:extLst>
          </p:cNvPr>
          <p:cNvSpPr>
            <a:spLocks noGrp="1"/>
          </p:cNvSpPr>
          <p:nvPr/>
        </p:nvSpPr>
        <p:spPr>
          <a:xfrm>
            <a:off x="7715250" y="1809750"/>
            <a:ext cx="953" cy="3571875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2AC696-FB92-43CE-9440-C0170F9D9CA4}"/>
              </a:ext>
            </a:extLst>
          </p:cNvPr>
          <p:cNvSpPr>
            <a:spLocks noGrp="1"/>
          </p:cNvSpPr>
          <p:nvPr/>
        </p:nvSpPr>
        <p:spPr>
          <a:xfrm>
            <a:off x="9753600" y="1485900"/>
            <a:ext cx="1428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Média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7D0FA81B-571D-41D3-8DB3-324A42498D3A}"/>
              </a:ext>
            </a:extLst>
          </p:cNvPr>
          <p:cNvSpPr>
            <a:spLocks noGrp="1"/>
          </p:cNvSpPr>
          <p:nvPr/>
        </p:nvSpPr>
        <p:spPr>
          <a:xfrm>
            <a:off x="10477500" y="1809750"/>
            <a:ext cx="953" cy="3571875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5" name="Connecteur droit 14">
            <a:extLst>
              <a:ext uri="{FF2B5EF4-FFF2-40B4-BE49-F238E27FC236}">
                <a16:creationId xmlns:a16="http://schemas.microsoft.com/office/drawing/2014/main" id="{A4749D98-C266-4B80-AB7E-16B02934E4B7}"/>
              </a:ext>
            </a:extLst>
          </p:cNvPr>
          <p:cNvSpPr>
            <a:spLocks noGrp="1"/>
          </p:cNvSpPr>
          <p:nvPr/>
        </p:nvSpPr>
        <p:spPr>
          <a:xfrm>
            <a:off x="1619250" y="2143125"/>
            <a:ext cx="3048000" cy="953"/>
          </a:xfrm>
          <a:prstGeom prst="line">
            <a:avLst/>
          </a:prstGeom>
          <a:noFill/>
          <a:ln w="19050">
            <a:solidFill>
              <a:srgbClr val="376F9E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C81404-73D1-4EC5-9F00-3E76605E0660}"/>
              </a:ext>
            </a:extLst>
          </p:cNvPr>
          <p:cNvSpPr>
            <a:spLocks noGrp="1"/>
          </p:cNvSpPr>
          <p:nvPr/>
        </p:nvSpPr>
        <p:spPr>
          <a:xfrm>
            <a:off x="2190750" y="191452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E21369E6-E8F9-4F8C-9AC7-664D25C46393}"/>
              </a:ext>
            </a:extLst>
          </p:cNvPr>
          <p:cNvSpPr>
            <a:spLocks noGrp="1"/>
          </p:cNvSpPr>
          <p:nvPr/>
        </p:nvSpPr>
        <p:spPr>
          <a:xfrm>
            <a:off x="1619250" y="2647950"/>
            <a:ext cx="3048000" cy="953"/>
          </a:xfrm>
          <a:prstGeom prst="line">
            <a:avLst/>
          </a:prstGeom>
          <a:noFill/>
          <a:ln w="19050">
            <a:solidFill>
              <a:srgbClr val="376F9E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A16F6FA-40CD-444C-989B-82E848CCE3B3}"/>
              </a:ext>
            </a:extLst>
          </p:cNvPr>
          <p:cNvSpPr>
            <a:spLocks noGrp="1"/>
          </p:cNvSpPr>
          <p:nvPr/>
        </p:nvSpPr>
        <p:spPr>
          <a:xfrm>
            <a:off x="2190750" y="24193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401 challenge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E2A90B5A-E2F7-4BF1-9F48-FBC84AC2EFAC}"/>
              </a:ext>
            </a:extLst>
          </p:cNvPr>
          <p:cNvSpPr>
            <a:spLocks noGrp="1"/>
          </p:cNvSpPr>
          <p:nvPr/>
        </p:nvSpPr>
        <p:spPr>
          <a:xfrm>
            <a:off x="1619250" y="3152775"/>
            <a:ext cx="3048000" cy="953"/>
          </a:xfrm>
          <a:prstGeom prst="line">
            <a:avLst/>
          </a:prstGeom>
          <a:noFill/>
          <a:ln w="19050">
            <a:solidFill>
              <a:srgbClr val="376F9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45E28E-11B7-466D-A639-A662DDC020C4}"/>
              </a:ext>
            </a:extLst>
          </p:cNvPr>
          <p:cNvSpPr>
            <a:spLocks noGrp="1"/>
          </p:cNvSpPr>
          <p:nvPr/>
        </p:nvSpPr>
        <p:spPr>
          <a:xfrm>
            <a:off x="2190750" y="29241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REGISTER + authentification</a:t>
            </a: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8080CAFA-9ACA-4A04-80FD-00D37B95B5EA}"/>
              </a:ext>
            </a:extLst>
          </p:cNvPr>
          <p:cNvSpPr>
            <a:spLocks noGrp="1"/>
          </p:cNvSpPr>
          <p:nvPr/>
        </p:nvSpPr>
        <p:spPr>
          <a:xfrm>
            <a:off x="1619250" y="3657600"/>
            <a:ext cx="3048000" cy="953"/>
          </a:xfrm>
          <a:prstGeom prst="line">
            <a:avLst/>
          </a:prstGeom>
          <a:noFill/>
          <a:ln w="19050">
            <a:solidFill>
              <a:srgbClr val="376F9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92221F-AFDD-4CE9-9986-A56AABDCECDD}"/>
              </a:ext>
            </a:extLst>
          </p:cNvPr>
          <p:cNvSpPr>
            <a:spLocks noGrp="1"/>
          </p:cNvSpPr>
          <p:nvPr/>
        </p:nvSpPr>
        <p:spPr>
          <a:xfrm>
            <a:off x="2190750" y="34290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E27D3EE5-AF07-44E0-B3BA-130F479AB863}"/>
              </a:ext>
            </a:extLst>
          </p:cNvPr>
          <p:cNvSpPr>
            <a:spLocks noGrp="1"/>
          </p:cNvSpPr>
          <p:nvPr/>
        </p:nvSpPr>
        <p:spPr>
          <a:xfrm>
            <a:off x="1619250" y="4162425"/>
            <a:ext cx="6096000" cy="953"/>
          </a:xfrm>
          <a:prstGeom prst="line">
            <a:avLst/>
          </a:prstGeom>
          <a:noFill/>
          <a:ln w="19050">
            <a:solidFill>
              <a:srgbClr val="007F86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50603E-9511-48ED-87A7-CF18C5DB2D85}"/>
              </a:ext>
            </a:extLst>
          </p:cNvPr>
          <p:cNvSpPr>
            <a:spLocks noGrp="1"/>
          </p:cNvSpPr>
          <p:nvPr/>
        </p:nvSpPr>
        <p:spPr>
          <a:xfrm>
            <a:off x="3714750" y="393382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INVITE + SDP</a:t>
            </a:r>
          </a:p>
        </p:txBody>
      </p:sp>
      <p:sp>
        <p:nvSpPr>
          <p:cNvPr id="25" name="Connecteur droit 24">
            <a:extLst>
              <a:ext uri="{FF2B5EF4-FFF2-40B4-BE49-F238E27FC236}">
                <a16:creationId xmlns:a16="http://schemas.microsoft.com/office/drawing/2014/main" id="{C78B654E-53C6-4674-86BA-E23FDC55AF8B}"/>
              </a:ext>
            </a:extLst>
          </p:cNvPr>
          <p:cNvSpPr>
            <a:spLocks noGrp="1"/>
          </p:cNvSpPr>
          <p:nvPr/>
        </p:nvSpPr>
        <p:spPr>
          <a:xfrm>
            <a:off x="1619250" y="4667250"/>
            <a:ext cx="6096000" cy="953"/>
          </a:xfrm>
          <a:prstGeom prst="line">
            <a:avLst/>
          </a:prstGeom>
          <a:noFill/>
          <a:ln w="19050">
            <a:solidFill>
              <a:srgbClr val="007F86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905066-7575-4ACE-86BF-A4997A332C7F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180 Ringing</a:t>
            </a:r>
          </a:p>
        </p:txBody>
      </p:sp>
      <p:sp>
        <p:nvSpPr>
          <p:cNvPr id="27" name="Connecteur droit 26">
            <a:extLst>
              <a:ext uri="{FF2B5EF4-FFF2-40B4-BE49-F238E27FC236}">
                <a16:creationId xmlns:a16="http://schemas.microsoft.com/office/drawing/2014/main" id="{C7D76245-A8BD-46CA-9033-8C29D84C7B4C}"/>
              </a:ext>
            </a:extLst>
          </p:cNvPr>
          <p:cNvSpPr>
            <a:spLocks noGrp="1"/>
          </p:cNvSpPr>
          <p:nvPr/>
        </p:nvSpPr>
        <p:spPr>
          <a:xfrm>
            <a:off x="1619250" y="5172075"/>
            <a:ext cx="6096000" cy="953"/>
          </a:xfrm>
          <a:prstGeom prst="line">
            <a:avLst/>
          </a:prstGeom>
          <a:noFill/>
          <a:ln w="19050">
            <a:solidFill>
              <a:srgbClr val="007F86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08AC83-0556-4D31-991D-6E54FB0EEB32}"/>
              </a:ext>
            </a:extLst>
          </p:cNvPr>
          <p:cNvSpPr>
            <a:spLocks noGrp="1"/>
          </p:cNvSpPr>
          <p:nvPr/>
        </p:nvSpPr>
        <p:spPr>
          <a:xfrm>
            <a:off x="3714750" y="49434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200 OK + SDP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A73A6A-96F0-4D8A-BA81-ACD5C3306F9C}"/>
              </a:ext>
            </a:extLst>
          </p:cNvPr>
          <p:cNvSpPr>
            <a:spLocks noGrp="1"/>
          </p:cNvSpPr>
          <p:nvPr/>
        </p:nvSpPr>
        <p:spPr>
          <a:xfrm>
            <a:off x="1333500" y="5715000"/>
            <a:ext cx="952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35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ACK confirme  ·  RTP transporte l’audio  ·  BYE termine la session</a:t>
            </a:r>
          </a:p>
        </p:txBody>
      </p:sp>
    </p:spTree>
    <p:extLst>
      <p:ext uri="{BB962C8B-B14F-4D97-AF65-F5344CB8AC3E}">
        <p14:creationId xmlns:p14="http://schemas.microsoft.com/office/powerpoint/2010/main" val="611759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DFA7B63-01A5-47F3-BA47-7E362BD473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042392-2691-4EEF-A8CE-0570B809C13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6D65A9-FC7E-4B5A-999E-7EFE698CC6CB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H.323 : suite de protocoles de conférence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BEB032-AF2D-48B6-A0A5-DBB851E4112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F644FE-7093-4036-9BA9-11DC373951E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93F0BE-FA9D-4D34-87EB-72D012CF0EE6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DFC8131-FAF3-4C06-8442-83BB2E7A44A4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223837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B65094-6E10-4872-B488-452DEB7A7EB1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2085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Terminal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9A1CC-1421-43B9-9D89-89CA463D9D2F}"/>
              </a:ext>
            </a:extLst>
          </p:cNvPr>
          <p:cNvSpPr>
            <a:spLocks noGrp="1"/>
          </p:cNvSpPr>
          <p:nvPr/>
        </p:nvSpPr>
        <p:spPr>
          <a:xfrm>
            <a:off x="876300" y="2581275"/>
            <a:ext cx="20478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Audio · vidéo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75AA598-618D-4190-8519-534F500FD83E}"/>
              </a:ext>
            </a:extLst>
          </p:cNvPr>
          <p:cNvSpPr>
            <a:spLocks noGrp="1"/>
          </p:cNvSpPr>
          <p:nvPr/>
        </p:nvSpPr>
        <p:spPr>
          <a:xfrm>
            <a:off x="3886200" y="2124075"/>
            <a:ext cx="233362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E3A73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EFCAA-AAB5-48BE-BBD7-B3895FFA4089}"/>
              </a:ext>
            </a:extLst>
          </p:cNvPr>
          <p:cNvSpPr>
            <a:spLocks noGrp="1"/>
          </p:cNvSpPr>
          <p:nvPr/>
        </p:nvSpPr>
        <p:spPr>
          <a:xfrm>
            <a:off x="3962400" y="2247900"/>
            <a:ext cx="2181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Gatekeeper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37F2C-EAD5-452E-A39D-3E9DEB4EDC61}"/>
              </a:ext>
            </a:extLst>
          </p:cNvPr>
          <p:cNvSpPr>
            <a:spLocks noGrp="1"/>
          </p:cNvSpPr>
          <p:nvPr/>
        </p:nvSpPr>
        <p:spPr>
          <a:xfrm>
            <a:off x="3981450" y="258127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Admission · adresses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6B65510-69FC-48E8-A2F7-3BD04673E72A}"/>
              </a:ext>
            </a:extLst>
          </p:cNvPr>
          <p:cNvSpPr>
            <a:spLocks noGrp="1"/>
          </p:cNvSpPr>
          <p:nvPr/>
        </p:nvSpPr>
        <p:spPr>
          <a:xfrm>
            <a:off x="7105650" y="2124075"/>
            <a:ext cx="2333625" cy="100965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0E385D-6E45-4C29-9A66-CC7F2A51AC71}"/>
              </a:ext>
            </a:extLst>
          </p:cNvPr>
          <p:cNvSpPr>
            <a:spLocks noGrp="1"/>
          </p:cNvSpPr>
          <p:nvPr/>
        </p:nvSpPr>
        <p:spPr>
          <a:xfrm>
            <a:off x="7181850" y="2247900"/>
            <a:ext cx="2181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Passerelle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171B6C-C25E-4073-B92B-F8F29B5A67A2}"/>
              </a:ext>
            </a:extLst>
          </p:cNvPr>
          <p:cNvSpPr>
            <a:spLocks noGrp="1"/>
          </p:cNvSpPr>
          <p:nvPr/>
        </p:nvSpPr>
        <p:spPr>
          <a:xfrm>
            <a:off x="7200900" y="2581275"/>
            <a:ext cx="21431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Interopérabilité RTC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5DE37EB-56DC-41EF-BBBC-610ACE0B734A}"/>
              </a:ext>
            </a:extLst>
          </p:cNvPr>
          <p:cNvSpPr>
            <a:spLocks noGrp="1"/>
          </p:cNvSpPr>
          <p:nvPr/>
        </p:nvSpPr>
        <p:spPr>
          <a:xfrm>
            <a:off x="10287000" y="2333625"/>
            <a:ext cx="11430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93AF28-DF0F-4031-A02F-93970F711E9A}"/>
              </a:ext>
            </a:extLst>
          </p:cNvPr>
          <p:cNvSpPr>
            <a:spLocks noGrp="1"/>
          </p:cNvSpPr>
          <p:nvPr/>
        </p:nvSpPr>
        <p:spPr>
          <a:xfrm>
            <a:off x="10363200" y="24574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RTC</a:t>
            </a: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1839A595-5F11-450F-A14A-A553DA4F18EC}"/>
              </a:ext>
            </a:extLst>
          </p:cNvPr>
          <p:cNvSpPr>
            <a:spLocks noGrp="1"/>
          </p:cNvSpPr>
          <p:nvPr/>
        </p:nvSpPr>
        <p:spPr>
          <a:xfrm>
            <a:off x="3019425" y="2619375"/>
            <a:ext cx="866775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EA4407-2251-4BC4-9A41-3D8D4CF28BFA}"/>
              </a:ext>
            </a:extLst>
          </p:cNvPr>
          <p:cNvSpPr>
            <a:spLocks noGrp="1"/>
          </p:cNvSpPr>
          <p:nvPr/>
        </p:nvSpPr>
        <p:spPr>
          <a:xfrm>
            <a:off x="2500313" y="23907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RAS</a:t>
            </a: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EA1E5DDB-66E3-41FE-BAF7-8ECDD6033802}"/>
              </a:ext>
            </a:extLst>
          </p:cNvPr>
          <p:cNvSpPr>
            <a:spLocks noGrp="1"/>
          </p:cNvSpPr>
          <p:nvPr/>
        </p:nvSpPr>
        <p:spPr>
          <a:xfrm>
            <a:off x="6219825" y="2619375"/>
            <a:ext cx="885825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C8B7A2-8A14-4033-B0A2-A7447D7DE854}"/>
              </a:ext>
            </a:extLst>
          </p:cNvPr>
          <p:cNvSpPr>
            <a:spLocks noGrp="1"/>
          </p:cNvSpPr>
          <p:nvPr/>
        </p:nvSpPr>
        <p:spPr>
          <a:xfrm>
            <a:off x="5710238" y="23907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H.225 / H.245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D0449DBC-FF8D-492D-B60C-557D11E362F8}"/>
              </a:ext>
            </a:extLst>
          </p:cNvPr>
          <p:cNvSpPr>
            <a:spLocks noGrp="1"/>
          </p:cNvSpPr>
          <p:nvPr/>
        </p:nvSpPr>
        <p:spPr>
          <a:xfrm>
            <a:off x="9439275" y="2619375"/>
            <a:ext cx="847725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35E64-B472-4E59-B82E-D1A4EE0C69F9}"/>
              </a:ext>
            </a:extLst>
          </p:cNvPr>
          <p:cNvSpPr>
            <a:spLocks noGrp="1"/>
          </p:cNvSpPr>
          <p:nvPr/>
        </p:nvSpPr>
        <p:spPr>
          <a:xfrm>
            <a:off x="8910638" y="23907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voix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C69EAA-FA9D-4AB9-9110-B214679BD21A}"/>
              </a:ext>
            </a:extLst>
          </p:cNvPr>
          <p:cNvSpPr>
            <a:spLocks noGrp="1"/>
          </p:cNvSpPr>
          <p:nvPr/>
        </p:nvSpPr>
        <p:spPr>
          <a:xfrm>
            <a:off x="800100" y="3848100"/>
            <a:ext cx="22860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Fonctions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050724-1418-4759-A002-71BDF4D45585}"/>
              </a:ext>
            </a:extLst>
          </p:cNvPr>
          <p:cNvSpPr>
            <a:spLocks noGrp="1"/>
          </p:cNvSpPr>
          <p:nvPr/>
        </p:nvSpPr>
        <p:spPr>
          <a:xfrm>
            <a:off x="800100" y="4248150"/>
            <a:ext cx="51435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H.225 : signalisation d’appel et RAS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H.245 : échange des capacités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RTP : flux audio / vidéo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165186-9769-4B21-86B0-85696511031A}"/>
              </a:ext>
            </a:extLst>
          </p:cNvPr>
          <p:cNvSpPr>
            <a:spLocks noGrp="1"/>
          </p:cNvSpPr>
          <p:nvPr/>
        </p:nvSpPr>
        <p:spPr>
          <a:xfrm>
            <a:off x="6715125" y="4191000"/>
            <a:ext cx="44767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Recommandation ITU-T pour les communications multimédias sur réseaux par paquets.</a:t>
            </a:r>
          </a:p>
        </p:txBody>
      </p:sp>
    </p:spTree>
    <p:extLst>
      <p:ext uri="{BB962C8B-B14F-4D97-AF65-F5344CB8AC3E}">
        <p14:creationId xmlns:p14="http://schemas.microsoft.com/office/powerpoint/2010/main" val="1763384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0BCF15CE-BF2A-42F8-A75A-6343FD68DA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FB4061-9595-4829-9F58-EB280DB981A9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CBDEE5-D06E-4EB8-9128-F9901A24C6C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MGCP : contrôle centralisé des passerelles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14BC8A-60B5-469A-92A5-A81581081A7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055A63-0581-4550-AAE0-073359F722E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5EE138-FD4B-4CC4-A00E-8CF12A12B035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BFEFC9C-9850-480F-9941-4F5A84D1079A}"/>
              </a:ext>
            </a:extLst>
          </p:cNvPr>
          <p:cNvSpPr>
            <a:spLocks noGrp="1"/>
          </p:cNvSpPr>
          <p:nvPr/>
        </p:nvSpPr>
        <p:spPr>
          <a:xfrm>
            <a:off x="952500" y="2352675"/>
            <a:ext cx="2857500" cy="1162050"/>
          </a:xfrm>
          <a:prstGeom prst="roundRect">
            <a:avLst>
              <a:gd name="adj" fmla="val 6557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7440AE-96F0-4D52-9233-AB905EC2D890}"/>
              </a:ext>
            </a:extLst>
          </p:cNvPr>
          <p:cNvSpPr>
            <a:spLocks noGrp="1"/>
          </p:cNvSpPr>
          <p:nvPr/>
        </p:nvSpPr>
        <p:spPr>
          <a:xfrm>
            <a:off x="1028700" y="24765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Call Agent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EE962F-54AE-4A29-8751-178EFDDE0E2C}"/>
              </a:ext>
            </a:extLst>
          </p:cNvPr>
          <p:cNvSpPr>
            <a:spLocks noGrp="1"/>
          </p:cNvSpPr>
          <p:nvPr/>
        </p:nvSpPr>
        <p:spPr>
          <a:xfrm>
            <a:off x="1047750" y="2809875"/>
            <a:ext cx="266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Logique d’appel centralisée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1D0D3555-0BD3-4C70-850B-38FAEFA1C32C}"/>
              </a:ext>
            </a:extLst>
          </p:cNvPr>
          <p:cNvSpPr>
            <a:spLocks noGrp="1"/>
          </p:cNvSpPr>
          <p:nvPr/>
        </p:nvSpPr>
        <p:spPr>
          <a:xfrm>
            <a:off x="4857750" y="2352675"/>
            <a:ext cx="28575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599B1-3668-4074-9BEA-2D279667A117}"/>
              </a:ext>
            </a:extLst>
          </p:cNvPr>
          <p:cNvSpPr>
            <a:spLocks noGrp="1"/>
          </p:cNvSpPr>
          <p:nvPr/>
        </p:nvSpPr>
        <p:spPr>
          <a:xfrm>
            <a:off x="4933950" y="2476500"/>
            <a:ext cx="2705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Passerelle média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0180A8-6FB5-4C7C-9B9F-01B850698F47}"/>
              </a:ext>
            </a:extLst>
          </p:cNvPr>
          <p:cNvSpPr>
            <a:spLocks noGrp="1"/>
          </p:cNvSpPr>
          <p:nvPr/>
        </p:nvSpPr>
        <p:spPr>
          <a:xfrm>
            <a:off x="4953000" y="2809875"/>
            <a:ext cx="2667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Terminaisons numériques / analogiques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705D56B-9B0E-4FD8-B225-623C964316A5}"/>
              </a:ext>
            </a:extLst>
          </p:cNvPr>
          <p:cNvSpPr>
            <a:spLocks noGrp="1"/>
          </p:cNvSpPr>
          <p:nvPr/>
        </p:nvSpPr>
        <p:spPr>
          <a:xfrm>
            <a:off x="8763000" y="2352675"/>
            <a:ext cx="2476500" cy="1162050"/>
          </a:xfrm>
          <a:prstGeom prst="roundRect">
            <a:avLst>
              <a:gd name="adj" fmla="val 6557"/>
            </a:avLst>
          </a:prstGeom>
          <a:solidFill>
            <a:srgbClr val="FBF4E3"/>
          </a:solidFill>
          <a:ln w="19050">
            <a:solidFill>
              <a:srgbClr val="E3A73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0E1E14-0E3E-426F-A4FD-36BACCD6064F}"/>
              </a:ext>
            </a:extLst>
          </p:cNvPr>
          <p:cNvSpPr>
            <a:spLocks noGrp="1"/>
          </p:cNvSpPr>
          <p:nvPr/>
        </p:nvSpPr>
        <p:spPr>
          <a:xfrm>
            <a:off x="8839200" y="2476500"/>
            <a:ext cx="2324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Téléphone / RTC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C5A3DE-E978-4E36-BDAE-05436B8F25C2}"/>
              </a:ext>
            </a:extLst>
          </p:cNvPr>
          <p:cNvSpPr>
            <a:spLocks noGrp="1"/>
          </p:cNvSpPr>
          <p:nvPr/>
        </p:nvSpPr>
        <p:spPr>
          <a:xfrm>
            <a:off x="8858250" y="2809875"/>
            <a:ext cx="2286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Extrémité média</a:t>
            </a: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DA19DAC7-D6F2-45CD-B2CE-C029D3C399BE}"/>
              </a:ext>
            </a:extLst>
          </p:cNvPr>
          <p:cNvSpPr>
            <a:spLocks noGrp="1"/>
          </p:cNvSpPr>
          <p:nvPr/>
        </p:nvSpPr>
        <p:spPr>
          <a:xfrm>
            <a:off x="3810000" y="2609850"/>
            <a:ext cx="10477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E98188-8CED-4CAB-82EB-30C158052A7B}"/>
              </a:ext>
            </a:extLst>
          </p:cNvPr>
          <p:cNvSpPr>
            <a:spLocks noGrp="1"/>
          </p:cNvSpPr>
          <p:nvPr/>
        </p:nvSpPr>
        <p:spPr>
          <a:xfrm>
            <a:off x="3381375" y="23812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commandes MGCP</a:t>
            </a: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C8A676E1-03B0-4AA9-ABA2-C203523C92BE}"/>
              </a:ext>
            </a:extLst>
          </p:cNvPr>
          <p:cNvSpPr>
            <a:spLocks noGrp="1"/>
          </p:cNvSpPr>
          <p:nvPr/>
        </p:nvSpPr>
        <p:spPr>
          <a:xfrm>
            <a:off x="7715250" y="2609850"/>
            <a:ext cx="10477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40EA54-08B8-46BB-92FD-50CA0DDE155A}"/>
              </a:ext>
            </a:extLst>
          </p:cNvPr>
          <p:cNvSpPr>
            <a:spLocks noGrp="1"/>
          </p:cNvSpPr>
          <p:nvPr/>
        </p:nvSpPr>
        <p:spPr>
          <a:xfrm>
            <a:off x="7286625" y="23812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établissement</a:t>
            </a: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AED3E022-6959-4E90-9957-8BE15BCE0102}"/>
              </a:ext>
            </a:extLst>
          </p:cNvPr>
          <p:cNvSpPr>
            <a:spLocks noGrp="1"/>
          </p:cNvSpPr>
          <p:nvPr/>
        </p:nvSpPr>
        <p:spPr>
          <a:xfrm>
            <a:off x="7715250" y="3276600"/>
            <a:ext cx="1047750" cy="953"/>
          </a:xfrm>
          <a:prstGeom prst="line">
            <a:avLst/>
          </a:prstGeom>
          <a:noFill/>
          <a:ln w="28575">
            <a:solidFill>
              <a:srgbClr val="E3A73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A2EECD5-E62A-43A4-AE06-135F5CFE6B7D}"/>
              </a:ext>
            </a:extLst>
          </p:cNvPr>
          <p:cNvSpPr>
            <a:spLocks noGrp="1"/>
          </p:cNvSpPr>
          <p:nvPr/>
        </p:nvSpPr>
        <p:spPr>
          <a:xfrm>
            <a:off x="7762875" y="33337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390" lnSpcReduction="20000"/>
          </a:bodyPr>
          <a:lstStyle>
            <a:defPPr algn="ctr">
              <a:defRPr sz="112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12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Média : RTP ou liaison téléphonique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195FE1-AB13-42A2-9825-E73FECFF5A53}"/>
              </a:ext>
            </a:extLst>
          </p:cNvPr>
          <p:cNvSpPr>
            <a:spLocks noGrp="1"/>
          </p:cNvSpPr>
          <p:nvPr/>
        </p:nvSpPr>
        <p:spPr>
          <a:xfrm>
            <a:off x="1209675" y="4591050"/>
            <a:ext cx="98107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Le contrôleur pilote les terminaisons; la passerelle traite les flux média.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B21A095-0787-4D3C-AAF3-238CB0FDD3B1}"/>
              </a:ext>
            </a:extLst>
          </p:cNvPr>
          <p:cNvSpPr>
            <a:spLocks noGrp="1"/>
          </p:cNvSpPr>
          <p:nvPr/>
        </p:nvSpPr>
        <p:spPr>
          <a:xfrm>
            <a:off x="1333500" y="52387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Cas typique : contrôle coordonné d’une passerelle multimédia.</a:t>
            </a:r>
          </a:p>
        </p:txBody>
      </p:sp>
    </p:spTree>
    <p:extLst>
      <p:ext uri="{BB962C8B-B14F-4D97-AF65-F5344CB8AC3E}">
        <p14:creationId xmlns:p14="http://schemas.microsoft.com/office/powerpoint/2010/main" val="1581076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1A91D9D-FE47-41BB-815A-D0FA542EF5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B805FA-5467-4F35-AC18-A33F9FF7362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A0D63D-8859-47CE-95DF-D9549D002BC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SCCP : terminaux Cisco et contrôle d’appel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68809-80CE-4116-AC72-4D68E966F29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696104-4047-4662-8518-A41B6C49DC8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5B05E5-C9C0-4F0D-AE26-F0E97A8BF917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8167BE-DD72-4D9C-86F1-84BCCE36AD0A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61937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1FA0A1-B178-431E-8A74-D7EA893860DC}"/>
              </a:ext>
            </a:extLst>
          </p:cNvPr>
          <p:cNvSpPr>
            <a:spLocks noGrp="1"/>
          </p:cNvSpPr>
          <p:nvPr/>
        </p:nvSpPr>
        <p:spPr>
          <a:xfrm>
            <a:off x="952500" y="244792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Téléphone Cisco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5D6E29-DC7F-46EC-AE4B-599ECAFFF0C5}"/>
              </a:ext>
            </a:extLst>
          </p:cNvPr>
          <p:cNvSpPr>
            <a:spLocks noGrp="1"/>
          </p:cNvSpPr>
          <p:nvPr/>
        </p:nvSpPr>
        <p:spPr>
          <a:xfrm>
            <a:off x="971550" y="2781300"/>
            <a:ext cx="242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Client SCCP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B015907-82E5-49AD-98FD-8F6C08F3693B}"/>
              </a:ext>
            </a:extLst>
          </p:cNvPr>
          <p:cNvSpPr>
            <a:spLocks noGrp="1"/>
          </p:cNvSpPr>
          <p:nvPr/>
        </p:nvSpPr>
        <p:spPr>
          <a:xfrm>
            <a:off x="4772025" y="2324100"/>
            <a:ext cx="2619375" cy="1200150"/>
          </a:xfrm>
          <a:prstGeom prst="roundRect">
            <a:avLst>
              <a:gd name="adj" fmla="val 6349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680083-2C17-4936-BE16-63C8E7C358B2}"/>
              </a:ext>
            </a:extLst>
          </p:cNvPr>
          <p:cNvSpPr>
            <a:spLocks noGrp="1"/>
          </p:cNvSpPr>
          <p:nvPr/>
        </p:nvSpPr>
        <p:spPr>
          <a:xfrm>
            <a:off x="4848225" y="244792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CUCM / CME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BD2037-9F88-4A99-B234-DE77318DBA71}"/>
              </a:ext>
            </a:extLst>
          </p:cNvPr>
          <p:cNvSpPr>
            <a:spLocks noGrp="1"/>
          </p:cNvSpPr>
          <p:nvPr/>
        </p:nvSpPr>
        <p:spPr>
          <a:xfrm>
            <a:off x="4867275" y="2781300"/>
            <a:ext cx="242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Contrôle d’appel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3109ACF-E43C-49E5-B366-8B4D4CA1A246}"/>
              </a:ext>
            </a:extLst>
          </p:cNvPr>
          <p:cNvSpPr>
            <a:spLocks noGrp="1"/>
          </p:cNvSpPr>
          <p:nvPr/>
        </p:nvSpPr>
        <p:spPr>
          <a:xfrm>
            <a:off x="8667750" y="2324100"/>
            <a:ext cx="2619375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5547D-6488-4A89-B937-DF3889B2C593}"/>
              </a:ext>
            </a:extLst>
          </p:cNvPr>
          <p:cNvSpPr>
            <a:spLocks noGrp="1"/>
          </p:cNvSpPr>
          <p:nvPr/>
        </p:nvSpPr>
        <p:spPr>
          <a:xfrm>
            <a:off x="8743950" y="2447925"/>
            <a:ext cx="24669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Autre terminal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67AE04-3E4C-48F9-B4D9-923AE91437FA}"/>
              </a:ext>
            </a:extLst>
          </p:cNvPr>
          <p:cNvSpPr>
            <a:spLocks noGrp="1"/>
          </p:cNvSpPr>
          <p:nvPr/>
        </p:nvSpPr>
        <p:spPr>
          <a:xfrm>
            <a:off x="8763000" y="2781300"/>
            <a:ext cx="242887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Cisco ou interconnexion</a:t>
            </a: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8D25B8C2-E0DB-4128-BE69-A6B481ABFC61}"/>
              </a:ext>
            </a:extLst>
          </p:cNvPr>
          <p:cNvSpPr>
            <a:spLocks noGrp="1"/>
          </p:cNvSpPr>
          <p:nvPr/>
        </p:nvSpPr>
        <p:spPr>
          <a:xfrm>
            <a:off x="3495675" y="2619375"/>
            <a:ext cx="12763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D9BDA-1EB1-41F7-B223-6E4E24B6F5E5}"/>
              </a:ext>
            </a:extLst>
          </p:cNvPr>
          <p:cNvSpPr>
            <a:spLocks noGrp="1"/>
          </p:cNvSpPr>
          <p:nvPr/>
        </p:nvSpPr>
        <p:spPr>
          <a:xfrm>
            <a:off x="3181350" y="23907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SCCP</a:t>
            </a: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E4CF9060-7BE1-4E9E-9BA2-AFE1B68A85C3}"/>
              </a:ext>
            </a:extLst>
          </p:cNvPr>
          <p:cNvSpPr>
            <a:spLocks noGrp="1"/>
          </p:cNvSpPr>
          <p:nvPr/>
        </p:nvSpPr>
        <p:spPr>
          <a:xfrm>
            <a:off x="7391400" y="2619375"/>
            <a:ext cx="12763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2CC669-BC87-454D-ACBE-A1564D38B0FE}"/>
              </a:ext>
            </a:extLst>
          </p:cNvPr>
          <p:cNvSpPr>
            <a:spLocks noGrp="1"/>
          </p:cNvSpPr>
          <p:nvPr/>
        </p:nvSpPr>
        <p:spPr>
          <a:xfrm>
            <a:off x="7077075" y="23907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 / SCCP</a:t>
            </a: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85753C71-523F-40C5-AC07-17CCAB8CFD93}"/>
              </a:ext>
            </a:extLst>
          </p:cNvPr>
          <p:cNvSpPr>
            <a:spLocks noGrp="1"/>
          </p:cNvSpPr>
          <p:nvPr/>
        </p:nvSpPr>
        <p:spPr>
          <a:xfrm>
            <a:off x="3495675" y="3257550"/>
            <a:ext cx="5172075" cy="953"/>
          </a:xfrm>
          <a:prstGeom prst="line">
            <a:avLst/>
          </a:prstGeom>
          <a:noFill/>
          <a:ln w="28575">
            <a:solidFill>
              <a:srgbClr val="E3A73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8955EA-5003-4D23-8A87-861230705EC8}"/>
              </a:ext>
            </a:extLst>
          </p:cNvPr>
          <p:cNvSpPr>
            <a:spLocks noGrp="1"/>
          </p:cNvSpPr>
          <p:nvPr/>
        </p:nvSpPr>
        <p:spPr>
          <a:xfrm>
            <a:off x="4714875" y="3352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RTP : média entre terminaux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7B5EF39-8078-49DC-8E36-6BF672FE4E2E}"/>
              </a:ext>
            </a:extLst>
          </p:cNvPr>
          <p:cNvSpPr>
            <a:spLocks noGrp="1"/>
          </p:cNvSpPr>
          <p:nvPr/>
        </p:nvSpPr>
        <p:spPr>
          <a:xfrm>
            <a:off x="952500" y="4438650"/>
            <a:ext cx="1905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Atout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9B5C9E-B43F-4DDE-B29F-60AC124710DF}"/>
              </a:ext>
            </a:extLst>
          </p:cNvPr>
          <p:cNvSpPr>
            <a:spLocks noGrp="1"/>
          </p:cNvSpPr>
          <p:nvPr/>
        </p:nvSpPr>
        <p:spPr>
          <a:xfrm>
            <a:off x="952500" y="4800600"/>
            <a:ext cx="4476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Intégration étroite avec les téléphones Cisco.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94C1B8-1132-46AD-BC2C-4FBD6F19BA7D}"/>
              </a:ext>
            </a:extLst>
          </p:cNvPr>
          <p:cNvSpPr>
            <a:spLocks noGrp="1"/>
          </p:cNvSpPr>
          <p:nvPr/>
        </p:nvSpPr>
        <p:spPr>
          <a:xfrm>
            <a:off x="6286500" y="443865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À considérer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5E5A64-59A2-4CE5-AC02-00F50B321142}"/>
              </a:ext>
            </a:extLst>
          </p:cNvPr>
          <p:cNvSpPr>
            <a:spLocks noGrp="1"/>
          </p:cNvSpPr>
          <p:nvPr/>
        </p:nvSpPr>
        <p:spPr>
          <a:xfrm>
            <a:off x="6286500" y="4800600"/>
            <a:ext cx="4667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Interopérabilité plus liée aux versions et à l’écosystème.</a:t>
            </a:r>
          </a:p>
        </p:txBody>
      </p:sp>
    </p:spTree>
    <p:extLst>
      <p:ext uri="{BB962C8B-B14F-4D97-AF65-F5344CB8AC3E}">
        <p14:creationId xmlns:p14="http://schemas.microsoft.com/office/powerpoint/2010/main" val="726648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CB55F94-5728-49C4-9592-1048F96B20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FABC6B-BFB1-4E60-AAAA-0E6418E7D4E4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58EEB5-2322-4586-B895-979233BC671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RTP et RTCP : média et suivi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21B3DE-CD23-4952-A5CB-DACB2ABD38F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DA2797-4DF7-46DC-BC1D-1E0E6B9E045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8226A0-57F1-41A2-B6D6-04584522A040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20D338-714D-4D58-8D64-C7C74DE01B47}"/>
              </a:ext>
            </a:extLst>
          </p:cNvPr>
          <p:cNvSpPr>
            <a:spLocks noGrp="1"/>
          </p:cNvSpPr>
          <p:nvPr/>
        </p:nvSpPr>
        <p:spPr>
          <a:xfrm>
            <a:off x="1000125" y="2133600"/>
            <a:ext cx="447675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C61711-F5D1-43F3-82A5-69916A83A7B4}"/>
              </a:ext>
            </a:extLst>
          </p:cNvPr>
          <p:cNvSpPr>
            <a:spLocks noGrp="1"/>
          </p:cNvSpPr>
          <p:nvPr/>
        </p:nvSpPr>
        <p:spPr>
          <a:xfrm>
            <a:off x="1238250" y="234315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RTP  |  transport média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658670-C0C1-4D16-B77C-90EA08507791}"/>
              </a:ext>
            </a:extLst>
          </p:cNvPr>
          <p:cNvSpPr>
            <a:spLocks noGrp="1"/>
          </p:cNvSpPr>
          <p:nvPr/>
        </p:nvSpPr>
        <p:spPr>
          <a:xfrm>
            <a:off x="1238250" y="2905125"/>
            <a:ext cx="1200150" cy="838200"/>
          </a:xfrm>
          <a:prstGeom prst="rect">
            <a:avLst/>
          </a:prstGeom>
          <a:solidFill>
            <a:srgbClr val="E8F4F3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F39A99E-8913-4124-964E-5CC574BE3352}"/>
              </a:ext>
            </a:extLst>
          </p:cNvPr>
          <p:cNvSpPr>
            <a:spLocks noGrp="1"/>
          </p:cNvSpPr>
          <p:nvPr/>
        </p:nvSpPr>
        <p:spPr>
          <a:xfrm>
            <a:off x="1285875" y="303847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Séquence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648370-58AE-406E-84A3-124349E08001}"/>
              </a:ext>
            </a:extLst>
          </p:cNvPr>
          <p:cNvSpPr>
            <a:spLocks noGrp="1"/>
          </p:cNvSpPr>
          <p:nvPr/>
        </p:nvSpPr>
        <p:spPr>
          <a:xfrm>
            <a:off x="1276350" y="33337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ordre / pertes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6334A5-8F7F-4FF9-AEC2-32ACE5C08F55}"/>
              </a:ext>
            </a:extLst>
          </p:cNvPr>
          <p:cNvSpPr>
            <a:spLocks noGrp="1"/>
          </p:cNvSpPr>
          <p:nvPr/>
        </p:nvSpPr>
        <p:spPr>
          <a:xfrm>
            <a:off x="2571750" y="2905125"/>
            <a:ext cx="1200150" cy="838200"/>
          </a:xfrm>
          <a:prstGeom prst="rect">
            <a:avLst/>
          </a:prstGeom>
          <a:solidFill>
            <a:srgbClr val="EAF1F8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6988F37-76D2-4EE8-BA8E-6EF002ADA8F1}"/>
              </a:ext>
            </a:extLst>
          </p:cNvPr>
          <p:cNvSpPr>
            <a:spLocks noGrp="1"/>
          </p:cNvSpPr>
          <p:nvPr/>
        </p:nvSpPr>
        <p:spPr>
          <a:xfrm>
            <a:off x="2619375" y="303847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Horodatage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5A140E-151E-44B1-A61A-0F184F36D0D9}"/>
              </a:ext>
            </a:extLst>
          </p:cNvPr>
          <p:cNvSpPr>
            <a:spLocks noGrp="1"/>
          </p:cNvSpPr>
          <p:nvPr/>
        </p:nvSpPr>
        <p:spPr>
          <a:xfrm>
            <a:off x="2609850" y="33337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lecture / synchro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3A6D73-16E5-4AEC-B627-FCE6B31CF886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1200150" cy="838200"/>
          </a:xfrm>
          <a:prstGeom prst="rect">
            <a:avLst/>
          </a:prstGeom>
          <a:solidFill>
            <a:srgbClr val="FBF4E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59E5BD-B3D3-4E88-9496-E1B3400088CD}"/>
              </a:ext>
            </a:extLst>
          </p:cNvPr>
          <p:cNvSpPr>
            <a:spLocks noGrp="1"/>
          </p:cNvSpPr>
          <p:nvPr/>
        </p:nvSpPr>
        <p:spPr>
          <a:xfrm>
            <a:off x="3952875" y="3038475"/>
            <a:ext cx="1104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Type utile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8634C7-0410-4838-984A-EFCAAC3ECDB8}"/>
              </a:ext>
            </a:extLst>
          </p:cNvPr>
          <p:cNvSpPr>
            <a:spLocks noGrp="1"/>
          </p:cNvSpPr>
          <p:nvPr/>
        </p:nvSpPr>
        <p:spPr>
          <a:xfrm>
            <a:off x="3943350" y="3333750"/>
            <a:ext cx="11239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codec / flux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8C0D6CD-F968-4D35-B748-563D49D9DD25}"/>
              </a:ext>
            </a:extLst>
          </p:cNvPr>
          <p:cNvSpPr>
            <a:spLocks noGrp="1"/>
          </p:cNvSpPr>
          <p:nvPr/>
        </p:nvSpPr>
        <p:spPr>
          <a:xfrm>
            <a:off x="6667500" y="2133600"/>
            <a:ext cx="447675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5D7457-4A6D-4D4A-B13E-3AF30D539271}"/>
              </a:ext>
            </a:extLst>
          </p:cNvPr>
          <p:cNvSpPr>
            <a:spLocks noGrp="1"/>
          </p:cNvSpPr>
          <p:nvPr/>
        </p:nvSpPr>
        <p:spPr>
          <a:xfrm>
            <a:off x="6915150" y="2343150"/>
            <a:ext cx="40005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RTCP  |  suivi de session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98438B-FE02-48D1-B83F-59D44EA8FFF1}"/>
              </a:ext>
            </a:extLst>
          </p:cNvPr>
          <p:cNvSpPr>
            <a:spLocks noGrp="1"/>
          </p:cNvSpPr>
          <p:nvPr/>
        </p:nvSpPr>
        <p:spPr>
          <a:xfrm>
            <a:off x="6915150" y="2857500"/>
            <a:ext cx="39052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33A"/>
                </a:solidFill>
                <a:latin typeface="Arial"/>
                <a:ea typeface="Arial"/>
                <a:cs typeface="Arial"/>
              </a:rPr>
              <a:t>Rapports émetteur / récepteur</a:t>
            </a:r>
          </a:p>
          <a:p>
            <a:pPr marL="228600" indent="-114300" algn="l">
              <a:spcAft>
                <a:spcPts val="700"/>
              </a:spcAft>
              <a:buChar char="•"/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33A"/>
                </a:solidFill>
                <a:latin typeface="Arial"/>
                <a:ea typeface="Arial"/>
                <a:cs typeface="Arial"/>
              </a:rPr>
              <a:t>Statistiques de perte et gigue</a:t>
            </a:r>
          </a:p>
          <a:p>
            <a:pPr marL="228600" indent="-114300" algn="l">
              <a:spcAft>
                <a:spcPts val="700"/>
              </a:spcAft>
              <a:buChar char="•"/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14233A"/>
                </a:solidFill>
                <a:latin typeface="Arial"/>
                <a:ea typeface="Arial"/>
                <a:cs typeface="Arial"/>
              </a:rPr>
              <a:t>Identification et synchronisation</a:t>
            </a: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773AA224-35D2-4647-B175-754F021B21C7}"/>
              </a:ext>
            </a:extLst>
          </p:cNvPr>
          <p:cNvSpPr>
            <a:spLocks noGrp="1"/>
          </p:cNvSpPr>
          <p:nvPr/>
        </p:nvSpPr>
        <p:spPr>
          <a:xfrm>
            <a:off x="5476875" y="3228975"/>
            <a:ext cx="1190625" cy="953"/>
          </a:xfrm>
          <a:prstGeom prst="line">
            <a:avLst/>
          </a:prstGeom>
          <a:noFill/>
          <a:ln w="28575">
            <a:solidFill>
              <a:srgbClr val="007F86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707D7-A1FF-4219-94AB-CAF6AABA3F2C}"/>
              </a:ext>
            </a:extLst>
          </p:cNvPr>
          <p:cNvSpPr>
            <a:spLocks noGrp="1"/>
          </p:cNvSpPr>
          <p:nvPr/>
        </p:nvSpPr>
        <p:spPr>
          <a:xfrm>
            <a:off x="1047750" y="4981575"/>
            <a:ext cx="1009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RTP ne garantit pas la QoS : le réseau et ses politiques restent déterminants.</a:t>
            </a:r>
          </a:p>
        </p:txBody>
      </p:sp>
    </p:spTree>
    <p:extLst>
      <p:ext uri="{BB962C8B-B14F-4D97-AF65-F5344CB8AC3E}">
        <p14:creationId xmlns:p14="http://schemas.microsoft.com/office/powerpoint/2010/main" val="617688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716CDB14-7973-4028-9B8D-AA87223858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C5C501E-5A92-4966-85D5-985875E9EA0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B847D-3BE3-4350-95A4-403D235858E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Codecs : qualité, débit et compatibilité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B942E2-5DF3-4067-8645-1941FCA50B0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9030F3-A51F-4C54-BDA0-BFD5728E689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430185-49E1-43A7-9CF6-6ED3C9E9B897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ABB312-57C2-42BC-9D5D-532D8D422B77}"/>
              </a:ext>
            </a:extLst>
          </p:cNvPr>
          <p:cNvSpPr>
            <a:spLocks noGrp="1"/>
          </p:cNvSpPr>
          <p:nvPr/>
        </p:nvSpPr>
        <p:spPr>
          <a:xfrm>
            <a:off x="781050" y="2019300"/>
            <a:ext cx="1619250" cy="685800"/>
          </a:xfrm>
          <a:prstGeom prst="rect">
            <a:avLst/>
          </a:prstGeom>
          <a:solidFill>
            <a:srgbClr val="0B1830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B4C842-BAAE-4665-A50A-D7DB4547661F}"/>
              </a:ext>
            </a:extLst>
          </p:cNvPr>
          <p:cNvSpPr>
            <a:spLocks noGrp="1"/>
          </p:cNvSpPr>
          <p:nvPr/>
        </p:nvSpPr>
        <p:spPr>
          <a:xfrm>
            <a:off x="876300" y="21812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CFC61-990B-4C92-9DD6-3EFE965F5FBB}"/>
              </a:ext>
            </a:extLst>
          </p:cNvPr>
          <p:cNvSpPr>
            <a:spLocks noGrp="1"/>
          </p:cNvSpPr>
          <p:nvPr/>
        </p:nvSpPr>
        <p:spPr>
          <a:xfrm>
            <a:off x="2400300" y="2019300"/>
            <a:ext cx="1714500" cy="685800"/>
          </a:xfrm>
          <a:prstGeom prst="rect">
            <a:avLst/>
          </a:prstGeom>
          <a:solidFill>
            <a:srgbClr val="0B1830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8A1B3EE-30B2-4F0C-AD1C-0E4B08BF22F8}"/>
              </a:ext>
            </a:extLst>
          </p:cNvPr>
          <p:cNvSpPr>
            <a:spLocks noGrp="1"/>
          </p:cNvSpPr>
          <p:nvPr/>
        </p:nvSpPr>
        <p:spPr>
          <a:xfrm>
            <a:off x="2495550" y="218122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Débit audio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4BE1B7-65A8-42C9-80EB-51FE2819A336}"/>
              </a:ext>
            </a:extLst>
          </p:cNvPr>
          <p:cNvSpPr>
            <a:spLocks noGrp="1"/>
          </p:cNvSpPr>
          <p:nvPr/>
        </p:nvSpPr>
        <p:spPr>
          <a:xfrm>
            <a:off x="4114800" y="2019300"/>
            <a:ext cx="3429000" cy="685800"/>
          </a:xfrm>
          <a:prstGeom prst="rect">
            <a:avLst/>
          </a:prstGeom>
          <a:solidFill>
            <a:srgbClr val="0B1830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2212F8-5441-4873-B212-013C8E813365}"/>
              </a:ext>
            </a:extLst>
          </p:cNvPr>
          <p:cNvSpPr>
            <a:spLocks noGrp="1"/>
          </p:cNvSpPr>
          <p:nvPr/>
        </p:nvSpPr>
        <p:spPr>
          <a:xfrm>
            <a:off x="4210050" y="21812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Profil de choix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7F0799-B88F-4617-A757-679DEF9D5339}"/>
              </a:ext>
            </a:extLst>
          </p:cNvPr>
          <p:cNvSpPr>
            <a:spLocks noGrp="1"/>
          </p:cNvSpPr>
          <p:nvPr/>
        </p:nvSpPr>
        <p:spPr>
          <a:xfrm>
            <a:off x="7543800" y="2019300"/>
            <a:ext cx="3333750" cy="685800"/>
          </a:xfrm>
          <a:prstGeom prst="rect">
            <a:avLst/>
          </a:prstGeom>
          <a:solidFill>
            <a:srgbClr val="0B1830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DF04CF-9C9D-4176-9CB0-F12170AA8612}"/>
              </a:ext>
            </a:extLst>
          </p:cNvPr>
          <p:cNvSpPr>
            <a:spLocks noGrp="1"/>
          </p:cNvSpPr>
          <p:nvPr/>
        </p:nvSpPr>
        <p:spPr>
          <a:xfrm>
            <a:off x="7639050" y="21812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À vérifier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47504B-95DA-499A-A1B7-5828AAE8DF1E}"/>
              </a:ext>
            </a:extLst>
          </p:cNvPr>
          <p:cNvSpPr>
            <a:spLocks noGrp="1"/>
          </p:cNvSpPr>
          <p:nvPr/>
        </p:nvSpPr>
        <p:spPr>
          <a:xfrm>
            <a:off x="781050" y="270510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5A3912-B0B2-4A21-ABD4-2A5FA4C1398A}"/>
              </a:ext>
            </a:extLst>
          </p:cNvPr>
          <p:cNvSpPr>
            <a:spLocks noGrp="1"/>
          </p:cNvSpPr>
          <p:nvPr/>
        </p:nvSpPr>
        <p:spPr>
          <a:xfrm>
            <a:off x="876300" y="28670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G.711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66C1C6A-6C56-45AE-A569-03B1B4F72D64}"/>
              </a:ext>
            </a:extLst>
          </p:cNvPr>
          <p:cNvSpPr>
            <a:spLocks noGrp="1"/>
          </p:cNvSpPr>
          <p:nvPr/>
        </p:nvSpPr>
        <p:spPr>
          <a:xfrm>
            <a:off x="2400300" y="2705100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4796F7-CE2C-4FF1-99A9-AE2B9DBC4526}"/>
              </a:ext>
            </a:extLst>
          </p:cNvPr>
          <p:cNvSpPr>
            <a:spLocks noGrp="1"/>
          </p:cNvSpPr>
          <p:nvPr/>
        </p:nvSpPr>
        <p:spPr>
          <a:xfrm>
            <a:off x="2495550" y="286702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64 kbit/s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EB868F-B2B3-4D35-B2A4-BE6CB4CFC10D}"/>
              </a:ext>
            </a:extLst>
          </p:cNvPr>
          <p:cNvSpPr>
            <a:spLocks noGrp="1"/>
          </p:cNvSpPr>
          <p:nvPr/>
        </p:nvSpPr>
        <p:spPr>
          <a:xfrm>
            <a:off x="4114800" y="2705100"/>
            <a:ext cx="3429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91AD419-7BF5-4C0F-B5D6-28A573988E0D}"/>
              </a:ext>
            </a:extLst>
          </p:cNvPr>
          <p:cNvSpPr>
            <a:spLocks noGrp="1"/>
          </p:cNvSpPr>
          <p:nvPr/>
        </p:nvSpPr>
        <p:spPr>
          <a:xfrm>
            <a:off x="4210050" y="28670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Simplicité et qualité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2FEC30-70CF-4365-8B34-D93DB0A86331}"/>
              </a:ext>
            </a:extLst>
          </p:cNvPr>
          <p:cNvSpPr>
            <a:spLocks noGrp="1"/>
          </p:cNvSpPr>
          <p:nvPr/>
        </p:nvSpPr>
        <p:spPr>
          <a:xfrm>
            <a:off x="7543800" y="2705100"/>
            <a:ext cx="3333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027D448-7E1D-43B1-9597-063AA55E3B2F}"/>
              </a:ext>
            </a:extLst>
          </p:cNvPr>
          <p:cNvSpPr>
            <a:spLocks noGrp="1"/>
          </p:cNvSpPr>
          <p:nvPr/>
        </p:nvSpPr>
        <p:spPr>
          <a:xfrm>
            <a:off x="7639050" y="28670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Bande passante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8569759-8A16-49AC-9D3A-A54419ED20A6}"/>
              </a:ext>
            </a:extLst>
          </p:cNvPr>
          <p:cNvSpPr>
            <a:spLocks noGrp="1"/>
          </p:cNvSpPr>
          <p:nvPr/>
        </p:nvSpPr>
        <p:spPr>
          <a:xfrm>
            <a:off x="781050" y="3390900"/>
            <a:ext cx="161925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F37BC8-12E8-4F93-9AB6-4C412B2371F2}"/>
              </a:ext>
            </a:extLst>
          </p:cNvPr>
          <p:cNvSpPr>
            <a:spLocks noGrp="1"/>
          </p:cNvSpPr>
          <p:nvPr/>
        </p:nvSpPr>
        <p:spPr>
          <a:xfrm>
            <a:off x="876300" y="35528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G.729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FBF5168-AF0C-4B2D-90C2-782C3CF505C8}"/>
              </a:ext>
            </a:extLst>
          </p:cNvPr>
          <p:cNvSpPr>
            <a:spLocks noGrp="1"/>
          </p:cNvSpPr>
          <p:nvPr/>
        </p:nvSpPr>
        <p:spPr>
          <a:xfrm>
            <a:off x="2400300" y="3390900"/>
            <a:ext cx="171450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FF5A7B-688E-4AF2-B864-EF7BFF15B3EB}"/>
              </a:ext>
            </a:extLst>
          </p:cNvPr>
          <p:cNvSpPr>
            <a:spLocks noGrp="1"/>
          </p:cNvSpPr>
          <p:nvPr/>
        </p:nvSpPr>
        <p:spPr>
          <a:xfrm>
            <a:off x="2495550" y="355282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8 kbit/s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EEC5E20-1A55-42D0-ACAC-8E4779924C7A}"/>
              </a:ext>
            </a:extLst>
          </p:cNvPr>
          <p:cNvSpPr>
            <a:spLocks noGrp="1"/>
          </p:cNvSpPr>
          <p:nvPr/>
        </p:nvSpPr>
        <p:spPr>
          <a:xfrm>
            <a:off x="4114800" y="3390900"/>
            <a:ext cx="342900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826B855-0A17-4335-A151-48A1CBB133F4}"/>
              </a:ext>
            </a:extLst>
          </p:cNvPr>
          <p:cNvSpPr>
            <a:spLocks noGrp="1"/>
          </p:cNvSpPr>
          <p:nvPr/>
        </p:nvSpPr>
        <p:spPr>
          <a:xfrm>
            <a:off x="4210050" y="35528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Débit réduit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F883BB1-CEBA-4F7B-BB21-B6E010DC722F}"/>
              </a:ext>
            </a:extLst>
          </p:cNvPr>
          <p:cNvSpPr>
            <a:spLocks noGrp="1"/>
          </p:cNvSpPr>
          <p:nvPr/>
        </p:nvSpPr>
        <p:spPr>
          <a:xfrm>
            <a:off x="7543800" y="3390900"/>
            <a:ext cx="3333750" cy="685800"/>
          </a:xfrm>
          <a:prstGeom prst="rect">
            <a:avLst/>
          </a:prstGeom>
          <a:solidFill>
            <a:srgbClr val="F7F9FC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7E3554-5D8C-433F-9A70-D7AD11552538}"/>
              </a:ext>
            </a:extLst>
          </p:cNvPr>
          <p:cNvSpPr>
            <a:spLocks noGrp="1"/>
          </p:cNvSpPr>
          <p:nvPr/>
        </p:nvSpPr>
        <p:spPr>
          <a:xfrm>
            <a:off x="7639050" y="35528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Licence / prise en charge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45996D-A027-49B0-A419-C6AB155CEB47}"/>
              </a:ext>
            </a:extLst>
          </p:cNvPr>
          <p:cNvSpPr>
            <a:spLocks noGrp="1"/>
          </p:cNvSpPr>
          <p:nvPr/>
        </p:nvSpPr>
        <p:spPr>
          <a:xfrm>
            <a:off x="781050" y="4076700"/>
            <a:ext cx="16192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8939D5-325A-4AFF-9F39-C99EC92683B1}"/>
              </a:ext>
            </a:extLst>
          </p:cNvPr>
          <p:cNvSpPr>
            <a:spLocks noGrp="1"/>
          </p:cNvSpPr>
          <p:nvPr/>
        </p:nvSpPr>
        <p:spPr>
          <a:xfrm>
            <a:off x="876300" y="4238625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Opus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763485F-6C41-4D0F-AB91-2E0FD2CAC5DD}"/>
              </a:ext>
            </a:extLst>
          </p:cNvPr>
          <p:cNvSpPr>
            <a:spLocks noGrp="1"/>
          </p:cNvSpPr>
          <p:nvPr/>
        </p:nvSpPr>
        <p:spPr>
          <a:xfrm>
            <a:off x="2400300" y="4076700"/>
            <a:ext cx="17145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A8C5EE6-396D-40A6-B1D5-3BFA8C3049F2}"/>
              </a:ext>
            </a:extLst>
          </p:cNvPr>
          <p:cNvSpPr>
            <a:spLocks noGrp="1"/>
          </p:cNvSpPr>
          <p:nvPr/>
        </p:nvSpPr>
        <p:spPr>
          <a:xfrm>
            <a:off x="2495550" y="4238625"/>
            <a:ext cx="152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Variable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EA97E58-E95C-41EF-8E6D-4C0BEB3ADE0F}"/>
              </a:ext>
            </a:extLst>
          </p:cNvPr>
          <p:cNvSpPr>
            <a:spLocks noGrp="1"/>
          </p:cNvSpPr>
          <p:nvPr/>
        </p:nvSpPr>
        <p:spPr>
          <a:xfrm>
            <a:off x="4114800" y="4076700"/>
            <a:ext cx="34290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C42D0BA-3AFB-441E-8650-199389A4E35B}"/>
              </a:ext>
            </a:extLst>
          </p:cNvPr>
          <p:cNvSpPr>
            <a:spLocks noGrp="1"/>
          </p:cNvSpPr>
          <p:nvPr/>
        </p:nvSpPr>
        <p:spPr>
          <a:xfrm>
            <a:off x="4210050" y="4238625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Audio interactif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EBB79E1-0C45-4F43-9203-16CCE27DDC0A}"/>
              </a:ext>
            </a:extLst>
          </p:cNvPr>
          <p:cNvSpPr>
            <a:spLocks noGrp="1"/>
          </p:cNvSpPr>
          <p:nvPr/>
        </p:nvSpPr>
        <p:spPr>
          <a:xfrm>
            <a:off x="7543800" y="4076700"/>
            <a:ext cx="33337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0398552-4070-43BB-9578-EE953A1CE8A7}"/>
              </a:ext>
            </a:extLst>
          </p:cNvPr>
          <p:cNvSpPr>
            <a:spLocks noGrp="1"/>
          </p:cNvSpPr>
          <p:nvPr/>
        </p:nvSpPr>
        <p:spPr>
          <a:xfrm>
            <a:off x="7639050" y="4238625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Compatibilité de bout en bout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BED2AC4-5309-479B-A9C3-ABED9AA87CB5}"/>
              </a:ext>
            </a:extLst>
          </p:cNvPr>
          <p:cNvSpPr>
            <a:spLocks noGrp="1"/>
          </p:cNvSpPr>
          <p:nvPr/>
        </p:nvSpPr>
        <p:spPr>
          <a:xfrm>
            <a:off x="781050" y="495300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Le débit affiché ne comprend pas les en-têtes réseau.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E128850-5BC5-4F25-B4EA-E3031F6C2DB6}"/>
              </a:ext>
            </a:extLst>
          </p:cNvPr>
          <p:cNvSpPr>
            <a:spLocks noGrp="1"/>
          </p:cNvSpPr>
          <p:nvPr/>
        </p:nvSpPr>
        <p:spPr>
          <a:xfrm>
            <a:off x="781050" y="537210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Les deux extrémités doivent prendre en charge un mode commun.</a:t>
            </a:r>
          </a:p>
        </p:txBody>
      </p:sp>
    </p:spTree>
    <p:extLst>
      <p:ext uri="{BB962C8B-B14F-4D97-AF65-F5344CB8AC3E}">
        <p14:creationId xmlns:p14="http://schemas.microsoft.com/office/powerpoint/2010/main" val="1621567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23D6BFA-2D83-4FC3-AC2D-23F610285B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B601EB-FFD2-47EC-A191-3BCE9CD515B5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9A5C0-D646-40C8-82E5-FD4B56E5147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QoS : préserver l’intelligibilité de la voix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9ED91BE-4416-40EF-88D8-58BA6259825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A13CF4-05E7-4416-A32F-D168379405CD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C446E9-13F3-4905-96DD-6C9EAEAF5E24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8A5112-3FCC-4C5A-B906-DC564B933AA4}"/>
              </a:ext>
            </a:extLst>
          </p:cNvPr>
          <p:cNvSpPr>
            <a:spLocks noGrp="1"/>
          </p:cNvSpPr>
          <p:nvPr/>
        </p:nvSpPr>
        <p:spPr>
          <a:xfrm>
            <a:off x="781050" y="172402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Latence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F8EF1C-0C69-440E-905B-FE04075B9B05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Délai de bout en bout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91E6E1-7701-41D1-896F-0CC404EBFD84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Conversation retardée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6D881B-39F5-4C6C-9B29-FA21841AE476}"/>
              </a:ext>
            </a:extLst>
          </p:cNvPr>
          <p:cNvSpPr>
            <a:spLocks noGrp="1"/>
          </p:cNvSpPr>
          <p:nvPr/>
        </p:nvSpPr>
        <p:spPr>
          <a:xfrm>
            <a:off x="4352925" y="172402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Gigue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CC7DB4-4E0D-4E26-A96D-98A10DA1954C}"/>
              </a:ext>
            </a:extLst>
          </p:cNvPr>
          <p:cNvSpPr>
            <a:spLocks noGrp="1"/>
          </p:cNvSpPr>
          <p:nvPr/>
        </p:nvSpPr>
        <p:spPr>
          <a:xfrm>
            <a:off x="4352925" y="21145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Variation du délai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383698-06AC-4E1B-89BF-6811E7524BBB}"/>
              </a:ext>
            </a:extLst>
          </p:cNvPr>
          <p:cNvSpPr>
            <a:spLocks noGrp="1"/>
          </p:cNvSpPr>
          <p:nvPr/>
        </p:nvSpPr>
        <p:spPr>
          <a:xfrm>
            <a:off x="4352925" y="24574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Audio haché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B55680-1DE3-425D-A005-6FAE765AD038}"/>
              </a:ext>
            </a:extLst>
          </p:cNvPr>
          <p:cNvSpPr>
            <a:spLocks noGrp="1"/>
          </p:cNvSpPr>
          <p:nvPr/>
        </p:nvSpPr>
        <p:spPr>
          <a:xfrm>
            <a:off x="7924800" y="1724025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Perte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5B600E-449C-4D04-8282-BF6D629C94F6}"/>
              </a:ext>
            </a:extLst>
          </p:cNvPr>
          <p:cNvSpPr>
            <a:spLocks noGrp="1"/>
          </p:cNvSpPr>
          <p:nvPr/>
        </p:nvSpPr>
        <p:spPr>
          <a:xfrm>
            <a:off x="7924800" y="2114550"/>
            <a:ext cx="3143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Paquets absents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190F8A-9FCD-4B63-BFA2-EF7B748F0087}"/>
              </a:ext>
            </a:extLst>
          </p:cNvPr>
          <p:cNvSpPr>
            <a:spLocks noGrp="1"/>
          </p:cNvSpPr>
          <p:nvPr/>
        </p:nvSpPr>
        <p:spPr>
          <a:xfrm>
            <a:off x="7924800" y="2457450"/>
            <a:ext cx="3143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Coupures / syllabes perdues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6B9BC7-1C11-4E77-8DD3-4D93BB393767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1038225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25E49E-1EF3-4A7A-84F0-BE1C210C5AC2}"/>
              </a:ext>
            </a:extLst>
          </p:cNvPr>
          <p:cNvSpPr>
            <a:spLocks noGrp="1"/>
          </p:cNvSpPr>
          <p:nvPr/>
        </p:nvSpPr>
        <p:spPr>
          <a:xfrm>
            <a:off x="781050" y="3552825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Mesures réseau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8D8395-827F-46B8-ADE5-C85E9522D019}"/>
              </a:ext>
            </a:extLst>
          </p:cNvPr>
          <p:cNvSpPr>
            <a:spLocks noGrp="1"/>
          </p:cNvSpPr>
          <p:nvPr/>
        </p:nvSpPr>
        <p:spPr>
          <a:xfrm>
            <a:off x="781050" y="3981450"/>
            <a:ext cx="101917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Séparer le trafic voix avec un VLAN lorsque possible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Prioriser le trafic sur chaque équipement traversé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Dimensionner les liens selon codec et appels simultanés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Mesurer gigue, perte et délai aux heures de charge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1051E0-26DC-4EE2-ACB0-DA774BCC0041}"/>
              </a:ext>
            </a:extLst>
          </p:cNvPr>
          <p:cNvSpPr>
            <a:spLocks noGrp="1"/>
          </p:cNvSpPr>
          <p:nvPr/>
        </p:nvSpPr>
        <p:spPr>
          <a:xfrm>
            <a:off x="781050" y="5753100"/>
            <a:ext cx="1019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Le marquage DSCP n’a d’effet que si les équipements le traitent correctement.</a:t>
            </a:r>
          </a:p>
        </p:txBody>
      </p:sp>
    </p:spTree>
    <p:extLst>
      <p:ext uri="{BB962C8B-B14F-4D97-AF65-F5344CB8AC3E}">
        <p14:creationId xmlns:p14="http://schemas.microsoft.com/office/powerpoint/2010/main" val="1909542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1EA34A9-6421-4ABA-9654-3D9FDBAAFE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314D560-089D-42D7-8CFD-7DB3EEBB587F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F6C1E9-3216-48CB-80DA-2B33A73F229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Sécurité : menaces et protections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AAB8D7-00C1-4CD0-9903-3F278C16AE1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A11904-9535-4A77-BB1D-2552A5A6D30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7B9094-4D58-4173-8D2D-D6DB8A947F68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D4BF6A-8249-4671-8ABD-841182CF81C2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10477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E536ED-E23B-419D-9294-127A001D5853}"/>
              </a:ext>
            </a:extLst>
          </p:cNvPr>
          <p:cNvSpPr>
            <a:spLocks noGrp="1"/>
          </p:cNvSpPr>
          <p:nvPr/>
        </p:nvSpPr>
        <p:spPr>
          <a:xfrm>
            <a:off x="933450" y="1809750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Usurpation / identifiants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93772A-6A74-4497-8D0B-D53377BC8355}"/>
              </a:ext>
            </a:extLst>
          </p:cNvPr>
          <p:cNvSpPr>
            <a:spLocks noGrp="1"/>
          </p:cNvSpPr>
          <p:nvPr/>
        </p:nvSpPr>
        <p:spPr>
          <a:xfrm>
            <a:off x="3562350" y="18097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Enregistrement frauduleux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13D4D2-063B-4772-976F-645923A33DD1}"/>
              </a:ext>
            </a:extLst>
          </p:cNvPr>
          <p:cNvSpPr>
            <a:spLocks noGrp="1"/>
          </p:cNvSpPr>
          <p:nvPr/>
        </p:nvSpPr>
        <p:spPr>
          <a:xfrm>
            <a:off x="6477000" y="1800225"/>
            <a:ext cx="447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Secrets uniques, filtrage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0D72E2-2D76-48BA-A443-3933BCDBF499}"/>
              </a:ext>
            </a:extLst>
          </p:cNvPr>
          <p:cNvSpPr>
            <a:spLocks noGrp="1"/>
          </p:cNvSpPr>
          <p:nvPr/>
        </p:nvSpPr>
        <p:spPr>
          <a:xfrm>
            <a:off x="781050" y="2533650"/>
            <a:ext cx="10477500" cy="781050"/>
          </a:xfrm>
          <a:prstGeom prst="rect">
            <a:avLst/>
          </a:prstGeom>
          <a:solidFill>
            <a:srgbClr val="F7F9FC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153376-E0B4-4AB8-AD33-5428845D0658}"/>
              </a:ext>
            </a:extLst>
          </p:cNvPr>
          <p:cNvSpPr>
            <a:spLocks noGrp="1"/>
          </p:cNvSpPr>
          <p:nvPr/>
        </p:nvSpPr>
        <p:spPr>
          <a:xfrm>
            <a:off x="933450" y="2686050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Écoute des flux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1F9B73-DAA5-4180-9C8C-2F6544E0F9A6}"/>
              </a:ext>
            </a:extLst>
          </p:cNvPr>
          <p:cNvSpPr>
            <a:spLocks noGrp="1"/>
          </p:cNvSpPr>
          <p:nvPr/>
        </p:nvSpPr>
        <p:spPr>
          <a:xfrm>
            <a:off x="3562350" y="26860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Confidentialité compromise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6BF3E5-F733-443B-96D6-5BA080677968}"/>
              </a:ext>
            </a:extLst>
          </p:cNvPr>
          <p:cNvSpPr>
            <a:spLocks noGrp="1"/>
          </p:cNvSpPr>
          <p:nvPr/>
        </p:nvSpPr>
        <p:spPr>
          <a:xfrm>
            <a:off x="6477000" y="2676525"/>
            <a:ext cx="447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TLS / SRTP si pris en charge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231B2E3-2D4C-418B-93AB-BE600A798C50}"/>
              </a:ext>
            </a:extLst>
          </p:cNvPr>
          <p:cNvSpPr>
            <a:spLocks noGrp="1"/>
          </p:cNvSpPr>
          <p:nvPr/>
        </p:nvSpPr>
        <p:spPr>
          <a:xfrm>
            <a:off x="781050" y="3409950"/>
            <a:ext cx="10477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293A33-0D68-48DE-BF13-D7F1CAB55C3C}"/>
              </a:ext>
            </a:extLst>
          </p:cNvPr>
          <p:cNvSpPr>
            <a:spLocks noGrp="1"/>
          </p:cNvSpPr>
          <p:nvPr/>
        </p:nvSpPr>
        <p:spPr>
          <a:xfrm>
            <a:off x="933450" y="3562350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Fraude téléphonique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F369F63-C00C-4BD8-8FB3-7B7FDF2C26A0}"/>
              </a:ext>
            </a:extLst>
          </p:cNvPr>
          <p:cNvSpPr>
            <a:spLocks noGrp="1"/>
          </p:cNvSpPr>
          <p:nvPr/>
        </p:nvSpPr>
        <p:spPr>
          <a:xfrm>
            <a:off x="3562350" y="35623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Appels non autorisés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426914-99D4-4421-B10A-F8D282736714}"/>
              </a:ext>
            </a:extLst>
          </p:cNvPr>
          <p:cNvSpPr>
            <a:spLocks noGrp="1"/>
          </p:cNvSpPr>
          <p:nvPr/>
        </p:nvSpPr>
        <p:spPr>
          <a:xfrm>
            <a:off x="6477000" y="3552825"/>
            <a:ext cx="447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Règles, plafonds, alertes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549986-4404-4BEA-B1A4-329874FAE01D}"/>
              </a:ext>
            </a:extLst>
          </p:cNvPr>
          <p:cNvSpPr>
            <a:spLocks noGrp="1"/>
          </p:cNvSpPr>
          <p:nvPr/>
        </p:nvSpPr>
        <p:spPr>
          <a:xfrm>
            <a:off x="781050" y="4286250"/>
            <a:ext cx="10477500" cy="781050"/>
          </a:xfrm>
          <a:prstGeom prst="rect">
            <a:avLst/>
          </a:prstGeom>
          <a:solidFill>
            <a:srgbClr val="F7F9FC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3858FE-6B79-406C-AB83-66FDB65F420F}"/>
              </a:ext>
            </a:extLst>
          </p:cNvPr>
          <p:cNvSpPr>
            <a:spLocks noGrp="1"/>
          </p:cNvSpPr>
          <p:nvPr/>
        </p:nvSpPr>
        <p:spPr>
          <a:xfrm>
            <a:off x="933450" y="4438650"/>
            <a:ext cx="2476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Déni de 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BE4014-DC4D-4BBE-9901-FB3E2C50E997}"/>
              </a:ext>
            </a:extLst>
          </p:cNvPr>
          <p:cNvSpPr>
            <a:spLocks noGrp="1"/>
          </p:cNvSpPr>
          <p:nvPr/>
        </p:nvSpPr>
        <p:spPr>
          <a:xfrm>
            <a:off x="3562350" y="4438650"/>
            <a:ext cx="2667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Interruption du service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346D97-C70C-40CB-8C28-B12E6497F1CD}"/>
              </a:ext>
            </a:extLst>
          </p:cNvPr>
          <p:cNvSpPr>
            <a:spLocks noGrp="1"/>
          </p:cNvSpPr>
          <p:nvPr/>
        </p:nvSpPr>
        <p:spPr>
          <a:xfrm>
            <a:off x="6477000" y="4429125"/>
            <a:ext cx="4476750" cy="409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Mises à jour, pare-feu, journaux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F00FE1-89D1-4487-BF96-D8F42DD1FF87}"/>
              </a:ext>
            </a:extLst>
          </p:cNvPr>
          <p:cNvSpPr>
            <a:spLocks noGrp="1"/>
          </p:cNvSpPr>
          <p:nvPr/>
        </p:nvSpPr>
        <p:spPr>
          <a:xfrm>
            <a:off x="857250" y="53816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Prévoir aussi les sauvegardes, les accès d’administration et les mises à jour.</a:t>
            </a:r>
          </a:p>
        </p:txBody>
      </p:sp>
    </p:spTree>
    <p:extLst>
      <p:ext uri="{BB962C8B-B14F-4D97-AF65-F5344CB8AC3E}">
        <p14:creationId xmlns:p14="http://schemas.microsoft.com/office/powerpoint/2010/main" val="2052018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EBD5ADA-5CFF-45BE-BE87-67700ADD35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C5EFCD-B711-493C-AD86-E9C300349C3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2C9021-4CD7-4455-B8CD-EE21F8C94497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Asterisk : PBX modulaire et configurable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7B7177-9E9C-46E9-8841-5EF5A9B7C0D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C69B9B-7CD9-42E9-8918-D98974357A0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7C5946-F5D8-44E2-8233-F630A109D804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D8CAA9A-5062-48B0-8D6A-C7BD4CA4D0E2}"/>
              </a:ext>
            </a:extLst>
          </p:cNvPr>
          <p:cNvSpPr>
            <a:spLocks noGrp="1"/>
          </p:cNvSpPr>
          <p:nvPr/>
        </p:nvSpPr>
        <p:spPr>
          <a:xfrm>
            <a:off x="781050" y="232410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35E9E5-627A-489F-8F0F-28E76A7C3F4E}"/>
              </a:ext>
            </a:extLst>
          </p:cNvPr>
          <p:cNvSpPr>
            <a:spLocks noGrp="1"/>
          </p:cNvSpPr>
          <p:nvPr/>
        </p:nvSpPr>
        <p:spPr>
          <a:xfrm>
            <a:off x="857250" y="244792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Téléphones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A3CDD1-AA58-4B8C-B1CC-F878616DD460}"/>
              </a:ext>
            </a:extLst>
          </p:cNvPr>
          <p:cNvSpPr>
            <a:spLocks noGrp="1"/>
          </p:cNvSpPr>
          <p:nvPr/>
        </p:nvSpPr>
        <p:spPr>
          <a:xfrm>
            <a:off x="876300" y="27813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PJSIP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1433DD1-601C-498C-8014-FFCD5D4F9784}"/>
              </a:ext>
            </a:extLst>
          </p:cNvPr>
          <p:cNvSpPr>
            <a:spLocks noGrp="1"/>
          </p:cNvSpPr>
          <p:nvPr/>
        </p:nvSpPr>
        <p:spPr>
          <a:xfrm>
            <a:off x="3543300" y="232410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C272CA-C87B-4805-9E32-02B1002FE361}"/>
              </a:ext>
            </a:extLst>
          </p:cNvPr>
          <p:cNvSpPr>
            <a:spLocks noGrp="1"/>
          </p:cNvSpPr>
          <p:nvPr/>
        </p:nvSpPr>
        <p:spPr>
          <a:xfrm>
            <a:off x="3619500" y="244792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Pilotes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534B0F-10AF-49BD-B139-FB9BEC3E242F}"/>
              </a:ext>
            </a:extLst>
          </p:cNvPr>
          <p:cNvSpPr>
            <a:spLocks noGrp="1"/>
          </p:cNvSpPr>
          <p:nvPr/>
        </p:nvSpPr>
        <p:spPr>
          <a:xfrm>
            <a:off x="3638550" y="27813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chan_pjsip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90E052B-CFA1-45BC-AA0D-F29067D3F836}"/>
              </a:ext>
            </a:extLst>
          </p:cNvPr>
          <p:cNvSpPr>
            <a:spLocks noGrp="1"/>
          </p:cNvSpPr>
          <p:nvPr/>
        </p:nvSpPr>
        <p:spPr>
          <a:xfrm>
            <a:off x="6305550" y="2324100"/>
            <a:ext cx="2190750" cy="1066800"/>
          </a:xfrm>
          <a:prstGeom prst="roundRect">
            <a:avLst>
              <a:gd name="adj" fmla="val 7143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B29283-0206-4A83-80B6-A0D2FCAE9721}"/>
              </a:ext>
            </a:extLst>
          </p:cNvPr>
          <p:cNvSpPr>
            <a:spLocks noGrp="1"/>
          </p:cNvSpPr>
          <p:nvPr/>
        </p:nvSpPr>
        <p:spPr>
          <a:xfrm>
            <a:off x="6381750" y="2447925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Cœur PBX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F7736A6-647F-44BF-83A2-C8847F2C0AAA}"/>
              </a:ext>
            </a:extLst>
          </p:cNvPr>
          <p:cNvSpPr>
            <a:spLocks noGrp="1"/>
          </p:cNvSpPr>
          <p:nvPr/>
        </p:nvSpPr>
        <p:spPr>
          <a:xfrm>
            <a:off x="6400800" y="2781300"/>
            <a:ext cx="2000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canaux / ponts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D2D8F59-45F6-44F2-919E-D2B2B2745638}"/>
              </a:ext>
            </a:extLst>
          </p:cNvPr>
          <p:cNvSpPr>
            <a:spLocks noGrp="1"/>
          </p:cNvSpPr>
          <p:nvPr/>
        </p:nvSpPr>
        <p:spPr>
          <a:xfrm>
            <a:off x="9067800" y="2324100"/>
            <a:ext cx="2047875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1F3A35-9177-4686-9967-904756EDD719}"/>
              </a:ext>
            </a:extLst>
          </p:cNvPr>
          <p:cNvSpPr>
            <a:spLocks noGrp="1"/>
          </p:cNvSpPr>
          <p:nvPr/>
        </p:nvSpPr>
        <p:spPr>
          <a:xfrm>
            <a:off x="9144000" y="2447925"/>
            <a:ext cx="18954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Dialplan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333BBD-288B-4B38-B1B8-87849DEFD9DD}"/>
              </a:ext>
            </a:extLst>
          </p:cNvPr>
          <p:cNvSpPr>
            <a:spLocks noGrp="1"/>
          </p:cNvSpPr>
          <p:nvPr/>
        </p:nvSpPr>
        <p:spPr>
          <a:xfrm>
            <a:off x="9163050" y="2781300"/>
            <a:ext cx="1857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règles d’appel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713AAA9F-9EA5-46D3-A2AB-E8B3F640F7EE}"/>
              </a:ext>
            </a:extLst>
          </p:cNvPr>
          <p:cNvSpPr>
            <a:spLocks noGrp="1"/>
          </p:cNvSpPr>
          <p:nvPr/>
        </p:nvSpPr>
        <p:spPr>
          <a:xfrm>
            <a:off x="2971800" y="2857500"/>
            <a:ext cx="57150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12CCF509-0741-4BE3-9242-5F54CE0F26D2}"/>
              </a:ext>
            </a:extLst>
          </p:cNvPr>
          <p:cNvSpPr>
            <a:spLocks noGrp="1"/>
          </p:cNvSpPr>
          <p:nvPr/>
        </p:nvSpPr>
        <p:spPr>
          <a:xfrm>
            <a:off x="5734050" y="2857500"/>
            <a:ext cx="57150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9A955C82-EEA7-4257-977D-7A63F345D77B}"/>
              </a:ext>
            </a:extLst>
          </p:cNvPr>
          <p:cNvSpPr>
            <a:spLocks noGrp="1"/>
          </p:cNvSpPr>
          <p:nvPr/>
        </p:nvSpPr>
        <p:spPr>
          <a:xfrm>
            <a:off x="8496300" y="2857500"/>
            <a:ext cx="57150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8621609-0900-431D-82D2-04E1A0336381}"/>
              </a:ext>
            </a:extLst>
          </p:cNvPr>
          <p:cNvSpPr>
            <a:spLocks noGrp="1"/>
          </p:cNvSpPr>
          <p:nvPr/>
        </p:nvSpPr>
        <p:spPr>
          <a:xfrm>
            <a:off x="838200" y="417195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Extensions · routage · messagerie vocale · conférences · trunks SIP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01A4EC-3930-46E7-AB7B-2D2F687CFAD6}"/>
              </a:ext>
            </a:extLst>
          </p:cNvPr>
          <p:cNvSpPr>
            <a:spLocks noGrp="1"/>
          </p:cNvSpPr>
          <p:nvPr/>
        </p:nvSpPr>
        <p:spPr>
          <a:xfrm>
            <a:off x="838200" y="4895850"/>
            <a:ext cx="10287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Atout pédagogique : configuration observable.</a:t>
            </a:r>
          </a:p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Point d’attention : exploitation et sécurité exigent une administration rigoureuse.</a:t>
            </a:r>
          </a:p>
        </p:txBody>
      </p:sp>
    </p:spTree>
    <p:extLst>
      <p:ext uri="{BB962C8B-B14F-4D97-AF65-F5344CB8AC3E}">
        <p14:creationId xmlns:p14="http://schemas.microsoft.com/office/powerpoint/2010/main" val="766984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57157F5-5B44-4B34-9B74-CCF2A6A8A78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0D7BE2-58A1-4C0F-A003-7E7B2F53E28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5A3993-5599-4B57-ABB2-0C73DE45181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Cisco CUCM et CME : deux modèles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91C694-4C3A-44B3-8F04-1547026F39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35815B-6D5F-4AEE-9FF1-46BB3ABE6E9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CC930E-9076-453A-BE79-DF5674E16A8A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E5FCB7-DDFC-47C7-9B54-9AC6C60FD020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4857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9989B3-FB8E-4064-BEE5-45F53EDD7C0F}"/>
              </a:ext>
            </a:extLst>
          </p:cNvPr>
          <p:cNvSpPr>
            <a:spLocks noGrp="1"/>
          </p:cNvSpPr>
          <p:nvPr/>
        </p:nvSpPr>
        <p:spPr>
          <a:xfrm>
            <a:off x="5905500" y="1952625"/>
            <a:ext cx="485775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F31688-C810-4266-96B3-DB1DA6B9DBB2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1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CUCM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F552C8-C7C2-468B-8578-DDC431DBFFB1}"/>
              </a:ext>
            </a:extLst>
          </p:cNvPr>
          <p:cNvSpPr>
            <a:spLocks noGrp="1"/>
          </p:cNvSpPr>
          <p:nvPr/>
        </p:nvSpPr>
        <p:spPr>
          <a:xfrm>
            <a:off x="1143000" y="2676525"/>
            <a:ext cx="3810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Gestionnaire centralisé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668D0A-3539-4F49-9AD2-460B7DFB9221}"/>
              </a:ext>
            </a:extLst>
          </p:cNvPr>
          <p:cNvSpPr>
            <a:spLocks noGrp="1"/>
          </p:cNvSpPr>
          <p:nvPr/>
        </p:nvSpPr>
        <p:spPr>
          <a:xfrm>
            <a:off x="1143000" y="3124200"/>
            <a:ext cx="40005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Déploiement d’entreprise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Téléphones et clients logiciels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Intégration à l’écosystème Cisco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C92555-5E0F-494E-9F36-8C5145C72D48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2476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21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CME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63798B-F792-4F47-8776-0672C3557156}"/>
              </a:ext>
            </a:extLst>
          </p:cNvPr>
          <p:cNvSpPr>
            <a:spLocks noGrp="1"/>
          </p:cNvSpPr>
          <p:nvPr/>
        </p:nvSpPr>
        <p:spPr>
          <a:xfrm>
            <a:off x="6191250" y="2676525"/>
            <a:ext cx="4095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Téléphonie intégrée au routeur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DCE29E-78CB-4D76-89C9-92AB2BF145F1}"/>
              </a:ext>
            </a:extLst>
          </p:cNvPr>
          <p:cNvSpPr>
            <a:spLocks noGrp="1"/>
          </p:cNvSpPr>
          <p:nvPr/>
        </p:nvSpPr>
        <p:spPr>
          <a:xfrm>
            <a:off x="6191250" y="3124200"/>
            <a:ext cx="4095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Modèle compact pour un site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Gestion locale des terminaux</a:t>
            </a:r>
          </a:p>
          <a:p>
            <a:pPr marL="228600" indent="-114300" algn="l">
              <a:spcAft>
                <a:spcPts val="700"/>
              </a:spcAft>
              <a:buChar char="•"/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14233A"/>
                </a:solidFill>
                <a:latin typeface="Arial"/>
                <a:ea typeface="Arial"/>
                <a:cs typeface="Arial"/>
              </a:rPr>
              <a:t>Fonctions liées au matériel et à la version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305813-1A91-48D0-9AC5-3041DBC25C4A}"/>
              </a:ext>
            </a:extLst>
          </p:cNvPr>
          <p:cNvSpPr>
            <a:spLocks noGrp="1"/>
          </p:cNvSpPr>
          <p:nvPr/>
        </p:nvSpPr>
        <p:spPr>
          <a:xfrm>
            <a:off x="952500" y="5314950"/>
            <a:ext cx="9906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Choix selon échelle, résilience, terminaux, licences et cycle de vie.</a:t>
            </a:r>
          </a:p>
        </p:txBody>
      </p:sp>
    </p:spTree>
    <p:extLst>
      <p:ext uri="{BB962C8B-B14F-4D97-AF65-F5344CB8AC3E}">
        <p14:creationId xmlns:p14="http://schemas.microsoft.com/office/powerpoint/2010/main" val="13965407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2F15388-D1B5-4473-B3B7-9E77E2DBF7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94F030-BEE7-477E-8E45-46CC645F2AE7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7A4B7-EA2E-4F84-9BF4-1F69EDD60B7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3CX : PBX logiciel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0A8F2B-8E64-4836-B1CE-E2361633A2B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88975D-7674-490D-99EF-DDB55FF3589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0304A8-6CA2-4BB5-8C7A-C35E98D8612B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FC37AC-ED4D-4605-96A7-4408D1B14846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0DC7A3-58DB-4805-85A0-A68706E6FB02}"/>
              </a:ext>
            </a:extLst>
          </p:cNvPr>
          <p:cNvSpPr>
            <a:spLocks noGrp="1"/>
          </p:cNvSpPr>
          <p:nvPr/>
        </p:nvSpPr>
        <p:spPr>
          <a:xfrm>
            <a:off x="914400" y="2143125"/>
            <a:ext cx="3143250" cy="66675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834F08-0F7B-4344-9ACB-F9FB685B8F3C}"/>
              </a:ext>
            </a:extLst>
          </p:cNvPr>
          <p:cNvSpPr>
            <a:spLocks noGrp="1"/>
          </p:cNvSpPr>
          <p:nvPr/>
        </p:nvSpPr>
        <p:spPr>
          <a:xfrm>
            <a:off x="1104900" y="24479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PBX logiciel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11D56DE-69B5-4AA7-92E2-39D15BC19322}"/>
              </a:ext>
            </a:extLst>
          </p:cNvPr>
          <p:cNvSpPr>
            <a:spLocks noGrp="1"/>
          </p:cNvSpPr>
          <p:nvPr/>
        </p:nvSpPr>
        <p:spPr>
          <a:xfrm>
            <a:off x="1104900" y="3000375"/>
            <a:ext cx="2714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Routage, IVR et files d’attente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754834-A76F-4729-95FC-24899480FEDD}"/>
              </a:ext>
            </a:extLst>
          </p:cNvPr>
          <p:cNvSpPr>
            <a:spLocks noGrp="1"/>
          </p:cNvSpPr>
          <p:nvPr/>
        </p:nvSpPr>
        <p:spPr>
          <a:xfrm>
            <a:off x="4533900" y="2143125"/>
            <a:ext cx="3143250" cy="2095500"/>
          </a:xfrm>
          <a:prstGeom prst="rect">
            <a:avLst/>
          </a:prstGeom>
          <a:solidFill>
            <a:srgbClr val="EAF1F8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CCADA3-605D-4B39-957B-593966F51CB4}"/>
              </a:ext>
            </a:extLst>
          </p:cNvPr>
          <p:cNvSpPr>
            <a:spLocks noGrp="1"/>
          </p:cNvSpPr>
          <p:nvPr/>
        </p:nvSpPr>
        <p:spPr>
          <a:xfrm>
            <a:off x="4533900" y="2143125"/>
            <a:ext cx="3143250" cy="66675"/>
          </a:xfrm>
          <a:prstGeom prst="rect">
            <a:avLst/>
          </a:prstGeom>
          <a:solidFill>
            <a:srgbClr val="376F9E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70D0CF-C8AF-4C3C-8F5F-D75D97DE5089}"/>
              </a:ext>
            </a:extLst>
          </p:cNvPr>
          <p:cNvSpPr>
            <a:spLocks noGrp="1"/>
          </p:cNvSpPr>
          <p:nvPr/>
        </p:nvSpPr>
        <p:spPr>
          <a:xfrm>
            <a:off x="4724400" y="24479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Accès utilisateur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5B3C75-1DE8-47C5-8866-8D3E76922684}"/>
              </a:ext>
            </a:extLst>
          </p:cNvPr>
          <p:cNvSpPr>
            <a:spLocks noGrp="1"/>
          </p:cNvSpPr>
          <p:nvPr/>
        </p:nvSpPr>
        <p:spPr>
          <a:xfrm>
            <a:off x="4724400" y="3000375"/>
            <a:ext cx="2714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Applications, navigateurs, téléphones IP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379B0-3F3C-4B63-9369-08CF613BF8EA}"/>
              </a:ext>
            </a:extLst>
          </p:cNvPr>
          <p:cNvSpPr>
            <a:spLocks noGrp="1"/>
          </p:cNvSpPr>
          <p:nvPr/>
        </p:nvSpPr>
        <p:spPr>
          <a:xfrm>
            <a:off x="8153400" y="2143125"/>
            <a:ext cx="3143250" cy="20955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A58BB8-BFAA-4E46-802A-25E6C60FC27F}"/>
              </a:ext>
            </a:extLst>
          </p:cNvPr>
          <p:cNvSpPr>
            <a:spLocks noGrp="1"/>
          </p:cNvSpPr>
          <p:nvPr/>
        </p:nvSpPr>
        <p:spPr>
          <a:xfrm>
            <a:off x="8153400" y="2143125"/>
            <a:ext cx="3143250" cy="66675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992856-B630-4E96-AC24-F5DBB8251100}"/>
              </a:ext>
            </a:extLst>
          </p:cNvPr>
          <p:cNvSpPr>
            <a:spLocks noGrp="1"/>
          </p:cNvSpPr>
          <p:nvPr/>
        </p:nvSpPr>
        <p:spPr>
          <a:xfrm>
            <a:off x="8343900" y="2447925"/>
            <a:ext cx="2762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Interconnexion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CFC0D66-BA6E-4711-B495-D6AD71EE2CE3}"/>
              </a:ext>
            </a:extLst>
          </p:cNvPr>
          <p:cNvSpPr>
            <a:spLocks noGrp="1"/>
          </p:cNvSpPr>
          <p:nvPr/>
        </p:nvSpPr>
        <p:spPr>
          <a:xfrm>
            <a:off x="8343900" y="3000375"/>
            <a:ext cx="2714625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Trunks SIP, SBC selon topologie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CA724-6853-465C-82FF-58D0D191907B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981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Déploiement hébergé ou sur site selon l’édition.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CA9667-82CA-4DE5-B2E0-6D9A8F8B1CF0}"/>
              </a:ext>
            </a:extLst>
          </p:cNvPr>
          <p:cNvSpPr>
            <a:spLocks noGrp="1"/>
          </p:cNvSpPr>
          <p:nvPr/>
        </p:nvSpPr>
        <p:spPr>
          <a:xfrm>
            <a:off x="914400" y="5295900"/>
            <a:ext cx="981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Vérifier licences, versions, ports réseau et support.</a:t>
            </a:r>
          </a:p>
        </p:txBody>
      </p:sp>
    </p:spTree>
    <p:extLst>
      <p:ext uri="{BB962C8B-B14F-4D97-AF65-F5344CB8AC3E}">
        <p14:creationId xmlns:p14="http://schemas.microsoft.com/office/powerpoint/2010/main" val="1092289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31C10DD-845A-43FE-BDC4-1A1E3738C7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3FBDEF-2C8E-4E98-804A-2725A71CBE2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CF7D15-302E-4FB2-AFFB-8B7F4775E85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Microsoft Teams Phone : téléphonie en nuage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39E22A-BF59-417A-A7E5-4C165A1ED34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EE8343-AFB1-4401-8EF4-FCB37511CFB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BB3F6CF-93FB-497F-8727-85B8D8541A21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65322C3-2BB3-4AB7-8213-0971EBDCF184}"/>
              </a:ext>
            </a:extLst>
          </p:cNvPr>
          <p:cNvSpPr>
            <a:spLocks noGrp="1"/>
          </p:cNvSpPr>
          <p:nvPr/>
        </p:nvSpPr>
        <p:spPr>
          <a:xfrm>
            <a:off x="762000" y="2333625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075B63-46CD-4DF8-9AD5-51919789BFF9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Client Teams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3B4F37-A51D-41B6-AF56-96EA8CEF2F8F}"/>
              </a:ext>
            </a:extLst>
          </p:cNvPr>
          <p:cNvSpPr>
            <a:spLocks noGrp="1"/>
          </p:cNvSpPr>
          <p:nvPr/>
        </p:nvSpPr>
        <p:spPr>
          <a:xfrm>
            <a:off x="857250" y="2790825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Téléphone logiciel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A9891C5-CF73-45A9-B704-B0156353DB49}"/>
              </a:ext>
            </a:extLst>
          </p:cNvPr>
          <p:cNvSpPr>
            <a:spLocks noGrp="1"/>
          </p:cNvSpPr>
          <p:nvPr/>
        </p:nvSpPr>
        <p:spPr>
          <a:xfrm>
            <a:off x="3905250" y="2333625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779FD5-1C8D-415D-861F-60BE10AC492E}"/>
              </a:ext>
            </a:extLst>
          </p:cNvPr>
          <p:cNvSpPr>
            <a:spLocks noGrp="1"/>
          </p:cNvSpPr>
          <p:nvPr/>
        </p:nvSpPr>
        <p:spPr>
          <a:xfrm>
            <a:off x="3981450" y="24574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Teams Phone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008EC3-7728-480B-9E7F-8C01403DED6B}"/>
              </a:ext>
            </a:extLst>
          </p:cNvPr>
          <p:cNvSpPr>
            <a:spLocks noGrp="1"/>
          </p:cNvSpPr>
          <p:nvPr/>
        </p:nvSpPr>
        <p:spPr>
          <a:xfrm>
            <a:off x="4000500" y="2790825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Routage vocal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0B64491-C736-4A32-A453-9F8D51584734}"/>
              </a:ext>
            </a:extLst>
          </p:cNvPr>
          <p:cNvSpPr>
            <a:spLocks noGrp="1"/>
          </p:cNvSpPr>
          <p:nvPr/>
        </p:nvSpPr>
        <p:spPr>
          <a:xfrm>
            <a:off x="7048500" y="2333625"/>
            <a:ext cx="2286000" cy="1219200"/>
          </a:xfrm>
          <a:prstGeom prst="roundRect">
            <a:avLst>
              <a:gd name="adj" fmla="val 6250"/>
            </a:avLst>
          </a:prstGeom>
          <a:solidFill>
            <a:srgbClr val="FBF4E3"/>
          </a:solidFill>
          <a:ln w="19050">
            <a:solidFill>
              <a:srgbClr val="E3A73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F47BC8-B9D9-4811-991B-2D1AC65BE419}"/>
              </a:ext>
            </a:extLst>
          </p:cNvPr>
          <p:cNvSpPr>
            <a:spLocks noGrp="1"/>
          </p:cNvSpPr>
          <p:nvPr/>
        </p:nvSpPr>
        <p:spPr>
          <a:xfrm>
            <a:off x="7124700" y="2457450"/>
            <a:ext cx="2133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SBC certifié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D6AC6EA-F159-4EDE-AD3E-77C721E10B1D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2095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Frontière Direct Routing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D341DF7-E40A-4EBD-BA4A-D121CBF49C7A}"/>
              </a:ext>
            </a:extLst>
          </p:cNvPr>
          <p:cNvSpPr>
            <a:spLocks noGrp="1"/>
          </p:cNvSpPr>
          <p:nvPr/>
        </p:nvSpPr>
        <p:spPr>
          <a:xfrm>
            <a:off x="10191750" y="2447925"/>
            <a:ext cx="1190625" cy="990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516A0C-CEF9-4745-A7FD-5FDA67B6CA0B}"/>
              </a:ext>
            </a:extLst>
          </p:cNvPr>
          <p:cNvSpPr>
            <a:spLocks noGrp="1"/>
          </p:cNvSpPr>
          <p:nvPr/>
        </p:nvSpPr>
        <p:spPr>
          <a:xfrm>
            <a:off x="10267950" y="2571750"/>
            <a:ext cx="1038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Opérateur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24B773-2646-4A2F-B39C-9EBA314CE596}"/>
              </a:ext>
            </a:extLst>
          </p:cNvPr>
          <p:cNvSpPr>
            <a:spLocks noGrp="1"/>
          </p:cNvSpPr>
          <p:nvPr/>
        </p:nvSpPr>
        <p:spPr>
          <a:xfrm>
            <a:off x="10287000" y="2905125"/>
            <a:ext cx="10001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RTC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F5C7A7F4-ECF5-4EBE-9E1D-B67DCAA17A4A}"/>
              </a:ext>
            </a:extLst>
          </p:cNvPr>
          <p:cNvSpPr>
            <a:spLocks noGrp="1"/>
          </p:cNvSpPr>
          <p:nvPr/>
        </p:nvSpPr>
        <p:spPr>
          <a:xfrm>
            <a:off x="3048000" y="2924175"/>
            <a:ext cx="8572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E7A2500F-4F7A-4496-8EF0-6DA1D413330F}"/>
              </a:ext>
            </a:extLst>
          </p:cNvPr>
          <p:cNvSpPr>
            <a:spLocks noGrp="1"/>
          </p:cNvSpPr>
          <p:nvPr/>
        </p:nvSpPr>
        <p:spPr>
          <a:xfrm>
            <a:off x="6191250" y="2924175"/>
            <a:ext cx="8572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A445FA-07B9-488F-B6C0-33C446231272}"/>
              </a:ext>
            </a:extLst>
          </p:cNvPr>
          <p:cNvSpPr>
            <a:spLocks noGrp="1"/>
          </p:cNvSpPr>
          <p:nvPr/>
        </p:nvSpPr>
        <p:spPr>
          <a:xfrm>
            <a:off x="5667375" y="26955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Direct Routing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437C7FC9-B617-468B-AC1E-01CA4CBAC085}"/>
              </a:ext>
            </a:extLst>
          </p:cNvPr>
          <p:cNvSpPr>
            <a:spLocks noGrp="1"/>
          </p:cNvSpPr>
          <p:nvPr/>
        </p:nvSpPr>
        <p:spPr>
          <a:xfrm>
            <a:off x="9334500" y="2924175"/>
            <a:ext cx="857250" cy="953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E263B3-1E07-4465-BAA4-0AAEB46C20B0}"/>
              </a:ext>
            </a:extLst>
          </p:cNvPr>
          <p:cNvSpPr>
            <a:spLocks noGrp="1"/>
          </p:cNvSpPr>
          <p:nvPr/>
        </p:nvSpPr>
        <p:spPr>
          <a:xfrm>
            <a:off x="8810625" y="2695575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 trunk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7E370D-08D9-4AD4-8E56-D535F478DD68}"/>
              </a:ext>
            </a:extLst>
          </p:cNvPr>
          <p:cNvSpPr>
            <a:spLocks noGrp="1"/>
          </p:cNvSpPr>
          <p:nvPr/>
        </p:nvSpPr>
        <p:spPr>
          <a:xfrm>
            <a:off x="952500" y="4381500"/>
            <a:ext cx="1028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Options de raccordement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6A652F-ECAB-4F76-A11E-EEDF637A12BC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90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Calling Plans  ·  Operator Connect  ·  Direct Routing</a:t>
            </a:r>
          </a:p>
        </p:txBody>
      </p:sp>
    </p:spTree>
    <p:extLst>
      <p:ext uri="{BB962C8B-B14F-4D97-AF65-F5344CB8AC3E}">
        <p14:creationId xmlns:p14="http://schemas.microsoft.com/office/powerpoint/2010/main" val="1967277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7D11B6C-0787-4BDF-B7AF-684AA1028A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68A1BD-CA13-4226-A4DD-BF89C437BF1D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FB52D8-B59E-4088-9F32-0886040762A9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Trixbox et Elastix : repères historiques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C19F62-C373-4682-ABA1-9783C707554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10E30E-6F29-468A-9E45-D58CE673A8D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39CE2-EB63-415F-A474-5B90FEBA5CF7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C380DE-3956-437E-871D-1B45FE00541F}"/>
              </a:ext>
            </a:extLst>
          </p:cNvPr>
          <p:cNvSpPr>
            <a:spLocks noGrp="1"/>
          </p:cNvSpPr>
          <p:nvPr/>
        </p:nvSpPr>
        <p:spPr>
          <a:xfrm>
            <a:off x="914400" y="182880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Trixbox 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522992-03F7-4281-856F-CD2008B7F5B0}"/>
              </a:ext>
            </a:extLst>
          </p:cNvPr>
          <p:cNvSpPr>
            <a:spLocks noGrp="1"/>
          </p:cNvSpPr>
          <p:nvPr/>
        </p:nvSpPr>
        <p:spPr>
          <a:xfrm>
            <a:off x="3333750" y="18288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Distribution PBX communautaire historique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54E4C7-4EE0-4119-A2B6-6F28E2FD3095}"/>
              </a:ext>
            </a:extLst>
          </p:cNvPr>
          <p:cNvSpPr>
            <a:spLocks noGrp="1"/>
          </p:cNvSpPr>
          <p:nvPr/>
        </p:nvSpPr>
        <p:spPr>
          <a:xfrm>
            <a:off x="3333750" y="223837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Cycle de vie terminé; à traiter comme repère historique.</a:t>
            </a: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7893B511-A5EF-465C-9C3F-F5BA4217E09C}"/>
              </a:ext>
            </a:extLst>
          </p:cNvPr>
          <p:cNvSpPr>
            <a:spLocks noGrp="1"/>
          </p:cNvSpPr>
          <p:nvPr/>
        </p:nvSpPr>
        <p:spPr>
          <a:xfrm>
            <a:off x="914400" y="2762250"/>
            <a:ext cx="9848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003E8D-047B-45D8-9B3B-78DF87D20D6E}"/>
              </a:ext>
            </a:extLst>
          </p:cNvPr>
          <p:cNvSpPr>
            <a:spLocks noGrp="1"/>
          </p:cNvSpPr>
          <p:nvPr/>
        </p:nvSpPr>
        <p:spPr>
          <a:xfrm>
            <a:off x="914400" y="302895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Elastix historique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4EB21E-1D15-4982-B6EB-6BCDFA62F42B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Distribution PBX avec outils d’administration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43C50A-D142-4EE0-BB68-FAF43F190225}"/>
              </a:ext>
            </a:extLst>
          </p:cNvPr>
          <p:cNvSpPr>
            <a:spLocks noGrp="1"/>
          </p:cNvSpPr>
          <p:nvPr/>
        </p:nvSpPr>
        <p:spPr>
          <a:xfrm>
            <a:off x="3333750" y="343852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Vérifier la génération exacte et son support.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F1868173-94CF-4460-A0B3-D6981169F976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9848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C9AA17-B5F1-464E-BF02-24551C31E0E2}"/>
              </a:ext>
            </a:extLst>
          </p:cNvPr>
          <p:cNvSpPr>
            <a:spLocks noGrp="1"/>
          </p:cNvSpPr>
          <p:nvPr/>
        </p:nvSpPr>
        <p:spPr>
          <a:xfrm>
            <a:off x="914400" y="4229100"/>
            <a:ext cx="21907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Elastix 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1F2188-269C-48BF-87AF-ED0AC18DA9EA}"/>
              </a:ext>
            </a:extLst>
          </p:cNvPr>
          <p:cNvSpPr>
            <a:spLocks noGrp="1"/>
          </p:cNvSpPr>
          <p:nvPr/>
        </p:nvSpPr>
        <p:spPr>
          <a:xfrm>
            <a:off x="3333750" y="4229100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Annonce de moteur téléphonique 3CX en 2016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204928-8F1F-435A-8D71-0A54951C68D2}"/>
              </a:ext>
            </a:extLst>
          </p:cNvPr>
          <p:cNvSpPr>
            <a:spLocks noGrp="1"/>
          </p:cNvSpPr>
          <p:nvPr/>
        </p:nvSpPr>
        <p:spPr>
          <a:xfrm>
            <a:off x="3333750" y="4638675"/>
            <a:ext cx="7429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Ne pas confondre avec les versions antérieures.</a:t>
            </a: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DC92A56F-73C6-4616-A7F4-8F5D1673FA4A}"/>
              </a:ext>
            </a:extLst>
          </p:cNvPr>
          <p:cNvSpPr>
            <a:spLocks noGrp="1"/>
          </p:cNvSpPr>
          <p:nvPr/>
        </p:nvSpPr>
        <p:spPr>
          <a:xfrm>
            <a:off x="914400" y="5162550"/>
            <a:ext cx="9848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28B13A-1416-4CB3-8FEA-0869EF218153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Pour un nouveau déploiement, vérifier le support et la disponibilité des correctifs.</a:t>
            </a:r>
          </a:p>
        </p:txBody>
      </p:sp>
    </p:spTree>
    <p:extLst>
      <p:ext uri="{BB962C8B-B14F-4D97-AF65-F5344CB8AC3E}">
        <p14:creationId xmlns:p14="http://schemas.microsoft.com/office/powerpoint/2010/main" val="2136013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040C696-9AA3-4F91-A86F-8E9BBB4AE84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DE4409-BD80-4F46-8F51-17F7DE10E23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A4CE0-50D2-4466-92D1-300A0AE9BC3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Comparatif des solutions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5D5B0A-7486-427F-97D1-EDAD796CF30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A43A9A-84E5-48D5-BECE-70FD1B73817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E72588-DD2B-4DC8-95D2-037F2A9CD0CE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933843A7-C444-4DE9-B406-BF4EB40DB890}"/>
              </a:ext>
            </a:extLst>
          </p:cNvPr>
          <p:cNvGraphicFramePr/>
          <p:nvPr/>
        </p:nvGraphicFramePr>
        <p:xfrm>
          <a:off x="762000" y="1619250"/>
          <a:ext cx="10668000" cy="4219575"/>
        </p:xfrm>
        <a:graphic>
          <a:graphicData uri="http://schemas.openxmlformats.org/drawingml/2006/table">
            <a:tbl>
              <a:tblPr firstRow="1" bandRow="1"/>
              <a:tblGrid>
                <a:gridCol w="185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Solution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>
                      <a:solidFill>
                        <a:srgbClr val="D5DEE8"/>
                      </a:solidFill>
                      <a:prstDash val="soli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Modèle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>
                      <a:solidFill>
                        <a:srgbClr val="D5DEE8"/>
                      </a:solidFill>
                      <a:prstDash val="soli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Atout de principe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>
                      <a:solidFill>
                        <a:srgbClr val="D5DEE8"/>
                      </a:solidFill>
                      <a:prstDash val="soli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À vérifier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>
                      <a:solidFill>
                        <a:srgbClr val="D5DEE8"/>
                      </a:solidFill>
                      <a:prstDash val="soli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0B18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Asterisk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PBX modulaire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Contrôle fin, extensible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Configuration et exploitation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Cisco CUCM / CME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Entreprise / site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Intégration Cisco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Licences, versions, matériel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3CX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PBX logiciel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Administration et clients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Édition, licences, cycle de vie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Teams Phone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Téléphonie en nuage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Intégration collaborative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Contrat, SBC, RTC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Trixbox CE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Distribution historique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Valeur pédagogique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Fin de vie, absence de support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Elastix</a:t>
                      </a:r>
                    </a:p>
                  </a:txBody>
                  <a:tcPr>
                    <a:lnL w="9525">
                      <a:solidFill>
                        <a:srgbClr val="D5DEE8"/>
                      </a:solidFill>
                      <a:prstDash val="soli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Distributions historiques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Approche intégrée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14233A"/>
                          </a:solidFill>
                          <a:latin typeface="Arial"/>
                          <a:ea typeface="Arial"/>
                          <a:cs typeface="Arial"/>
                        </a:rPr>
                        <a:t>Produit et version exacts</a:t>
                      </a:r>
                    </a:p>
                  </a:txBody>
                  <a:tcPr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5DEE8"/>
                      </a:solidFill>
                      <a:prstDash val="soli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8"/>
                      </a:solidFill>
                      <a:prstDash val="soli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BA88149F-7981-4C9F-863C-C225A794E88A}"/>
              </a:ext>
            </a:extLst>
          </p:cNvPr>
          <p:cNvSpPr>
            <a:spLocks noGrp="1"/>
          </p:cNvSpPr>
          <p:nvPr/>
        </p:nvSpPr>
        <p:spPr>
          <a:xfrm>
            <a:off x="781050" y="59245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20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Comparaison indicative. Confirmer les caractéristiques de la version étudiée.</a:t>
            </a:r>
          </a:p>
        </p:txBody>
      </p:sp>
    </p:spTree>
    <p:extLst>
      <p:ext uri="{BB962C8B-B14F-4D97-AF65-F5344CB8AC3E}">
        <p14:creationId xmlns:p14="http://schemas.microsoft.com/office/powerpoint/2010/main" val="660657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3C6A06-6463-48D3-808C-84B5D12157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AB5C9D-87B0-42E1-BF50-C48C3B1A6C7C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2A5729-E5DF-4BA6-9DD9-E1D8A0C5442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Avantages, limites et conditions de réussite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F15DAC-1F3C-4BA2-8C35-B6C204CE4DD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055C4C-582F-4CD3-BE42-6DC76AF3092C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C9037BF-E006-47D6-AE97-90021300F594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1BDB5F-C3AC-46F0-9738-54258869C05B}"/>
              </a:ext>
            </a:extLst>
          </p:cNvPr>
          <p:cNvSpPr>
            <a:spLocks noGrp="1"/>
          </p:cNvSpPr>
          <p:nvPr/>
        </p:nvSpPr>
        <p:spPr>
          <a:xfrm>
            <a:off x="1000125" y="16954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3C8B68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3C8B6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C8B68"/>
                </a:solidFill>
                <a:latin typeface="Arial"/>
                <a:ea typeface="Arial"/>
                <a:cs typeface="Arial"/>
              </a:rPr>
              <a:t>Apports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303F2F-0D1C-4FB5-819C-C36972A1DE52}"/>
              </a:ext>
            </a:extLst>
          </p:cNvPr>
          <p:cNvSpPr>
            <a:spLocks noGrp="1"/>
          </p:cNvSpPr>
          <p:nvPr/>
        </p:nvSpPr>
        <p:spPr>
          <a:xfrm>
            <a:off x="1000125" y="2171700"/>
            <a:ext cx="4191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Mobilité et choix de terminaux</a:t>
            </a:r>
          </a:p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Intégration de canaux et applications</a:t>
            </a:r>
          </a:p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Règles et administration centralisées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752C44-2C7B-4FAA-BFB5-5B168D320707}"/>
              </a:ext>
            </a:extLst>
          </p:cNvPr>
          <p:cNvSpPr>
            <a:spLocks noGrp="1"/>
          </p:cNvSpPr>
          <p:nvPr/>
        </p:nvSpPr>
        <p:spPr>
          <a:xfrm>
            <a:off x="5876925" y="1695450"/>
            <a:ext cx="19050" cy="3238500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F60989-6344-4B1D-842E-A5A38483CD89}"/>
              </a:ext>
            </a:extLst>
          </p:cNvPr>
          <p:cNvSpPr>
            <a:spLocks noGrp="1"/>
          </p:cNvSpPr>
          <p:nvPr/>
        </p:nvSpPr>
        <p:spPr>
          <a:xfrm>
            <a:off x="6400800" y="1695450"/>
            <a:ext cx="3429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B94E5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4E52"/>
                </a:solidFill>
                <a:latin typeface="Arial"/>
                <a:ea typeface="Arial"/>
                <a:cs typeface="Arial"/>
              </a:rPr>
              <a:t>Limites et risques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ED3317-6B14-4984-A11E-05D4B66ECF9D}"/>
              </a:ext>
            </a:extLst>
          </p:cNvPr>
          <p:cNvSpPr>
            <a:spLocks noGrp="1"/>
          </p:cNvSpPr>
          <p:nvPr/>
        </p:nvSpPr>
        <p:spPr>
          <a:xfrm>
            <a:off x="6400800" y="2171700"/>
            <a:ext cx="4572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Dépendance au réseau et à son dimensionnement</a:t>
            </a:r>
          </a:p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Interopérabilité liée aux versions</a:t>
            </a:r>
          </a:p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Coûts de migration et d’exploitation</a:t>
            </a:r>
          </a:p>
          <a:p>
            <a:pPr marL="228600" indent="-114300" algn="l">
              <a:spcAft>
                <a:spcPts val="700"/>
              </a:spcAft>
              <a:buChar char="•"/>
              <a:defRPr sz="157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4233A"/>
                </a:solidFill>
                <a:latin typeface="Arial"/>
                <a:ea typeface="Arial"/>
                <a:cs typeface="Arial"/>
              </a:rPr>
              <a:t>Fraude si protections insuffisantes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084265-15EA-4B0A-ADB0-1B7B92965B10}"/>
              </a:ext>
            </a:extLst>
          </p:cNvPr>
          <p:cNvSpPr>
            <a:spLocks noGrp="1"/>
          </p:cNvSpPr>
          <p:nvPr/>
        </p:nvSpPr>
        <p:spPr>
          <a:xfrm>
            <a:off x="1000125" y="5362575"/>
            <a:ext cx="9953625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La qualité dépend de la conception et du suivi en production.</a:t>
            </a:r>
          </a:p>
        </p:txBody>
      </p:sp>
    </p:spTree>
    <p:extLst>
      <p:ext uri="{BB962C8B-B14F-4D97-AF65-F5344CB8AC3E}">
        <p14:creationId xmlns:p14="http://schemas.microsoft.com/office/powerpoint/2010/main" val="18269418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6C7D4875-BD04-4FAA-A130-7C60718A33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A06C73-01D3-45B8-B52D-BD682E413C5A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2E14768-2819-486E-AF29-FA5E49893D3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Exemple de déploiement technique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D10267-8AB4-4DC0-A819-3FC3C82F1CF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32E45-C616-4A6E-9D68-F5256B866C1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6021DE-FF53-4A31-9CA9-8F7748A02242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8ABF44E-0A5C-4157-BD5A-738504F24741}"/>
              </a:ext>
            </a:extLst>
          </p:cNvPr>
          <p:cNvSpPr>
            <a:spLocks noGrp="1"/>
          </p:cNvSpPr>
          <p:nvPr/>
        </p:nvSpPr>
        <p:spPr>
          <a:xfrm>
            <a:off x="1409700" y="1771650"/>
            <a:ext cx="438150" cy="438150"/>
          </a:xfrm>
          <a:prstGeom prst="ellipse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05E724-88AE-4997-9426-9757949883D4}"/>
              </a:ext>
            </a:extLst>
          </p:cNvPr>
          <p:cNvSpPr>
            <a:spLocks noGrp="1"/>
          </p:cNvSpPr>
          <p:nvPr/>
        </p:nvSpPr>
        <p:spPr>
          <a:xfrm>
            <a:off x="1409700" y="1838325"/>
            <a:ext cx="43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7DDE7DE3-37D9-4959-9292-18DE1899D354}"/>
              </a:ext>
            </a:extLst>
          </p:cNvPr>
          <p:cNvSpPr>
            <a:spLocks noGrp="1"/>
          </p:cNvSpPr>
          <p:nvPr/>
        </p:nvSpPr>
        <p:spPr>
          <a:xfrm>
            <a:off x="1847850" y="1990725"/>
            <a:ext cx="1085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9A504B-E4D0-46C4-AE2C-25AD37EB8A6D}"/>
              </a:ext>
            </a:extLst>
          </p:cNvPr>
          <p:cNvSpPr>
            <a:spLocks noGrp="1"/>
          </p:cNvSpPr>
          <p:nvPr/>
        </p:nvSpPr>
        <p:spPr>
          <a:xfrm>
            <a:off x="647700" y="2428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Cadrage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BF580-20BA-4FC8-9F86-1CC4C465075B}"/>
              </a:ext>
            </a:extLst>
          </p:cNvPr>
          <p:cNvSpPr>
            <a:spLocks noGrp="1"/>
          </p:cNvSpPr>
          <p:nvPr/>
        </p:nvSpPr>
        <p:spPr>
          <a:xfrm>
            <a:off x="695325" y="2857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Usages · extensions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6EF2C15-D854-4AC1-8E2B-AA56154E8078}"/>
              </a:ext>
            </a:extLst>
          </p:cNvPr>
          <p:cNvSpPr>
            <a:spLocks noGrp="1"/>
          </p:cNvSpPr>
          <p:nvPr/>
        </p:nvSpPr>
        <p:spPr>
          <a:xfrm>
            <a:off x="3695700" y="1771650"/>
            <a:ext cx="438150" cy="438150"/>
          </a:xfrm>
          <a:prstGeom prst="ellipse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BE13C5-01C0-49D2-ADBB-07F7F9D09512}"/>
              </a:ext>
            </a:extLst>
          </p:cNvPr>
          <p:cNvSpPr>
            <a:spLocks noGrp="1"/>
          </p:cNvSpPr>
          <p:nvPr/>
        </p:nvSpPr>
        <p:spPr>
          <a:xfrm>
            <a:off x="3695700" y="1838325"/>
            <a:ext cx="43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FF4F5B96-FE2C-41C6-A626-96DAA2CF211E}"/>
              </a:ext>
            </a:extLst>
          </p:cNvPr>
          <p:cNvSpPr>
            <a:spLocks noGrp="1"/>
          </p:cNvSpPr>
          <p:nvPr/>
        </p:nvSpPr>
        <p:spPr>
          <a:xfrm>
            <a:off x="4133850" y="1990725"/>
            <a:ext cx="1085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469AF-5EC6-4A99-8568-5CD6AD21623C}"/>
              </a:ext>
            </a:extLst>
          </p:cNvPr>
          <p:cNvSpPr>
            <a:spLocks noGrp="1"/>
          </p:cNvSpPr>
          <p:nvPr/>
        </p:nvSpPr>
        <p:spPr>
          <a:xfrm>
            <a:off x="2933700" y="2428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Conception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2D25C2-292D-4A8E-AF8E-166D49D1EB6E}"/>
              </a:ext>
            </a:extLst>
          </p:cNvPr>
          <p:cNvSpPr>
            <a:spLocks noGrp="1"/>
          </p:cNvSpPr>
          <p:nvPr/>
        </p:nvSpPr>
        <p:spPr>
          <a:xfrm>
            <a:off x="2981325" y="2857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Réseau · capacité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A7C5A51A-6204-4C5B-BF62-EDDA39825784}"/>
              </a:ext>
            </a:extLst>
          </p:cNvPr>
          <p:cNvSpPr>
            <a:spLocks noGrp="1"/>
          </p:cNvSpPr>
          <p:nvPr/>
        </p:nvSpPr>
        <p:spPr>
          <a:xfrm>
            <a:off x="5981700" y="1771650"/>
            <a:ext cx="438150" cy="438150"/>
          </a:xfrm>
          <a:prstGeom prst="ellipse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C65131-C31E-42F2-9AE5-61C6235A16C5}"/>
              </a:ext>
            </a:extLst>
          </p:cNvPr>
          <p:cNvSpPr>
            <a:spLocks noGrp="1"/>
          </p:cNvSpPr>
          <p:nvPr/>
        </p:nvSpPr>
        <p:spPr>
          <a:xfrm>
            <a:off x="5981700" y="1838325"/>
            <a:ext cx="43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3E490AFD-C5D2-4AC3-91EC-FF44931B8563}"/>
              </a:ext>
            </a:extLst>
          </p:cNvPr>
          <p:cNvSpPr>
            <a:spLocks noGrp="1"/>
          </p:cNvSpPr>
          <p:nvPr/>
        </p:nvSpPr>
        <p:spPr>
          <a:xfrm>
            <a:off x="6419850" y="1990725"/>
            <a:ext cx="1085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266F3F-3CDC-4287-B02A-2298276D29DF}"/>
              </a:ext>
            </a:extLst>
          </p:cNvPr>
          <p:cNvSpPr>
            <a:spLocks noGrp="1"/>
          </p:cNvSpPr>
          <p:nvPr/>
        </p:nvSpPr>
        <p:spPr>
          <a:xfrm>
            <a:off x="5219700" y="2428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Sécurité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A3D576-0835-4DD4-9CB4-FAE3C8C40E77}"/>
              </a:ext>
            </a:extLst>
          </p:cNvPr>
          <p:cNvSpPr>
            <a:spLocks noGrp="1"/>
          </p:cNvSpPr>
          <p:nvPr/>
        </p:nvSpPr>
        <p:spPr>
          <a:xfrm>
            <a:off x="5267325" y="2857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Identités · filtrage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A0A89ED8-8C53-4A4C-81F7-35DB31D86A7C}"/>
              </a:ext>
            </a:extLst>
          </p:cNvPr>
          <p:cNvSpPr>
            <a:spLocks noGrp="1"/>
          </p:cNvSpPr>
          <p:nvPr/>
        </p:nvSpPr>
        <p:spPr>
          <a:xfrm>
            <a:off x="8267700" y="1771650"/>
            <a:ext cx="438150" cy="438150"/>
          </a:xfrm>
          <a:prstGeom prst="ellipse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8607A8-3784-4609-9A95-1063A1F587F5}"/>
              </a:ext>
            </a:extLst>
          </p:cNvPr>
          <p:cNvSpPr>
            <a:spLocks noGrp="1"/>
          </p:cNvSpPr>
          <p:nvPr/>
        </p:nvSpPr>
        <p:spPr>
          <a:xfrm>
            <a:off x="8267700" y="1838325"/>
            <a:ext cx="43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5BBB6F0C-D503-4BE0-BFD7-5E70F6C6CAA3}"/>
              </a:ext>
            </a:extLst>
          </p:cNvPr>
          <p:cNvSpPr>
            <a:spLocks noGrp="1"/>
          </p:cNvSpPr>
          <p:nvPr/>
        </p:nvSpPr>
        <p:spPr>
          <a:xfrm>
            <a:off x="8705850" y="1990725"/>
            <a:ext cx="1085850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E437CC-4FDA-471A-A96D-7B3523120993}"/>
              </a:ext>
            </a:extLst>
          </p:cNvPr>
          <p:cNvSpPr>
            <a:spLocks noGrp="1"/>
          </p:cNvSpPr>
          <p:nvPr/>
        </p:nvSpPr>
        <p:spPr>
          <a:xfrm>
            <a:off x="7505700" y="2428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Pilote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32EC45F-A6C6-40D4-846D-9E808A51D700}"/>
              </a:ext>
            </a:extLst>
          </p:cNvPr>
          <p:cNvSpPr>
            <a:spLocks noGrp="1"/>
          </p:cNvSpPr>
          <p:nvPr/>
        </p:nvSpPr>
        <p:spPr>
          <a:xfrm>
            <a:off x="7553325" y="2857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Appels · qualité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478E48E9-D1F3-41A0-865A-320DFB3141C3}"/>
              </a:ext>
            </a:extLst>
          </p:cNvPr>
          <p:cNvSpPr>
            <a:spLocks noGrp="1"/>
          </p:cNvSpPr>
          <p:nvPr/>
        </p:nvSpPr>
        <p:spPr>
          <a:xfrm>
            <a:off x="10553700" y="1771650"/>
            <a:ext cx="438150" cy="438150"/>
          </a:xfrm>
          <a:prstGeom prst="ellipse">
            <a:avLst/>
          </a:prstGeom>
          <a:solidFill>
            <a:srgbClr val="E3A735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6BF592-8BE0-436E-A8D8-841AA98A875E}"/>
              </a:ext>
            </a:extLst>
          </p:cNvPr>
          <p:cNvSpPr>
            <a:spLocks noGrp="1"/>
          </p:cNvSpPr>
          <p:nvPr/>
        </p:nvSpPr>
        <p:spPr>
          <a:xfrm>
            <a:off x="10553700" y="1838325"/>
            <a:ext cx="43815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C5E145-61A5-4923-8652-8BCC8E7921F4}"/>
              </a:ext>
            </a:extLst>
          </p:cNvPr>
          <p:cNvSpPr>
            <a:spLocks noGrp="1"/>
          </p:cNvSpPr>
          <p:nvPr/>
        </p:nvSpPr>
        <p:spPr>
          <a:xfrm>
            <a:off x="9791700" y="242887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Exploitation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8D48D2-6AD3-4FC3-A31C-02C5863E02E0}"/>
              </a:ext>
            </a:extLst>
          </p:cNvPr>
          <p:cNvSpPr>
            <a:spLocks noGrp="1"/>
          </p:cNvSpPr>
          <p:nvPr/>
        </p:nvSpPr>
        <p:spPr>
          <a:xfrm>
            <a:off x="9839325" y="28575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Supervision · sauvegardes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5B57109-A408-4058-8BB0-AC9B3CC3BEE3}"/>
              </a:ext>
            </a:extLst>
          </p:cNvPr>
          <p:cNvSpPr>
            <a:spLocks noGrp="1"/>
          </p:cNvSpPr>
          <p:nvPr/>
        </p:nvSpPr>
        <p:spPr>
          <a:xfrm>
            <a:off x="942975" y="4181475"/>
            <a:ext cx="10287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Acceptation : appels aboutis, audio intelligible, règles testées, retour arrière documenté.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A63772-94B4-4912-AF4D-CF03103F07FC}"/>
              </a:ext>
            </a:extLst>
          </p:cNvPr>
          <p:cNvSpPr>
            <a:spLocks noGrp="1"/>
          </p:cNvSpPr>
          <p:nvPr/>
        </p:nvSpPr>
        <p:spPr>
          <a:xfrm>
            <a:off x="952500" y="5295900"/>
            <a:ext cx="10287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Vérifier les obligations locales sur appels d’urgence et protection des données.</a:t>
            </a:r>
          </a:p>
        </p:txBody>
      </p:sp>
    </p:spTree>
    <p:extLst>
      <p:ext uri="{BB962C8B-B14F-4D97-AF65-F5344CB8AC3E}">
        <p14:creationId xmlns:p14="http://schemas.microsoft.com/office/powerpoint/2010/main" val="1693038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3FE00D6-EF63-4402-B70E-E1AD10F3561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9B2957-7353-462A-81E5-1840522C2048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D7B090-79D6-46AC-B976-BC7C10D4BADF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Démonstration à venir : Asterisk sur Ubuntu Server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EEA688-F91D-468A-98CB-457CED38860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C14AC0-64FB-4A86-BC78-74F96F1507E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671CC-FFDE-44D5-B86F-95D918C1816F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65308DC8-95B0-49D6-BC33-9E50464EB00F}"/>
              </a:ext>
            </a:extLst>
          </p:cNvPr>
          <p:cNvSpPr>
            <a:spLocks noGrp="1"/>
          </p:cNvSpPr>
          <p:nvPr/>
        </p:nvSpPr>
        <p:spPr>
          <a:xfrm>
            <a:off x="781050" y="2390775"/>
            <a:ext cx="2495550" cy="1276350"/>
          </a:xfrm>
          <a:prstGeom prst="roundRect">
            <a:avLst>
              <a:gd name="adj" fmla="val 5970"/>
            </a:avLst>
          </a:prstGeom>
          <a:solidFill>
            <a:srgbClr val="E8F4F3"/>
          </a:solidFill>
          <a:ln w="19050">
            <a:solidFill>
              <a:srgbClr val="007F8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7E3C39-1687-4ACD-81A2-437CAC7B0471}"/>
              </a:ext>
            </a:extLst>
          </p:cNvPr>
          <p:cNvSpPr>
            <a:spLocks noGrp="1"/>
          </p:cNvSpPr>
          <p:nvPr/>
        </p:nvSpPr>
        <p:spPr>
          <a:xfrm>
            <a:off x="857250" y="2514600"/>
            <a:ext cx="2343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Ubuntu Server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8680C0-9F1B-4B99-9755-FFE8B9DE6F6D}"/>
              </a:ext>
            </a:extLst>
          </p:cNvPr>
          <p:cNvSpPr>
            <a:spLocks noGrp="1"/>
          </p:cNvSpPr>
          <p:nvPr/>
        </p:nvSpPr>
        <p:spPr>
          <a:xfrm>
            <a:off x="876300" y="2847975"/>
            <a:ext cx="23050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Asterisk + PJSIP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FC5D6B6-BF33-48A6-BB31-3E5A4E9E4757}"/>
              </a:ext>
            </a:extLst>
          </p:cNvPr>
          <p:cNvSpPr>
            <a:spLocks noGrp="1"/>
          </p:cNvSpPr>
          <p:nvPr/>
        </p:nvSpPr>
        <p:spPr>
          <a:xfrm>
            <a:off x="4572000" y="1714500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317A48-179B-494E-AA43-469242363732}"/>
              </a:ext>
            </a:extLst>
          </p:cNvPr>
          <p:cNvSpPr>
            <a:spLocks noGrp="1"/>
          </p:cNvSpPr>
          <p:nvPr/>
        </p:nvSpPr>
        <p:spPr>
          <a:xfrm>
            <a:off x="4648200" y="1838325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Extension 1001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605A51F-E45E-45D5-91F1-07117E078BBB}"/>
              </a:ext>
            </a:extLst>
          </p:cNvPr>
          <p:cNvSpPr>
            <a:spLocks noGrp="1"/>
          </p:cNvSpPr>
          <p:nvPr/>
        </p:nvSpPr>
        <p:spPr>
          <a:xfrm>
            <a:off x="4667250" y="2171700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Client SIP A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49B13D1-0F46-444A-ABF3-241B0BE19A22}"/>
              </a:ext>
            </a:extLst>
          </p:cNvPr>
          <p:cNvSpPr>
            <a:spLocks noGrp="1"/>
          </p:cNvSpPr>
          <p:nvPr/>
        </p:nvSpPr>
        <p:spPr>
          <a:xfrm>
            <a:off x="4572000" y="3267075"/>
            <a:ext cx="238125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376F9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925860-AE1D-4901-AB6B-5926BBF52B2C}"/>
              </a:ext>
            </a:extLst>
          </p:cNvPr>
          <p:cNvSpPr>
            <a:spLocks noGrp="1"/>
          </p:cNvSpPr>
          <p:nvPr/>
        </p:nvSpPr>
        <p:spPr>
          <a:xfrm>
            <a:off x="4648200" y="339090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Extension 1002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B9FD49-F3B4-4643-BDFD-6247957B295D}"/>
              </a:ext>
            </a:extLst>
          </p:cNvPr>
          <p:cNvSpPr>
            <a:spLocks noGrp="1"/>
          </p:cNvSpPr>
          <p:nvPr/>
        </p:nvSpPr>
        <p:spPr>
          <a:xfrm>
            <a:off x="4667250" y="3724275"/>
            <a:ext cx="21907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Client SIP B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FE421EB-9A30-4EB0-897D-C4E6D21B9C3F}"/>
              </a:ext>
            </a:extLst>
          </p:cNvPr>
          <p:cNvSpPr>
            <a:spLocks noGrp="1"/>
          </p:cNvSpPr>
          <p:nvPr/>
        </p:nvSpPr>
        <p:spPr>
          <a:xfrm>
            <a:off x="8515350" y="2362200"/>
            <a:ext cx="2724150" cy="1333500"/>
          </a:xfrm>
          <a:prstGeom prst="roundRect">
            <a:avLst>
              <a:gd name="adj" fmla="val 5714"/>
            </a:avLst>
          </a:prstGeom>
          <a:solidFill>
            <a:srgbClr val="FBF4E3"/>
          </a:solidFill>
          <a:ln w="19050">
            <a:solidFill>
              <a:srgbClr val="E3A73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6AED0C-96A4-437C-B388-1503F10DC2B0}"/>
              </a:ext>
            </a:extLst>
          </p:cNvPr>
          <p:cNvSpPr>
            <a:spLocks noGrp="1"/>
          </p:cNvSpPr>
          <p:nvPr/>
        </p:nvSpPr>
        <p:spPr>
          <a:xfrm>
            <a:off x="8591550" y="24860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VirtualBox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2161D8-D8DF-4D00-A049-18068FDA7F16}"/>
              </a:ext>
            </a:extLst>
          </p:cNvPr>
          <p:cNvSpPr>
            <a:spLocks noGrp="1"/>
          </p:cNvSpPr>
          <p:nvPr/>
        </p:nvSpPr>
        <p:spPr>
          <a:xfrm>
            <a:off x="8610600" y="2819400"/>
            <a:ext cx="25336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0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Réseau de laboratoire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D427AAAD-0BC4-46CD-B3CC-CED57239A389}"/>
              </a:ext>
            </a:extLst>
          </p:cNvPr>
          <p:cNvSpPr>
            <a:spLocks noGrp="1"/>
          </p:cNvSpPr>
          <p:nvPr/>
        </p:nvSpPr>
        <p:spPr>
          <a:xfrm flipV="1">
            <a:off x="3276600" y="2286000"/>
            <a:ext cx="1295400" cy="400050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43EC1E-66D1-4120-AECE-884C71A7E4D8}"/>
              </a:ext>
            </a:extLst>
          </p:cNvPr>
          <p:cNvSpPr>
            <a:spLocks noGrp="1"/>
          </p:cNvSpPr>
          <p:nvPr/>
        </p:nvSpPr>
        <p:spPr>
          <a:xfrm>
            <a:off x="2971800" y="205740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 / RTP</a:t>
            </a:r>
          </a:p>
        </p:txBody>
      </p:sp>
      <p:sp>
        <p:nvSpPr>
          <p:cNvPr id="21" name="Connecteur droit 20">
            <a:extLst>
              <a:ext uri="{FF2B5EF4-FFF2-40B4-BE49-F238E27FC236}">
                <a16:creationId xmlns:a16="http://schemas.microsoft.com/office/drawing/2014/main" id="{2FEB11C0-41EC-4A9A-857B-E86DF57623A7}"/>
              </a:ext>
            </a:extLst>
          </p:cNvPr>
          <p:cNvSpPr>
            <a:spLocks noGrp="1"/>
          </p:cNvSpPr>
          <p:nvPr/>
        </p:nvSpPr>
        <p:spPr>
          <a:xfrm>
            <a:off x="3276600" y="3333750"/>
            <a:ext cx="1295400" cy="523875"/>
          </a:xfrm>
          <a:prstGeom prst="line">
            <a:avLst/>
          </a:prstGeom>
          <a:noFill/>
          <a:ln w="19050">
            <a:solidFill>
              <a:srgbClr val="68778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1C97A0-5E94-4C01-AD9B-2E5E795BAE6A}"/>
              </a:ext>
            </a:extLst>
          </p:cNvPr>
          <p:cNvSpPr>
            <a:spLocks noGrp="1"/>
          </p:cNvSpPr>
          <p:nvPr/>
        </p:nvSpPr>
        <p:spPr>
          <a:xfrm>
            <a:off x="2971800" y="3105150"/>
            <a:ext cx="1905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SIP / RTP</a:t>
            </a:r>
          </a:p>
        </p:txBody>
      </p:sp>
      <p:sp>
        <p:nvSpPr>
          <p:cNvPr id="23" name="Connecteur droit 22">
            <a:extLst>
              <a:ext uri="{FF2B5EF4-FFF2-40B4-BE49-F238E27FC236}">
                <a16:creationId xmlns:a16="http://schemas.microsoft.com/office/drawing/2014/main" id="{2454B61E-A9D2-41DC-AA63-6D28FB47D1EF}"/>
              </a:ext>
            </a:extLst>
          </p:cNvPr>
          <p:cNvSpPr>
            <a:spLocks noGrp="1"/>
          </p:cNvSpPr>
          <p:nvPr/>
        </p:nvSpPr>
        <p:spPr>
          <a:xfrm>
            <a:off x="6953250" y="2286000"/>
            <a:ext cx="1562100" cy="428625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091F3DDF-255B-4372-83C2-C54B2A7E84FB}"/>
              </a:ext>
            </a:extLst>
          </p:cNvPr>
          <p:cNvSpPr>
            <a:spLocks noGrp="1"/>
          </p:cNvSpPr>
          <p:nvPr/>
        </p:nvSpPr>
        <p:spPr>
          <a:xfrm flipV="1">
            <a:off x="6953250" y="3333750"/>
            <a:ext cx="1562100" cy="523875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6F85FE-4A36-4793-A9F8-41630F52EF36}"/>
              </a:ext>
            </a:extLst>
          </p:cNvPr>
          <p:cNvSpPr>
            <a:spLocks noGrp="1"/>
          </p:cNvSpPr>
          <p:nvPr/>
        </p:nvSpPr>
        <p:spPr>
          <a:xfrm>
            <a:off x="1000125" y="4933950"/>
            <a:ext cx="1019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1001 appelle 1002; Asterisk assure le contrôle et RTP transporte l’audio.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675E9D-6FA3-43FA-86C0-B5A985F5112A}"/>
              </a:ext>
            </a:extLst>
          </p:cNvPr>
          <p:cNvSpPr>
            <a:spLocks noGrp="1"/>
          </p:cNvSpPr>
          <p:nvPr/>
        </p:nvSpPr>
        <p:spPr>
          <a:xfrm>
            <a:off x="1123950" y="5695950"/>
            <a:ext cx="990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2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Maquette isolée; aucun raccordement opérateur n’est nécessaire.</a:t>
            </a:r>
          </a:p>
        </p:txBody>
      </p:sp>
    </p:spTree>
    <p:extLst>
      <p:ext uri="{BB962C8B-B14F-4D97-AF65-F5344CB8AC3E}">
        <p14:creationId xmlns:p14="http://schemas.microsoft.com/office/powerpoint/2010/main" val="98572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EADCE0-498F-4D81-AAB2-1D3C041D76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ACE1FF-2C63-4C21-8468-F2234BD0702E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4A4747-71B4-47CD-A398-EA747C1231B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Plan de la démonstration pratique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6F43EE-9BAA-4E51-9B9B-738DF8BAB00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BF8C05-F0BE-49D8-A139-45545D2A2139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23C11C-1606-481D-90AA-0933905C6A06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8B3D60-6CD7-45C7-9D51-79F3DD7FAAD7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CDE1CF-9AAB-4AEE-A491-0950F7123807}"/>
              </a:ext>
            </a:extLst>
          </p:cNvPr>
          <p:cNvSpPr>
            <a:spLocks noGrp="1"/>
          </p:cNvSpPr>
          <p:nvPr/>
        </p:nvSpPr>
        <p:spPr>
          <a:xfrm>
            <a:off x="1543050" y="175260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Créer la VM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608141-4D4F-492D-BDEA-E1BD397C90CF}"/>
              </a:ext>
            </a:extLst>
          </p:cNvPr>
          <p:cNvSpPr>
            <a:spLocks noGrp="1"/>
          </p:cNvSpPr>
          <p:nvPr/>
        </p:nvSpPr>
        <p:spPr>
          <a:xfrm>
            <a:off x="1543050" y="21907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Ubuntu Server et réseau VirtualBox</a:t>
            </a:r>
          </a:p>
        </p:txBody>
      </p:sp>
      <p:sp>
        <p:nvSpPr>
          <p:cNvPr id="10" name="Connecteur droit 9">
            <a:extLst>
              <a:ext uri="{FF2B5EF4-FFF2-40B4-BE49-F238E27FC236}">
                <a16:creationId xmlns:a16="http://schemas.microsoft.com/office/drawing/2014/main" id="{A2A1B9E7-DAB1-418D-948B-6CAF659B5C6D}"/>
              </a:ext>
            </a:extLst>
          </p:cNvPr>
          <p:cNvSpPr>
            <a:spLocks noGrp="1"/>
          </p:cNvSpPr>
          <p:nvPr/>
        </p:nvSpPr>
        <p:spPr>
          <a:xfrm>
            <a:off x="1543050" y="2895600"/>
            <a:ext cx="2219325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090E42-84B9-491D-B350-01CB4FF1CE15}"/>
              </a:ext>
            </a:extLst>
          </p:cNvPr>
          <p:cNvSpPr>
            <a:spLocks noGrp="1"/>
          </p:cNvSpPr>
          <p:nvPr/>
        </p:nvSpPr>
        <p:spPr>
          <a:xfrm>
            <a:off x="4286250" y="17526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267BCC-E340-4B2F-B361-A242357A48B9}"/>
              </a:ext>
            </a:extLst>
          </p:cNvPr>
          <p:cNvSpPr>
            <a:spLocks noGrp="1"/>
          </p:cNvSpPr>
          <p:nvPr/>
        </p:nvSpPr>
        <p:spPr>
          <a:xfrm>
            <a:off x="4972050" y="175260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Installer Asterisk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F4A6F9-1B32-4B75-95A6-47C1B0CD4D1F}"/>
              </a:ext>
            </a:extLst>
          </p:cNvPr>
          <p:cNvSpPr>
            <a:spLocks noGrp="1"/>
          </p:cNvSpPr>
          <p:nvPr/>
        </p:nvSpPr>
        <p:spPr>
          <a:xfrm>
            <a:off x="4972050" y="21907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Service et pare-feu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ED21BD51-5DC7-46CC-9212-B7CEA63F08D1}"/>
              </a:ext>
            </a:extLst>
          </p:cNvPr>
          <p:cNvSpPr>
            <a:spLocks noGrp="1"/>
          </p:cNvSpPr>
          <p:nvPr/>
        </p:nvSpPr>
        <p:spPr>
          <a:xfrm>
            <a:off x="4972050" y="2895600"/>
            <a:ext cx="2219325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AFC9F1-BD69-4C70-A23D-C374CC916B25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F5AA4C-8D4D-42BB-97B0-E687F8C5ECBB}"/>
              </a:ext>
            </a:extLst>
          </p:cNvPr>
          <p:cNvSpPr>
            <a:spLocks noGrp="1"/>
          </p:cNvSpPr>
          <p:nvPr/>
        </p:nvSpPr>
        <p:spPr>
          <a:xfrm>
            <a:off x="8401050" y="175260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Configurer PJSIP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F555BE-A22D-4DCA-B65F-27DBB290E1F8}"/>
              </a:ext>
            </a:extLst>
          </p:cNvPr>
          <p:cNvSpPr>
            <a:spLocks noGrp="1"/>
          </p:cNvSpPr>
          <p:nvPr/>
        </p:nvSpPr>
        <p:spPr>
          <a:xfrm>
            <a:off x="8401050" y="21907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Extensions 1001 et 1002</a:t>
            </a:r>
          </a:p>
        </p:txBody>
      </p:sp>
      <p:sp>
        <p:nvSpPr>
          <p:cNvPr id="18" name="Connecteur droit 17">
            <a:extLst>
              <a:ext uri="{FF2B5EF4-FFF2-40B4-BE49-F238E27FC236}">
                <a16:creationId xmlns:a16="http://schemas.microsoft.com/office/drawing/2014/main" id="{C8830796-9E0A-4AFF-B56B-8052CD965FC9}"/>
              </a:ext>
            </a:extLst>
          </p:cNvPr>
          <p:cNvSpPr>
            <a:spLocks noGrp="1"/>
          </p:cNvSpPr>
          <p:nvPr/>
        </p:nvSpPr>
        <p:spPr>
          <a:xfrm>
            <a:off x="8401050" y="2895600"/>
            <a:ext cx="2219325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84BBCC-7D2E-4FAA-A394-950C56EA0780}"/>
              </a:ext>
            </a:extLst>
          </p:cNvPr>
          <p:cNvSpPr>
            <a:spLocks noGrp="1"/>
          </p:cNvSpPr>
          <p:nvPr/>
        </p:nvSpPr>
        <p:spPr>
          <a:xfrm>
            <a:off x="857250" y="35052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2DFF75A-E923-476C-8289-F1CA4392B00D}"/>
              </a:ext>
            </a:extLst>
          </p:cNvPr>
          <p:cNvSpPr>
            <a:spLocks noGrp="1"/>
          </p:cNvSpPr>
          <p:nvPr/>
        </p:nvSpPr>
        <p:spPr>
          <a:xfrm>
            <a:off x="1543050" y="350520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Configurer le dialplan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2C6747-A900-4D0F-B257-7C87CCE6C918}"/>
              </a:ext>
            </a:extLst>
          </p:cNvPr>
          <p:cNvSpPr>
            <a:spLocks noGrp="1"/>
          </p:cNvSpPr>
          <p:nvPr/>
        </p:nvSpPr>
        <p:spPr>
          <a:xfrm>
            <a:off x="1543050" y="39433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Routage interne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B232D646-59DD-4F99-A389-6BB129CB561E}"/>
              </a:ext>
            </a:extLst>
          </p:cNvPr>
          <p:cNvSpPr>
            <a:spLocks noGrp="1"/>
          </p:cNvSpPr>
          <p:nvPr/>
        </p:nvSpPr>
        <p:spPr>
          <a:xfrm>
            <a:off x="1543050" y="4648200"/>
            <a:ext cx="2219325" cy="953"/>
          </a:xfrm>
          <a:prstGeom prst="line">
            <a:avLst/>
          </a:prstGeom>
          <a:noFill/>
          <a:ln w="19050">
            <a:solidFill>
              <a:srgbClr val="D5DEE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DEDD78-4AFC-45CE-B089-C0A4BCCEF52D}"/>
              </a:ext>
            </a:extLst>
          </p:cNvPr>
          <p:cNvSpPr>
            <a:spLocks noGrp="1"/>
          </p:cNvSpPr>
          <p:nvPr/>
        </p:nvSpPr>
        <p:spPr>
          <a:xfrm>
            <a:off x="4286250" y="3505200"/>
            <a:ext cx="647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4C04A2-8D14-44EA-8363-42DF3C6F7064}"/>
              </a:ext>
            </a:extLst>
          </p:cNvPr>
          <p:cNvSpPr>
            <a:spLocks noGrp="1"/>
          </p:cNvSpPr>
          <p:nvPr/>
        </p:nvSpPr>
        <p:spPr>
          <a:xfrm>
            <a:off x="4972050" y="3505200"/>
            <a:ext cx="2381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Valider l’appel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BDFDBA-69C6-41DF-BB97-FD1DDAEA0C4B}"/>
              </a:ext>
            </a:extLst>
          </p:cNvPr>
          <p:cNvSpPr>
            <a:spLocks noGrp="1"/>
          </p:cNvSpPr>
          <p:nvPr/>
        </p:nvSpPr>
        <p:spPr>
          <a:xfrm>
            <a:off x="4972050" y="3943350"/>
            <a:ext cx="238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Enregistrement, audio, journaux</a:t>
            </a:r>
          </a:p>
        </p:txBody>
      </p:sp>
      <p:sp>
        <p:nvSpPr>
          <p:cNvPr id="26" name="Connecteur droit 25">
            <a:extLst>
              <a:ext uri="{FF2B5EF4-FFF2-40B4-BE49-F238E27FC236}">
                <a16:creationId xmlns:a16="http://schemas.microsoft.com/office/drawing/2014/main" id="{BC6547E4-2E70-4CFB-B405-E891AB656645}"/>
              </a:ext>
            </a:extLst>
          </p:cNvPr>
          <p:cNvSpPr>
            <a:spLocks noGrp="1"/>
          </p:cNvSpPr>
          <p:nvPr/>
        </p:nvSpPr>
        <p:spPr>
          <a:xfrm>
            <a:off x="4972050" y="4648200"/>
            <a:ext cx="2219325" cy="953"/>
          </a:xfrm>
          <a:prstGeom prst="line">
            <a:avLst/>
          </a:prstGeom>
          <a:noFill/>
          <a:ln w="19050">
            <a:solidFill>
              <a:srgbClr val="E3A735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EC76BE-3913-4E84-8034-5F7B44D914C8}"/>
              </a:ext>
            </a:extLst>
          </p:cNvPr>
          <p:cNvSpPr>
            <a:spLocks noGrp="1"/>
          </p:cNvSpPr>
          <p:nvPr/>
        </p:nvSpPr>
        <p:spPr>
          <a:xfrm>
            <a:off x="904875" y="5438775"/>
            <a:ext cx="10287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ctr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75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Résultat attendu : 1001 et 1002 s’enregistrent et échangent un appel interne.</a:t>
            </a:r>
          </a:p>
        </p:txBody>
      </p:sp>
    </p:spTree>
    <p:extLst>
      <p:ext uri="{BB962C8B-B14F-4D97-AF65-F5344CB8AC3E}">
        <p14:creationId xmlns:p14="http://schemas.microsoft.com/office/powerpoint/2010/main" val="1443712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9055303-A366-4D13-84B2-2208448836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7F86"/>
          </a:solidFill>
          <a:ln w="0">
            <a:noFill/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F0B68D-1522-42CD-91C5-016997420B8B}"/>
              </a:ext>
            </a:extLst>
          </p:cNvPr>
          <p:cNvSpPr>
            <a:spLocks noGrp="1"/>
          </p:cNvSpPr>
          <p:nvPr/>
        </p:nvSpPr>
        <p:spPr>
          <a:xfrm>
            <a:off x="609600" y="26670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SERVICE À VALEUR AJOUTÉE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A7938E-0A3C-4990-9D6D-BCAB27F2397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109728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Conclusion et bibliographie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F9151-EDC5-43C2-9ECB-97E355238B7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D5DEE8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570E81-4816-4720-BAAE-E69A255DF678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762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975" b="0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8778B"/>
                </a:solidFill>
                <a:latin typeface="Arial"/>
                <a:ea typeface="Arial"/>
                <a:cs typeface="Arial"/>
              </a:rPr>
              <a:t>Étude de la communication unifiée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D9C00B-CEC2-4944-960B-96B392D3149E}"/>
              </a:ext>
            </a:extLst>
          </p:cNvPr>
          <p:cNvSpPr>
            <a:spLocks noGrp="1"/>
          </p:cNvSpPr>
          <p:nvPr/>
        </p:nvSpPr>
        <p:spPr>
          <a:xfrm>
            <a:off x="11182350" y="64960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050" b="1">
                <a:solidFill>
                  <a:srgbClr val="68778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8778B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5785F-3B8D-46D5-A46D-3F4C7C65CA6C}"/>
              </a:ext>
            </a:extLst>
          </p:cNvPr>
          <p:cNvSpPr>
            <a:spLocks noGrp="1"/>
          </p:cNvSpPr>
          <p:nvPr/>
        </p:nvSpPr>
        <p:spPr>
          <a:xfrm>
            <a:off x="781050" y="1466850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1">
                <a:solidFill>
                  <a:srgbClr val="007F8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F86"/>
                </a:solidFill>
                <a:latin typeface="Arial"/>
                <a:ea typeface="Arial"/>
                <a:cs typeface="Arial"/>
              </a:rPr>
              <a:t>À retenir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3073B0-AB1E-412A-9748-F20F75056449}"/>
              </a:ext>
            </a:extLst>
          </p:cNvPr>
          <p:cNvSpPr>
            <a:spLocks noGrp="1"/>
          </p:cNvSpPr>
          <p:nvPr/>
        </p:nvSpPr>
        <p:spPr>
          <a:xfrm>
            <a:off x="781050" y="1866900"/>
            <a:ext cx="10287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8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0B183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1830"/>
                </a:solidFill>
                <a:latin typeface="Arial"/>
                <a:ea typeface="Arial"/>
                <a:cs typeface="Arial"/>
              </a:rPr>
              <a:t>Signalisation, média, codecs, réseau et sécurité forment un service cohérent.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F02B1E-9DB4-44A5-BEF2-76365541032D}"/>
              </a:ext>
            </a:extLst>
          </p:cNvPr>
          <p:cNvSpPr>
            <a:spLocks noGrp="1"/>
          </p:cNvSpPr>
          <p:nvPr/>
        </p:nvSpPr>
        <p:spPr>
          <a:xfrm>
            <a:off x="781050" y="2762250"/>
            <a:ext cx="666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57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1">
                <a:solidFill>
                  <a:srgbClr val="376F9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76F9E"/>
                </a:solidFill>
                <a:latin typeface="Arial"/>
                <a:ea typeface="Arial"/>
                <a:cs typeface="Arial"/>
              </a:rPr>
              <a:t>Références officielles et standards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5BA43E-98C7-456F-ADF4-6291FC7FC008}"/>
              </a:ext>
            </a:extLst>
          </p:cNvPr>
          <p:cNvSpPr>
            <a:spLocks noGrp="1"/>
          </p:cNvSpPr>
          <p:nvPr/>
        </p:nvSpPr>
        <p:spPr>
          <a:xfrm>
            <a:off x="781050" y="3200400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IETF RFC 3261 · SIP — rfc-editor.org/info/rfc3261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65D148-B5AE-4474-A3FF-006F7EA9F4E0}"/>
              </a:ext>
            </a:extLst>
          </p:cNvPr>
          <p:cNvSpPr>
            <a:spLocks noGrp="1"/>
          </p:cNvSpPr>
          <p:nvPr/>
        </p:nvSpPr>
        <p:spPr>
          <a:xfrm>
            <a:off x="781050" y="3609975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IETF RFC 3435 · MGCP — rfc-editor.org/info/rfc3435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4A78F3-470F-460B-9231-9B1161626A2D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IETF RFC 3550 · RTP/RTCP — rfc-editor.org/info/rfc3550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EE22EE-54B8-4B3F-941E-6951B2A83268}"/>
              </a:ext>
            </a:extLst>
          </p:cNvPr>
          <p:cNvSpPr>
            <a:spLocks noGrp="1"/>
          </p:cNvSpPr>
          <p:nvPr/>
        </p:nvSpPr>
        <p:spPr>
          <a:xfrm>
            <a:off x="781050" y="4429125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IETF RFC 3551 · RTP audio/vidéo — rfc-editor.org/info/rfc3551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AAE074-E584-4228-8330-C15CCD3E2383}"/>
              </a:ext>
            </a:extLst>
          </p:cNvPr>
          <p:cNvSpPr>
            <a:spLocks noGrp="1"/>
          </p:cNvSpPr>
          <p:nvPr/>
        </p:nvSpPr>
        <p:spPr>
          <a:xfrm>
            <a:off x="781050" y="4838700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ITU-T H.323 (03/2022) — itu.int, recommandation H.323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BD2470-3100-40DB-93AB-4573D2B318E4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Asterisk Docs · Architecture et PJSIP — docs.asterisk.org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4DC1FB-AC10-42DA-9B90-7BDD58206871}"/>
              </a:ext>
            </a:extLst>
          </p:cNvPr>
          <p:cNvSpPr>
            <a:spLocks noGrp="1"/>
          </p:cNvSpPr>
          <p:nvPr/>
        </p:nvSpPr>
        <p:spPr>
          <a:xfrm>
            <a:off x="6191250" y="3609975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Cisco Docs · CUCM / CME — cisco.com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617288-4DDF-4386-B9CB-8C13143F4970}"/>
              </a:ext>
            </a:extLst>
          </p:cNvPr>
          <p:cNvSpPr>
            <a:spLocks noGrp="1"/>
          </p:cNvSpPr>
          <p:nvPr/>
        </p:nvSpPr>
        <p:spPr>
          <a:xfrm>
            <a:off x="6191250" y="4019550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Microsoft Learn · Teams Direct Routing — learn.microsoft.com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96C6BC1-7A72-4396-9CEB-18C3B0B9CAAF}"/>
              </a:ext>
            </a:extLst>
          </p:cNvPr>
          <p:cNvSpPr>
            <a:spLocks noGrp="1"/>
          </p:cNvSpPr>
          <p:nvPr/>
        </p:nvSpPr>
        <p:spPr>
          <a:xfrm>
            <a:off x="6191250" y="4429125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3CX Docs · Administration Manual — 3cx.com/docs/manual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E2D10-2C44-4604-A9A8-BE014C34EF10}"/>
              </a:ext>
            </a:extLst>
          </p:cNvPr>
          <p:cNvSpPr>
            <a:spLocks noGrp="1"/>
          </p:cNvSpPr>
          <p:nvPr/>
        </p:nvSpPr>
        <p:spPr>
          <a:xfrm>
            <a:off x="6191250" y="4838700"/>
            <a:ext cx="519112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14233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4233A"/>
                </a:solidFill>
                <a:latin typeface="Arial"/>
                <a:ea typeface="Arial"/>
                <a:cs typeface="Arial"/>
              </a:rPr>
              <a:t>• FreePBX Community · Trixbox CE — community.freepbx.org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2693618-86D0-41FC-9090-FCC42931F662}"/>
              </a:ext>
            </a:extLst>
          </p:cNvPr>
          <p:cNvSpPr>
            <a:spLocks noGrp="1"/>
          </p:cNvSpPr>
          <p:nvPr/>
        </p:nvSpPr>
        <p:spPr>
          <a:xfrm>
            <a:off x="781050" y="5553075"/>
            <a:ext cx="10382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>
            <a:defPPr algn="l">
              <a:defRPr sz="142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E3A73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3A735"/>
                </a:solidFill>
                <a:latin typeface="Arial"/>
                <a:ea typeface="Arial"/>
                <a:cs typeface="Arial"/>
              </a:rPr>
              <a:t>Prochaine étape : maquette Asterisk sur Ubuntu Server dans VirtualBox.</a:t>
            </a:r>
          </a:p>
        </p:txBody>
      </p:sp>
    </p:spTree>
    <p:extLst>
      <p:ext uri="{BB962C8B-B14F-4D97-AF65-F5344CB8AC3E}">
        <p14:creationId xmlns:p14="http://schemas.microsoft.com/office/powerpoint/2010/main" val="5089642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3061</Words>
  <Application>Microsoft Office PowerPoint</Application>
  <DocSecurity>0</DocSecurity>
  <PresentationFormat>Grand écran</PresentationFormat>
  <Paragraphs>587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7" baseType="lpstr">
      <vt:lpstr>Arial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mamadou sene</cp:lastModifiedBy>
  <cp:revision>3</cp:revision>
  <dcterms:created xsi:type="dcterms:W3CDTF">2026-10-16T01:05:50Z</dcterms:created>
  <dcterms:modified xsi:type="dcterms:W3CDTF">2026-10-20T00:13:54Z</dcterms:modified>
</cp:coreProperties>
</file>