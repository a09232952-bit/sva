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d70a533-a3fc-3463-e683-70ee62e1bd10}">
          <p14:sldIdLst>
            <p14:sldId id="256"/>
            <p14:sldId id="257"/>
          </p14:sldIdLst>
        </p14:section>
        <p14:section name="Comprendre l'IPTV" id="{ed826602-c178-9455-af3a-2a79f30bd1e8}">
          <p14:sldIdLst>
            <p14:sldId id="258"/>
            <p14:sldId id="259"/>
            <p14:sldId id="260"/>
            <p14:sldId id="261"/>
          </p14:sldIdLst>
        </p14:section>
        <p14:section name="Architecture et technologies" id="{b0890837-de82-3b02-a186-b41775a9f55b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ervices à valeur ajoutée" id="{c10893df-a25f-a8df-6f9a-87c0416bf1bf}">
          <p14:sldIdLst>
            <p14:sldId id="269"/>
            <p14:sldId id="270"/>
            <p14:sldId id="271"/>
            <p14:sldId id="272"/>
            <p14:sldId id="273"/>
          </p14:sldIdLst>
        </p14:section>
        <p14:section name="Marché et enjeux" id="{76c5ba1c-edb4-30e5-72db-5d0f675fc18c}">
          <p14:sldIdLst>
            <p14:sldId id="274"/>
            <p14:sldId id="275"/>
            <p14:sldId id="276"/>
            <p14:sldId id="277"/>
            <p14:sldId id="278"/>
          </p14:sldIdLst>
        </p14:section>
        <p14:section name="Conclusion" id="{2ee0f77b-fc4e-07d7-c006-359ff0bd2306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sujet : l'IPTV (Internet Protocol Television) dans le cadre du module Services à Valeur Ajoutée, sous la direction de M. Hadji FAYE.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: cinq parties, du concept technique jusqu'aux enjeux au Sénégal.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partie : poser les bases avant d'entrer dans la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IPTV = Internet Protocol Television. Attention : IPTV ne veut pas dire 'YouTube'. Le flux passe par un réseau géré par un opérateur, ce qui garantit la qualité.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différence entre IPTV (réseau géré, qualité garantie) et OTT (Internet public, qualité variable). Sur la TV classique, tout le monde reçoit le même flux.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L'IPTV est née avec l'ADSL (début des années 2000) puis a profité de la fibre, des Smart TV et de la 5G.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partie : le fonctionnement technique, expliqué simplement.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Parcourir les 5 étapes de gauche à droite. À chaque étape, le signal est transformé : numérisé, protégé, acheminé, décodé puis affiché.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middleware est souvent appelé le cerveau du service : c'est lui qui relie l'abonné, le guide des programmes, la VoD et la facturation.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s'attarder sur chaque sigle : retenir qu'il y a des protocoles de transport, des codecs de compression et des protections contre le piratage.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: le multicast, c'est comme une radio (un émetteur, beaucoup d'auditeurs). L'unicast, c'est comme un appel téléphonique, une ligne par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l'histoire d'Awa : à chaque étape, indiquer quel composant intervient (box, middleware, réseau multicast). Le point clé est l'étape 4 : la box 'rejoint' le groupe multicast de la chaîne via IGMP, ce qui évite d'envoyer toutes les chaînes à la fois.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Même abonnée, autre usage : la vidéo à la demande utilise un flux unicast dédié. Insister sur la différence avec le direct : ici Awa a son propre flux, ce qui permet pause, retour et avance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Troisième partie, le cœur du module : les SVA de l'IPTV.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SVA s'ajoute au service de base (ici la diffusion des chaînes) pour le rendre plus utile, plus pratique ou plus rentable.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services libèrent le téléspectateur de la grille horaire : il regarde ce qu'il veut, quand il veut, sur l'écran qu'il veut.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services créent de l'interaction et de nouvelles sources de revenus : publicité ciblée, achats depuis l'écran, recommandations par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SVA servent à monétiser le service. Les opérateurs combinent souvent plusieurs modèles.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Quatrième partie : l'IPTV dans le monde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varient selon les cabinets d'études et leurs méthodes. Retenir l'ordre de grandeur et la tendance : un marché qui croît de plus de 12 % par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 Sénégal, l'IPTV est à la fois une opportunité (fibre, offres moins chères) et une menace (piratage). Seule l'IPTV pirate pose problème : l'IPTV légale est un vrai levier de développement.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bilan : l'IPTV offre une qualité et une interactivité supérieures, mais exige un bon réseau et un cadre légal solide.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L'avenir de l'IPTV : meilleure image, meilleurs réseaux, plus d'intelligence et une infrastructure dans le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Résumer en trois idées : technologie, services, enjeu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public et le professeur, puis ouvrir la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crédits : licences des photos utilisées.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IPTV · Services à Valeur Ajoutée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dirty="0">
                <a:solidFill>
                  <a:schemeClr val="accent3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IPTV · Services à Valeur Ajoutée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photo droi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7132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IPTV · Services à Valeur Ajoutée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ein cad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2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093_0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1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Module Services à Valeur Ajoutée (SVA)</a:t>
            </a:r>
            <a:endParaRPr lang="en-US" sz="1400" dirty="0"/>
          </a:p>
        </p:txBody>
      </p:sp>
      <p:sp>
        <p:nvSpPr>
          <p:cNvPr id="4" name="t2"/>
          <p:cNvSpPr txBox="1"/>
          <p:nvPr/>
        </p:nvSpPr>
        <p:spPr>
          <a:xfrm>
            <a:off x="548640" y="11430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IPTV</a:t>
            </a:r>
            <a:endParaRPr lang="en-US" sz="12000" dirty="0"/>
          </a:p>
        </p:txBody>
      </p:sp>
      <p:sp>
        <p:nvSpPr>
          <p:cNvPr id="5" name="t3"/>
          <p:cNvSpPr txBox="1"/>
          <p:nvPr/>
        </p:nvSpPr>
        <p:spPr>
          <a:xfrm>
            <a:off x="640080" y="3017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La télévision sur protocole IP : fonctionnement, services et enjeux</a:t>
            </a:r>
            <a:endParaRPr lang="en-US" sz="2200" dirty="0"/>
          </a:p>
        </p:txBody>
      </p:sp>
      <p:sp>
        <p:nvSpPr>
          <p:cNvPr id="6" name="l4"/>
          <p:cNvSpPr/>
          <p:nvPr/>
        </p:nvSpPr>
        <p:spPr>
          <a:xfrm>
            <a:off x="640080" y="4343400"/>
            <a:ext cx="5394960" cy="91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7" name="t5"/>
          <p:cNvSpPr txBox="1"/>
          <p:nvPr/>
        </p:nvSpPr>
        <p:spPr>
          <a:xfrm>
            <a:off x="64008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Présenté par</a:t>
            </a:r>
            <a:endParaRPr lang="en-US" sz="1100" dirty="0"/>
          </a:p>
        </p:txBody>
      </p:sp>
      <p:sp>
        <p:nvSpPr>
          <p:cNvPr id="8" name="t6"/>
          <p:cNvSpPr txBox="1"/>
          <p:nvPr/>
        </p:nvSpPr>
        <p:spPr>
          <a:xfrm>
            <a:off x="640080" y="4846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Khadim DIOP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Bineta DIENG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Mamadou S. DIALLO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Arona NDAW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Mama Dansira DEMBELÉ</a:t>
            </a:r>
            <a:endParaRPr lang="en-US" sz="1400" dirty="0"/>
          </a:p>
        </p:txBody>
      </p:sp>
      <p:sp>
        <p:nvSpPr>
          <p:cNvPr id="9" name="t7"/>
          <p:cNvSpPr txBox="1"/>
          <p:nvPr/>
        </p:nvSpPr>
        <p:spPr>
          <a:xfrm>
            <a:off x="3657600" y="4572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Sous la direction de</a:t>
            </a:r>
            <a:endParaRPr lang="en-US" sz="1100" dirty="0"/>
          </a:p>
        </p:txBody>
      </p:sp>
      <p:sp>
        <p:nvSpPr>
          <p:cNvPr id="10" name="t8"/>
          <p:cNvSpPr txBox="1"/>
          <p:nvPr/>
        </p:nvSpPr>
        <p:spPr>
          <a:xfrm>
            <a:off x="3657600" y="4846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M. Hadji FAYE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photo_p018_10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4" name="t11"/>
          <p:cNvSpPr txBox="1"/>
          <p:nvPr/>
        </p:nvSpPr>
        <p:spPr>
          <a:xfrm>
            <a:off x="4846320" y="457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5" name="l12"/>
          <p:cNvSpPr/>
          <p:nvPr/>
        </p:nvSpPr>
        <p:spPr>
          <a:xfrm>
            <a:off x="4846320" y="1600200"/>
            <a:ext cx="679399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6" name="t13"/>
          <p:cNvSpPr txBox="1"/>
          <p:nvPr/>
        </p:nvSpPr>
        <p:spPr>
          <a:xfrm>
            <a:off x="484632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14"/>
          <p:cNvSpPr txBox="1"/>
          <p:nvPr/>
        </p:nvSpPr>
        <p:spPr>
          <a:xfrm>
            <a:off x="5760720" y="17830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Comprendre l'IPTV</a:t>
            </a:r>
            <a:endParaRPr lang="en-US" sz="2000" dirty="0"/>
          </a:p>
        </p:txBody>
      </p:sp>
      <p:sp>
        <p:nvSpPr>
          <p:cNvPr id="8" name="t15"/>
          <p:cNvSpPr txBox="1"/>
          <p:nvPr/>
        </p:nvSpPr>
        <p:spPr>
          <a:xfrm>
            <a:off x="5760720" y="2130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Définition, comparaison, historique</a:t>
            </a:r>
            <a:endParaRPr lang="en-US" sz="1400" dirty="0"/>
          </a:p>
        </p:txBody>
      </p:sp>
      <p:sp>
        <p:nvSpPr>
          <p:cNvPr id="9" name="l16"/>
          <p:cNvSpPr/>
          <p:nvPr/>
        </p:nvSpPr>
        <p:spPr>
          <a:xfrm>
            <a:off x="4846320" y="2542032"/>
            <a:ext cx="679399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0" name="t17"/>
          <p:cNvSpPr txBox="1"/>
          <p:nvPr/>
        </p:nvSpPr>
        <p:spPr>
          <a:xfrm>
            <a:off x="4846320" y="2724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18"/>
          <p:cNvSpPr txBox="1"/>
          <p:nvPr/>
        </p:nvSpPr>
        <p:spPr>
          <a:xfrm>
            <a:off x="5760720" y="27249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Architecture et technologies</a:t>
            </a:r>
            <a:endParaRPr lang="en-US" sz="2000" dirty="0"/>
          </a:p>
        </p:txBody>
      </p:sp>
      <p:sp>
        <p:nvSpPr>
          <p:cNvPr id="12" name="t19"/>
          <p:cNvSpPr txBox="1"/>
          <p:nvPr/>
        </p:nvSpPr>
        <p:spPr>
          <a:xfrm>
            <a:off x="5760720" y="3072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Composants, protocoles, cas pratique</a:t>
            </a:r>
            <a:endParaRPr lang="en-US" sz="1400" dirty="0"/>
          </a:p>
        </p:txBody>
      </p:sp>
      <p:sp>
        <p:nvSpPr>
          <p:cNvPr id="13" name="l20"/>
          <p:cNvSpPr/>
          <p:nvPr/>
        </p:nvSpPr>
        <p:spPr>
          <a:xfrm>
            <a:off x="4846320" y="3483864"/>
            <a:ext cx="679399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4" name="t21"/>
          <p:cNvSpPr txBox="1"/>
          <p:nvPr/>
        </p:nvSpPr>
        <p:spPr>
          <a:xfrm>
            <a:off x="4846320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22"/>
          <p:cNvSpPr txBox="1"/>
          <p:nvPr/>
        </p:nvSpPr>
        <p:spPr>
          <a:xfrm>
            <a:off x="5760720" y="36667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Services à valeur ajoutée</a:t>
            </a:r>
            <a:endParaRPr lang="en-US" sz="2000" dirty="0"/>
          </a:p>
        </p:txBody>
      </p:sp>
      <p:sp>
        <p:nvSpPr>
          <p:cNvPr id="16" name="t23"/>
          <p:cNvSpPr txBox="1"/>
          <p:nvPr/>
        </p:nvSpPr>
        <p:spPr>
          <a:xfrm>
            <a:off x="5760720" y="40142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VoD, replay, interactivité, business</a:t>
            </a:r>
            <a:endParaRPr lang="en-US" sz="1400" dirty="0"/>
          </a:p>
        </p:txBody>
      </p:sp>
      <p:sp>
        <p:nvSpPr>
          <p:cNvPr id="17" name="l24"/>
          <p:cNvSpPr/>
          <p:nvPr/>
        </p:nvSpPr>
        <p:spPr>
          <a:xfrm>
            <a:off x="4846320" y="4425696"/>
            <a:ext cx="679399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8" name="t25"/>
          <p:cNvSpPr txBox="1"/>
          <p:nvPr/>
        </p:nvSpPr>
        <p:spPr>
          <a:xfrm>
            <a:off x="4846320" y="46085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26"/>
          <p:cNvSpPr txBox="1"/>
          <p:nvPr/>
        </p:nvSpPr>
        <p:spPr>
          <a:xfrm>
            <a:off x="5760720" y="460857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Marché et enjeux</a:t>
            </a:r>
            <a:endParaRPr lang="en-US" sz="2000" dirty="0"/>
          </a:p>
        </p:txBody>
      </p:sp>
      <p:sp>
        <p:nvSpPr>
          <p:cNvPr id="20" name="t27"/>
          <p:cNvSpPr txBox="1"/>
          <p:nvPr/>
        </p:nvSpPr>
        <p:spPr>
          <a:xfrm>
            <a:off x="5760720" y="4956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Chiffres, Sénégal, avantages, limites</a:t>
            </a:r>
            <a:endParaRPr lang="en-US" sz="1400" dirty="0"/>
          </a:p>
        </p:txBody>
      </p:sp>
      <p:sp>
        <p:nvSpPr>
          <p:cNvPr id="21" name="l28"/>
          <p:cNvSpPr/>
          <p:nvPr/>
        </p:nvSpPr>
        <p:spPr>
          <a:xfrm>
            <a:off x="4846320" y="5367528"/>
            <a:ext cx="679399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2" name="t29"/>
          <p:cNvSpPr txBox="1"/>
          <p:nvPr/>
        </p:nvSpPr>
        <p:spPr>
          <a:xfrm>
            <a:off x="4846320" y="55504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30"/>
          <p:cNvSpPr txBox="1"/>
          <p:nvPr/>
        </p:nvSpPr>
        <p:spPr>
          <a:xfrm>
            <a:off x="5760720" y="555040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24" name="t31"/>
          <p:cNvSpPr txBox="1"/>
          <p:nvPr/>
        </p:nvSpPr>
        <p:spPr>
          <a:xfrm>
            <a:off x="576072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Les points essentiels à retenir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071_32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r34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5" name="t35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Partie 1 / 5</a:t>
            </a:r>
            <a:endParaRPr lang="en-US" sz="1300" dirty="0"/>
          </a:p>
        </p:txBody>
      </p:sp>
      <p:sp>
        <p:nvSpPr>
          <p:cNvPr id="6" name="t36"/>
          <p:cNvSpPr txBox="1"/>
          <p:nvPr/>
        </p:nvSpPr>
        <p:spPr>
          <a:xfrm>
            <a:off x="54864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7" name="t37"/>
          <p:cNvSpPr txBox="1"/>
          <p:nvPr/>
        </p:nvSpPr>
        <p:spPr>
          <a:xfrm>
            <a:off x="548640" y="44348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l'IPTV</a:t>
            </a:r>
            <a:endParaRPr lang="en-US" sz="4400" dirty="0"/>
          </a:p>
        </p:txBody>
      </p:sp>
      <p:sp>
        <p:nvSpPr>
          <p:cNvPr id="8" name="t38"/>
          <p:cNvSpPr txBox="1"/>
          <p:nvPr/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>
                    <a:alpha val="85000"/>
                  </a:schemeClr>
                </a:solidFill>
              </a:rPr>
              <a:t>Définition, différences avec les autres modes de diffusion et évolution dans le temps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01  Comprendre l'IPTV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que l'IPTV ?</a:t>
            </a:r>
            <a:endParaRPr lang="en-US" sz="3000" dirty="0"/>
          </a:p>
        </p:txBody>
      </p:sp>
      <p:sp>
        <p:nvSpPr>
          <p:cNvPr id="4" name="t39"/>
          <p:cNvSpPr txBox="1"/>
          <p:nvPr/>
        </p:nvSpPr>
        <p:spPr>
          <a:xfrm>
            <a:off x="548640" y="1463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L'IPTV (Internet Protocol Television)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transmet les chaînes de télévision et les vidéos sous forme de paquets de données IP, à travers un réseau haut débit géré par un opérateur (fibre, ADSL, 4G/5G).</a:t>
            </a:r>
            <a:endParaRPr lang="en-US" sz="1800" dirty="0"/>
          </a:p>
        </p:txBody>
      </p:sp>
      <p:sp>
        <p:nvSpPr>
          <p:cNvPr id="5" name="t40"/>
          <p:cNvSpPr txBox="1"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Télévision  +  Protocole IP  =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IPTV</a:t>
            </a:r>
            <a:endParaRPr lang="en-US" sz="2200" dirty="0"/>
          </a:p>
        </p:txBody>
      </p:sp>
      <p:sp>
        <p:nvSpPr>
          <p:cNvPr id="6" name="l41"/>
          <p:cNvSpPr/>
          <p:nvPr/>
        </p:nvSpPr>
        <p:spPr>
          <a:xfrm>
            <a:off x="548640" y="3703320"/>
            <a:ext cx="548640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7" name="t42"/>
          <p:cNvSpPr txBox="1"/>
          <p:nvPr/>
        </p:nvSpPr>
        <p:spPr>
          <a:xfrm>
            <a:off x="548640" y="3867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Numérique</a:t>
            </a:r>
            <a:endParaRPr lang="en-US" sz="1600" dirty="0"/>
          </a:p>
        </p:txBody>
      </p:sp>
      <p:sp>
        <p:nvSpPr>
          <p:cNvPr id="8" name="t43"/>
          <p:cNvSpPr txBox="1"/>
          <p:nvPr/>
        </p:nvSpPr>
        <p:spPr>
          <a:xfrm>
            <a:off x="2103120" y="38679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le signal TV devient un flux de données IP</a:t>
            </a:r>
            <a:endParaRPr lang="en-US" sz="1500" dirty="0"/>
          </a:p>
        </p:txBody>
      </p:sp>
      <p:sp>
        <p:nvSpPr>
          <p:cNvPr id="9" name="l44"/>
          <p:cNvSpPr/>
          <p:nvPr/>
        </p:nvSpPr>
        <p:spPr>
          <a:xfrm>
            <a:off x="548640" y="4434840"/>
            <a:ext cx="548640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0" name="t45"/>
          <p:cNvSpPr txBox="1"/>
          <p:nvPr/>
        </p:nvSpPr>
        <p:spPr>
          <a:xfrm>
            <a:off x="548640" y="4599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Managé</a:t>
            </a:r>
            <a:endParaRPr lang="en-US" sz="1600" dirty="0"/>
          </a:p>
        </p:txBody>
      </p:sp>
      <p:sp>
        <p:nvSpPr>
          <p:cNvPr id="11" name="t46"/>
          <p:cNvSpPr txBox="1"/>
          <p:nvPr/>
        </p:nvSpPr>
        <p:spPr>
          <a:xfrm>
            <a:off x="2103120" y="4599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le réseau de l'opérateur garantit la qualité de service</a:t>
            </a:r>
            <a:endParaRPr lang="en-US" sz="1500" dirty="0"/>
          </a:p>
        </p:txBody>
      </p:sp>
      <p:sp>
        <p:nvSpPr>
          <p:cNvPr id="12" name="l47"/>
          <p:cNvSpPr/>
          <p:nvPr/>
        </p:nvSpPr>
        <p:spPr>
          <a:xfrm>
            <a:off x="548640" y="5166360"/>
            <a:ext cx="548640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3" name="t48"/>
          <p:cNvSpPr txBox="1"/>
          <p:nvPr/>
        </p:nvSpPr>
        <p:spPr>
          <a:xfrm>
            <a:off x="548640" y="5330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Interactif</a:t>
            </a:r>
            <a:endParaRPr lang="en-US" sz="1600" dirty="0"/>
          </a:p>
        </p:txBody>
      </p:sp>
      <p:sp>
        <p:nvSpPr>
          <p:cNvPr id="14" name="t49"/>
          <p:cNvSpPr txBox="1"/>
          <p:nvPr/>
        </p:nvSpPr>
        <p:spPr>
          <a:xfrm>
            <a:off x="2103120" y="5330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l'abonné choisit quoi regarder, quand et sur quel écran</a:t>
            </a:r>
            <a:endParaRPr lang="en-US" sz="1500" dirty="0"/>
          </a:p>
        </p:txBody>
      </p:sp>
      <p:sp>
        <p:nvSpPr>
          <p:cNvPr id="15" name="l50"/>
          <p:cNvSpPr/>
          <p:nvPr/>
        </p:nvSpPr>
        <p:spPr>
          <a:xfrm>
            <a:off x="548640" y="5897880"/>
            <a:ext cx="548640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pic>
        <p:nvPicPr>
          <p:cNvPr id="16" name="photo_p005_51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5148072" cy="3429000"/>
          </a:xfrm>
          <a:prstGeom prst="rect">
            <a:avLst/>
          </a:prstGeom>
        </p:spPr>
      </p:pic>
      <p:sp>
        <p:nvSpPr>
          <p:cNvPr id="17" name="t52"/>
          <p:cNvSpPr txBox="1"/>
          <p:nvPr/>
        </p:nvSpPr>
        <p:spPr>
          <a:xfrm>
            <a:off x="6492240" y="49834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Décodeur IPTV de China Telecom (Jiangmen, Chine)</a:t>
            </a:r>
            <a:endParaRPr lang="en-US" sz="1000" dirty="0"/>
          </a:p>
        </p:txBody>
      </p:sp>
      <p:sp>
        <p:nvSpPr>
          <p:cNvPr id="18" name="t53"/>
          <p:cNvSpPr txBox="1"/>
          <p:nvPr/>
        </p:nvSpPr>
        <p:spPr>
          <a:xfrm>
            <a:off x="6492240" y="5349240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À ne pas confondre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IPTV ne veut pas dire « YouTube » : le flux passe par un réseau géré par l'opérateur, ce qui garantit la qualité.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01  Comprendre l'IPTV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IPTV, TV classique et OTT</a:t>
            </a:r>
            <a:endParaRPr lang="en-US" sz="3000" dirty="0"/>
          </a:p>
        </p:txBody>
      </p:sp>
      <p:sp>
        <p:nvSpPr>
          <p:cNvPr id="4" name="r54"/>
          <p:cNvSpPr/>
          <p:nvPr/>
        </p:nvSpPr>
        <p:spPr>
          <a:xfrm>
            <a:off x="5605272" y="1371600"/>
            <a:ext cx="2944368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55"/>
          <p:cNvSpPr txBox="1"/>
          <p:nvPr/>
        </p:nvSpPr>
        <p:spPr>
          <a:xfrm>
            <a:off x="2715768" y="15544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 classique</a:t>
            </a:r>
            <a:endParaRPr lang="en-US" sz="2200" dirty="0"/>
          </a:p>
        </p:txBody>
      </p:sp>
      <p:sp>
        <p:nvSpPr>
          <p:cNvPr id="6" name="t56"/>
          <p:cNvSpPr txBox="1"/>
          <p:nvPr/>
        </p:nvSpPr>
        <p:spPr>
          <a:xfrm>
            <a:off x="2715768" y="21031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TNT, câble, satellite</a:t>
            </a:r>
            <a:endParaRPr lang="en-US" sz="1400" dirty="0"/>
          </a:p>
        </p:txBody>
      </p:sp>
      <p:sp>
        <p:nvSpPr>
          <p:cNvPr id="7" name="t57"/>
          <p:cNvSpPr txBox="1"/>
          <p:nvPr/>
        </p:nvSpPr>
        <p:spPr>
          <a:xfrm>
            <a:off x="5806440" y="15544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IPTV</a:t>
            </a:r>
            <a:endParaRPr lang="en-US" sz="2200" dirty="0"/>
          </a:p>
        </p:txBody>
      </p:sp>
      <p:sp>
        <p:nvSpPr>
          <p:cNvPr id="8" name="t58"/>
          <p:cNvSpPr txBox="1"/>
          <p:nvPr/>
        </p:nvSpPr>
        <p:spPr>
          <a:xfrm>
            <a:off x="8897112" y="155448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  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TV</a:t>
            </a:r>
            <a:endParaRPr lang="en-US" sz="2200" dirty="0"/>
          </a:p>
        </p:txBody>
      </p:sp>
      <p:pic>
        <p:nvPicPr>
          <p:cNvPr id="9" name="logo_freebox_59" descr="Logo free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30552"/>
            <a:ext cx="1222004" cy="237744"/>
          </a:xfrm>
          <a:prstGeom prst="rect">
            <a:avLst/>
          </a:prstGeom>
        </p:spPr>
      </p:pic>
      <p:pic>
        <p:nvPicPr>
          <p:cNvPr id="10" name="logo_orange_60" descr="Logo oran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764" y="2011680"/>
            <a:ext cx="457200" cy="457200"/>
          </a:xfrm>
          <a:prstGeom prst="rect">
            <a:avLst/>
          </a:prstGeom>
        </p:spPr>
      </p:pic>
      <p:pic>
        <p:nvPicPr>
          <p:cNvPr id="11" name="logo_netflix_61" descr="Logo netfli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139696"/>
            <a:ext cx="744322" cy="201168"/>
          </a:xfrm>
          <a:prstGeom prst="rect">
            <a:avLst/>
          </a:prstGeom>
        </p:spPr>
      </p:pic>
      <p:pic>
        <p:nvPicPr>
          <p:cNvPr id="12" name="logo_youtube_62" descr="Logo yout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602" y="2148840"/>
            <a:ext cx="859499" cy="192024"/>
          </a:xfrm>
          <a:prstGeom prst="rect">
            <a:avLst/>
          </a:prstGeom>
        </p:spPr>
      </p:pic>
      <p:pic>
        <p:nvPicPr>
          <p:cNvPr id="13" name="logo_prime_63" descr="Logo prim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3269" y="2112264"/>
            <a:ext cx="696992" cy="219456"/>
          </a:xfrm>
          <a:prstGeom prst="rect">
            <a:avLst/>
          </a:prstGeom>
        </p:spPr>
      </p:pic>
      <p:sp>
        <p:nvSpPr>
          <p:cNvPr id="14" name="l64"/>
          <p:cNvSpPr/>
          <p:nvPr/>
        </p:nvSpPr>
        <p:spPr>
          <a:xfrm>
            <a:off x="548640" y="2788920"/>
            <a:ext cx="1109167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5" name="t65"/>
          <p:cNvSpPr txBox="1"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Réseau</a:t>
            </a:r>
            <a:endParaRPr lang="en-US" sz="1500" dirty="0"/>
          </a:p>
        </p:txBody>
      </p:sp>
      <p:sp>
        <p:nvSpPr>
          <p:cNvPr id="16" name="t66"/>
          <p:cNvSpPr txBox="1"/>
          <p:nvPr/>
        </p:nvSpPr>
        <p:spPr>
          <a:xfrm>
            <a:off x="2715768" y="297180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Câble, satellite ou TNT</a:t>
            </a:r>
            <a:endParaRPr lang="en-US" sz="1500" dirty="0"/>
          </a:p>
        </p:txBody>
      </p:sp>
      <p:sp>
        <p:nvSpPr>
          <p:cNvPr id="17" name="t67"/>
          <p:cNvSpPr txBox="1"/>
          <p:nvPr/>
        </p:nvSpPr>
        <p:spPr>
          <a:xfrm>
            <a:off x="5806440" y="297180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Réseau IP géré par l'opérateur</a:t>
            </a:r>
            <a:endParaRPr lang="en-US" sz="1500" dirty="0"/>
          </a:p>
        </p:txBody>
      </p:sp>
      <p:sp>
        <p:nvSpPr>
          <p:cNvPr id="18" name="t68"/>
          <p:cNvSpPr txBox="1"/>
          <p:nvPr/>
        </p:nvSpPr>
        <p:spPr>
          <a:xfrm>
            <a:off x="8897112" y="297180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Internet public, sans garantie</a:t>
            </a:r>
            <a:endParaRPr lang="en-US" sz="1500" dirty="0"/>
          </a:p>
        </p:txBody>
      </p:sp>
      <p:sp>
        <p:nvSpPr>
          <p:cNvPr id="19" name="l69"/>
          <p:cNvSpPr/>
          <p:nvPr/>
        </p:nvSpPr>
        <p:spPr>
          <a:xfrm>
            <a:off x="548640" y="3886200"/>
            <a:ext cx="1109167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0" name="t70"/>
          <p:cNvSpPr txBox="1"/>
          <p:nvPr/>
        </p:nvSpPr>
        <p:spPr>
          <a:xfrm>
            <a:off x="5486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Diffusion</a:t>
            </a:r>
            <a:endParaRPr lang="en-US" sz="1500" dirty="0"/>
          </a:p>
        </p:txBody>
      </p:sp>
      <p:sp>
        <p:nvSpPr>
          <p:cNvPr id="21" name="t71"/>
          <p:cNvSpPr txBox="1"/>
          <p:nvPr/>
        </p:nvSpPr>
        <p:spPr>
          <a:xfrm>
            <a:off x="2715768" y="40690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Même flux pour tous les foyers</a:t>
            </a:r>
            <a:endParaRPr lang="en-US" sz="1500" dirty="0"/>
          </a:p>
        </p:txBody>
      </p:sp>
      <p:sp>
        <p:nvSpPr>
          <p:cNvPr id="22" name="t72"/>
          <p:cNvSpPr txBox="1"/>
          <p:nvPr/>
        </p:nvSpPr>
        <p:spPr>
          <a:xfrm>
            <a:off x="5806440" y="40690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Multicast et unicast, qualité garantie</a:t>
            </a:r>
            <a:endParaRPr lang="en-US" sz="1500" dirty="0"/>
          </a:p>
        </p:txBody>
      </p:sp>
      <p:sp>
        <p:nvSpPr>
          <p:cNvPr id="23" name="t73"/>
          <p:cNvSpPr txBox="1"/>
          <p:nvPr/>
        </p:nvSpPr>
        <p:spPr>
          <a:xfrm>
            <a:off x="8897112" y="40690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Streaming individuel à la demande</a:t>
            </a:r>
            <a:endParaRPr lang="en-US" sz="1500" dirty="0"/>
          </a:p>
        </p:txBody>
      </p:sp>
      <p:sp>
        <p:nvSpPr>
          <p:cNvPr id="24" name="l74"/>
          <p:cNvSpPr/>
          <p:nvPr/>
        </p:nvSpPr>
        <p:spPr>
          <a:xfrm>
            <a:off x="548640" y="4983480"/>
            <a:ext cx="1109167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5" name="t75"/>
          <p:cNvSpPr txBox="1"/>
          <p:nvPr/>
        </p:nvSpPr>
        <p:spPr>
          <a:xfrm>
            <a:off x="548640" y="5166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Interactivité</a:t>
            </a:r>
            <a:endParaRPr lang="en-US" sz="1500" dirty="0"/>
          </a:p>
        </p:txBody>
      </p:sp>
      <p:sp>
        <p:nvSpPr>
          <p:cNvPr id="26" name="t76"/>
          <p:cNvSpPr txBox="1"/>
          <p:nvPr/>
        </p:nvSpPr>
        <p:spPr>
          <a:xfrm>
            <a:off x="2715768" y="51663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Très limitée</a:t>
            </a:r>
            <a:endParaRPr lang="en-US" sz="1500" dirty="0"/>
          </a:p>
        </p:txBody>
      </p:sp>
      <p:sp>
        <p:nvSpPr>
          <p:cNvPr id="27" name="t77"/>
          <p:cNvSpPr txBox="1"/>
          <p:nvPr/>
        </p:nvSpPr>
        <p:spPr>
          <a:xfrm>
            <a:off x="5806440" y="51663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Forte : VoD, replay, guide</a:t>
            </a:r>
            <a:endParaRPr lang="en-US" sz="1500" dirty="0"/>
          </a:p>
        </p:txBody>
      </p:sp>
      <p:sp>
        <p:nvSpPr>
          <p:cNvPr id="28" name="t78"/>
          <p:cNvSpPr txBox="1"/>
          <p:nvPr/>
        </p:nvSpPr>
        <p:spPr>
          <a:xfrm>
            <a:off x="8897112" y="51663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Forte, qualité variable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01  Comprendre l'IPTV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évolution en 5 étapes</a:t>
            </a:r>
            <a:endParaRPr lang="en-US" sz="3000" dirty="0"/>
          </a:p>
        </p:txBody>
      </p:sp>
      <p:sp>
        <p:nvSpPr>
          <p:cNvPr id="4" name="t79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Née avec l'ADSL, l'IPTV a ensuite profité de la fibre, des Smart TV et de la 5G.</a:t>
            </a:r>
            <a:endParaRPr lang="en-US" sz="1700" dirty="0"/>
          </a:p>
        </p:txBody>
      </p:sp>
      <p:sp>
        <p:nvSpPr>
          <p:cNvPr id="5" name="l80"/>
          <p:cNvSpPr/>
          <p:nvPr/>
        </p:nvSpPr>
        <p:spPr>
          <a:xfrm>
            <a:off x="548640" y="3566160"/>
            <a:ext cx="11091672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6" name="d81"/>
          <p:cNvSpPr/>
          <p:nvPr/>
        </p:nvSpPr>
        <p:spPr>
          <a:xfrm>
            <a:off x="548640" y="3483864"/>
            <a:ext cx="164592" cy="16459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82"/>
          <p:cNvSpPr txBox="1"/>
          <p:nvPr/>
        </p:nvSpPr>
        <p:spPr>
          <a:xfrm>
            <a:off x="54864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83"/>
          <p:cNvSpPr txBox="1"/>
          <p:nvPr/>
        </p:nvSpPr>
        <p:spPr>
          <a:xfrm>
            <a:off x="54864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Années 1990</a:t>
            </a:r>
            <a:endParaRPr lang="en-US" sz="2400" dirty="0"/>
          </a:p>
        </p:txBody>
      </p:sp>
      <p:sp>
        <p:nvSpPr>
          <p:cNvPr id="9" name="t84"/>
          <p:cNvSpPr txBox="1"/>
          <p:nvPr/>
        </p:nvSpPr>
        <p:spPr>
          <a:xfrm>
            <a:off x="548640" y="3886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Premières expériences de vidéo sur IP</a:t>
            </a:r>
            <a:endParaRPr lang="en-US" sz="1600" dirty="0"/>
          </a:p>
        </p:txBody>
      </p:sp>
      <p:sp>
        <p:nvSpPr>
          <p:cNvPr id="10" name="d85"/>
          <p:cNvSpPr/>
          <p:nvPr/>
        </p:nvSpPr>
        <p:spPr>
          <a:xfrm>
            <a:off x="2788920" y="3483864"/>
            <a:ext cx="164592" cy="16459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86"/>
          <p:cNvSpPr txBox="1"/>
          <p:nvPr/>
        </p:nvSpPr>
        <p:spPr>
          <a:xfrm>
            <a:off x="278892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87"/>
          <p:cNvSpPr txBox="1"/>
          <p:nvPr/>
        </p:nvSpPr>
        <p:spPr>
          <a:xfrm>
            <a:off x="27889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Début 2000</a:t>
            </a:r>
            <a:endParaRPr lang="en-US" sz="2400" dirty="0"/>
          </a:p>
        </p:txBody>
      </p:sp>
      <p:sp>
        <p:nvSpPr>
          <p:cNvPr id="13" name="t88"/>
          <p:cNvSpPr txBox="1"/>
          <p:nvPr/>
        </p:nvSpPr>
        <p:spPr>
          <a:xfrm>
            <a:off x="2788920" y="3886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Lancements commerciaux sur ADSL</a:t>
            </a:r>
            <a:endParaRPr lang="en-US" sz="1600" dirty="0"/>
          </a:p>
        </p:txBody>
      </p:sp>
      <p:sp>
        <p:nvSpPr>
          <p:cNvPr id="14" name="d89"/>
          <p:cNvSpPr/>
          <p:nvPr/>
        </p:nvSpPr>
        <p:spPr>
          <a:xfrm>
            <a:off x="5029200" y="3483864"/>
            <a:ext cx="164592" cy="16459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90"/>
          <p:cNvSpPr txBox="1"/>
          <p:nvPr/>
        </p:nvSpPr>
        <p:spPr>
          <a:xfrm>
            <a:off x="50292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91"/>
          <p:cNvSpPr txBox="1"/>
          <p:nvPr/>
        </p:nvSpPr>
        <p:spPr>
          <a:xfrm>
            <a:off x="502920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 – 2010</a:t>
            </a:r>
            <a:endParaRPr lang="en-US" sz="2400" dirty="0"/>
          </a:p>
        </p:txBody>
      </p:sp>
      <p:sp>
        <p:nvSpPr>
          <p:cNvPr id="17" name="t92"/>
          <p:cNvSpPr txBox="1"/>
          <p:nvPr/>
        </p:nvSpPr>
        <p:spPr>
          <a:xfrm>
            <a:off x="5029200" y="3886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Triple play, VoD et chaînes en HD</a:t>
            </a:r>
            <a:endParaRPr lang="en-US" sz="1600" dirty="0"/>
          </a:p>
        </p:txBody>
      </p:sp>
      <p:sp>
        <p:nvSpPr>
          <p:cNvPr id="18" name="d93"/>
          <p:cNvSpPr/>
          <p:nvPr/>
        </p:nvSpPr>
        <p:spPr>
          <a:xfrm>
            <a:off x="7269480" y="3483864"/>
            <a:ext cx="164592" cy="16459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94"/>
          <p:cNvSpPr txBox="1"/>
          <p:nvPr/>
        </p:nvSpPr>
        <p:spPr>
          <a:xfrm>
            <a:off x="726948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95"/>
          <p:cNvSpPr txBox="1"/>
          <p:nvPr/>
        </p:nvSpPr>
        <p:spPr>
          <a:xfrm>
            <a:off x="726948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 – 2020</a:t>
            </a:r>
            <a:endParaRPr lang="en-US" sz="2400" dirty="0"/>
          </a:p>
        </p:txBody>
      </p:sp>
      <p:sp>
        <p:nvSpPr>
          <p:cNvPr id="21" name="t96"/>
          <p:cNvSpPr txBox="1"/>
          <p:nvPr/>
        </p:nvSpPr>
        <p:spPr>
          <a:xfrm>
            <a:off x="7269480" y="3886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Fibre, Smart TV, mobile et OTT</a:t>
            </a:r>
            <a:endParaRPr lang="en-US" sz="1600" dirty="0"/>
          </a:p>
        </p:txBody>
      </p:sp>
      <p:sp>
        <p:nvSpPr>
          <p:cNvPr id="22" name="d97"/>
          <p:cNvSpPr/>
          <p:nvPr/>
        </p:nvSpPr>
        <p:spPr>
          <a:xfrm>
            <a:off x="9509760" y="34838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98"/>
          <p:cNvSpPr txBox="1"/>
          <p:nvPr/>
        </p:nvSpPr>
        <p:spPr>
          <a:xfrm>
            <a:off x="950976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99"/>
          <p:cNvSpPr txBox="1"/>
          <p:nvPr/>
        </p:nvSpPr>
        <p:spPr>
          <a:xfrm>
            <a:off x="95097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Aujourd'hui</a:t>
            </a:r>
            <a:endParaRPr lang="en-US" sz="2400" dirty="0"/>
          </a:p>
        </p:txBody>
      </p:sp>
      <p:sp>
        <p:nvSpPr>
          <p:cNvPr id="25" name="t100"/>
          <p:cNvSpPr txBox="1"/>
          <p:nvPr/>
        </p:nvSpPr>
        <p:spPr>
          <a:xfrm>
            <a:off x="9509760" y="3886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4K, cloud, IA et personnalisation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024_101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10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r103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5" name="t104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Partie 2 / 5</a:t>
            </a:r>
            <a:endParaRPr lang="en-US" sz="1300" dirty="0"/>
          </a:p>
        </p:txBody>
      </p:sp>
      <p:sp>
        <p:nvSpPr>
          <p:cNvPr id="6" name="t105"/>
          <p:cNvSpPr txBox="1"/>
          <p:nvPr/>
        </p:nvSpPr>
        <p:spPr>
          <a:xfrm>
            <a:off x="54864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7" name="t106"/>
          <p:cNvSpPr txBox="1"/>
          <p:nvPr/>
        </p:nvSpPr>
        <p:spPr>
          <a:xfrm>
            <a:off x="548640" y="44348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et technologies</a:t>
            </a:r>
            <a:endParaRPr lang="en-US" sz="4400" dirty="0"/>
          </a:p>
        </p:txBody>
      </p:sp>
      <p:sp>
        <p:nvSpPr>
          <p:cNvPr id="8" name="t107"/>
          <p:cNvSpPr txBox="1"/>
          <p:nvPr/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>
                    <a:alpha val="85000"/>
                  </a:schemeClr>
                </a:solidFill>
              </a:rPr>
              <a:t>Comment le signal voyage de la chaîne de télévision jusqu'à votre écran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02 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trajet du signal TV</a:t>
            </a:r>
            <a:endParaRPr lang="en-US" sz="3000" dirty="0"/>
          </a:p>
        </p:txBody>
      </p:sp>
      <p:pic>
        <p:nvPicPr>
          <p:cNvPr id="4" name="photo_p001_108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57400" cy="1920240"/>
          </a:xfrm>
          <a:prstGeom prst="rect">
            <a:avLst/>
          </a:prstGeom>
        </p:spPr>
      </p:pic>
      <p:sp>
        <p:nvSpPr>
          <p:cNvPr id="5" name="l109"/>
          <p:cNvSpPr/>
          <p:nvPr/>
        </p:nvSpPr>
        <p:spPr>
          <a:xfrm>
            <a:off x="548640" y="3611880"/>
            <a:ext cx="22402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6" name="d110"/>
          <p:cNvSpPr/>
          <p:nvPr/>
        </p:nvSpPr>
        <p:spPr>
          <a:xfrm>
            <a:off x="548640" y="3538728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111"/>
          <p:cNvSpPr txBox="1"/>
          <p:nvPr/>
        </p:nvSpPr>
        <p:spPr>
          <a:xfrm>
            <a:off x="548640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Captation</a:t>
            </a:r>
            <a:endParaRPr lang="en-US" sz="1300" dirty="0"/>
          </a:p>
        </p:txBody>
      </p:sp>
      <p:sp>
        <p:nvSpPr>
          <p:cNvPr id="8" name="t112"/>
          <p:cNvSpPr txBox="1"/>
          <p:nvPr/>
        </p:nvSpPr>
        <p:spPr>
          <a:xfrm>
            <a:off x="548640" y="4160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Sources</a:t>
            </a:r>
            <a:endParaRPr lang="en-US" sz="1800" dirty="0"/>
          </a:p>
        </p:txBody>
      </p:sp>
      <p:sp>
        <p:nvSpPr>
          <p:cNvPr id="9" name="t113"/>
          <p:cNvSpPr txBox="1"/>
          <p:nvPr/>
        </p:nvSpPr>
        <p:spPr>
          <a:xfrm>
            <a:off x="548640" y="45537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Chaînes, studios, satellites</a:t>
            </a:r>
            <a:endParaRPr lang="en-US" sz="1400" dirty="0"/>
          </a:p>
        </p:txBody>
      </p:sp>
      <p:pic>
        <p:nvPicPr>
          <p:cNvPr id="10" name="photo_p029_114" descr="Ph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17320"/>
            <a:ext cx="2057400" cy="1920240"/>
          </a:xfrm>
          <a:prstGeom prst="rect">
            <a:avLst/>
          </a:prstGeom>
        </p:spPr>
      </p:pic>
      <p:sp>
        <p:nvSpPr>
          <p:cNvPr id="11" name="l115"/>
          <p:cNvSpPr/>
          <p:nvPr/>
        </p:nvSpPr>
        <p:spPr>
          <a:xfrm>
            <a:off x="2788920" y="3611880"/>
            <a:ext cx="22402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2" name="d116"/>
          <p:cNvSpPr/>
          <p:nvPr/>
        </p:nvSpPr>
        <p:spPr>
          <a:xfrm>
            <a:off x="2788920" y="3538728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117"/>
          <p:cNvSpPr txBox="1"/>
          <p:nvPr/>
        </p:nvSpPr>
        <p:spPr>
          <a:xfrm>
            <a:off x="2788920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Numérisation et DRM</a:t>
            </a:r>
            <a:endParaRPr lang="en-US" sz="1300" dirty="0"/>
          </a:p>
        </p:txBody>
      </p:sp>
      <p:sp>
        <p:nvSpPr>
          <p:cNvPr id="14" name="t118"/>
          <p:cNvSpPr txBox="1"/>
          <p:nvPr/>
        </p:nvSpPr>
        <p:spPr>
          <a:xfrm>
            <a:off x="2788920" y="4160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Tête de réseau</a:t>
            </a:r>
            <a:endParaRPr lang="en-US" sz="1800" dirty="0"/>
          </a:p>
        </p:txBody>
      </p:sp>
      <p:sp>
        <p:nvSpPr>
          <p:cNvPr id="15" name="t119"/>
          <p:cNvSpPr txBox="1"/>
          <p:nvPr/>
        </p:nvSpPr>
        <p:spPr>
          <a:xfrm>
            <a:off x="2788920" y="45537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Encodage et chiffrement</a:t>
            </a:r>
            <a:endParaRPr lang="en-US" sz="1400" dirty="0"/>
          </a:p>
        </p:txBody>
      </p:sp>
      <p:pic>
        <p:nvPicPr>
          <p:cNvPr id="16" name="photo_p037_120" descr="Ph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17320"/>
            <a:ext cx="2057400" cy="1920240"/>
          </a:xfrm>
          <a:prstGeom prst="rect">
            <a:avLst/>
          </a:prstGeom>
        </p:spPr>
      </p:pic>
      <p:sp>
        <p:nvSpPr>
          <p:cNvPr id="17" name="l121"/>
          <p:cNvSpPr/>
          <p:nvPr/>
        </p:nvSpPr>
        <p:spPr>
          <a:xfrm>
            <a:off x="5029200" y="3611880"/>
            <a:ext cx="22402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8" name="d122"/>
          <p:cNvSpPr/>
          <p:nvPr/>
        </p:nvSpPr>
        <p:spPr>
          <a:xfrm>
            <a:off x="5029200" y="3538728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123"/>
          <p:cNvSpPr txBox="1"/>
          <p:nvPr/>
        </p:nvSpPr>
        <p:spPr>
          <a:xfrm>
            <a:off x="5029200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Acheminement</a:t>
            </a:r>
            <a:endParaRPr lang="en-US" sz="1300" dirty="0"/>
          </a:p>
        </p:txBody>
      </p:sp>
      <p:sp>
        <p:nvSpPr>
          <p:cNvPr id="20" name="t124"/>
          <p:cNvSpPr txBox="1"/>
          <p:nvPr/>
        </p:nvSpPr>
        <p:spPr>
          <a:xfrm>
            <a:off x="5029200" y="4160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Réseau IP</a:t>
            </a:r>
            <a:endParaRPr lang="en-US" sz="1800" dirty="0"/>
          </a:p>
        </p:txBody>
      </p:sp>
      <p:sp>
        <p:nvSpPr>
          <p:cNvPr id="21" name="t125"/>
          <p:cNvSpPr txBox="1"/>
          <p:nvPr/>
        </p:nvSpPr>
        <p:spPr>
          <a:xfrm>
            <a:off x="5029200" y="45537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Cœur de réseau, CDN, fibre</a:t>
            </a:r>
            <a:endParaRPr lang="en-US" sz="1400" dirty="0"/>
          </a:p>
        </p:txBody>
      </p:sp>
      <p:pic>
        <p:nvPicPr>
          <p:cNvPr id="22" name="photo_p005_126" descr="Pho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417320"/>
            <a:ext cx="2057400" cy="1920240"/>
          </a:xfrm>
          <a:prstGeom prst="rect">
            <a:avLst/>
          </a:prstGeom>
        </p:spPr>
      </p:pic>
      <p:sp>
        <p:nvSpPr>
          <p:cNvPr id="23" name="l127"/>
          <p:cNvSpPr/>
          <p:nvPr/>
        </p:nvSpPr>
        <p:spPr>
          <a:xfrm>
            <a:off x="7269480" y="3611880"/>
            <a:ext cx="22402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24" name="d128"/>
          <p:cNvSpPr/>
          <p:nvPr/>
        </p:nvSpPr>
        <p:spPr>
          <a:xfrm>
            <a:off x="7269480" y="3538728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129"/>
          <p:cNvSpPr txBox="1"/>
          <p:nvPr/>
        </p:nvSpPr>
        <p:spPr>
          <a:xfrm>
            <a:off x="7269480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Décodage</a:t>
            </a:r>
            <a:endParaRPr lang="en-US" sz="1300" dirty="0"/>
          </a:p>
        </p:txBody>
      </p:sp>
      <p:sp>
        <p:nvSpPr>
          <p:cNvPr id="26" name="t130"/>
          <p:cNvSpPr txBox="1"/>
          <p:nvPr/>
        </p:nvSpPr>
        <p:spPr>
          <a:xfrm>
            <a:off x="7269480" y="4160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Décodeur</a:t>
            </a:r>
            <a:endParaRPr lang="en-US" sz="1800" dirty="0"/>
          </a:p>
        </p:txBody>
      </p:sp>
      <p:sp>
        <p:nvSpPr>
          <p:cNvPr id="27" name="t131"/>
          <p:cNvSpPr txBox="1"/>
          <p:nvPr/>
        </p:nvSpPr>
        <p:spPr>
          <a:xfrm>
            <a:off x="7269480" y="45537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Box ou Smart TV</a:t>
            </a:r>
            <a:endParaRPr lang="en-US" sz="1400" dirty="0"/>
          </a:p>
        </p:txBody>
      </p:sp>
      <p:pic>
        <p:nvPicPr>
          <p:cNvPr id="28" name="photo_p042_132" descr="Pho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417320"/>
            <a:ext cx="2057400" cy="1920240"/>
          </a:xfrm>
          <a:prstGeom prst="rect">
            <a:avLst/>
          </a:prstGeom>
        </p:spPr>
      </p:pic>
      <p:sp>
        <p:nvSpPr>
          <p:cNvPr id="29" name="l133"/>
          <p:cNvSpPr/>
          <p:nvPr/>
        </p:nvSpPr>
        <p:spPr>
          <a:xfrm>
            <a:off x="9509760" y="3611880"/>
            <a:ext cx="2057400" cy="91"/>
          </a:xfrm>
          <a:prstGeom prst="line">
            <a:avLst/>
          </a:prstGeom>
          <a:noFill/>
          <a:ln w="12700">
            <a:solidFill>
              <a:srgbClr val="E8541E"/>
            </a:solidFill>
            <a:prstDash val="solid"/>
          </a:ln>
        </p:spPr>
      </p:sp>
      <p:sp>
        <p:nvSpPr>
          <p:cNvPr id="30" name="d134"/>
          <p:cNvSpPr/>
          <p:nvPr/>
        </p:nvSpPr>
        <p:spPr>
          <a:xfrm>
            <a:off x="9509760" y="353872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135"/>
          <p:cNvSpPr txBox="1"/>
          <p:nvPr/>
        </p:nvSpPr>
        <p:spPr>
          <a:xfrm>
            <a:off x="9509760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Affichage</a:t>
            </a:r>
            <a:endParaRPr lang="en-US" sz="1300" dirty="0"/>
          </a:p>
        </p:txBody>
      </p:sp>
      <p:sp>
        <p:nvSpPr>
          <p:cNvPr id="32" name="t136"/>
          <p:cNvSpPr txBox="1"/>
          <p:nvPr/>
        </p:nvSpPr>
        <p:spPr>
          <a:xfrm>
            <a:off x="9509760" y="4160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Écran</a:t>
            </a:r>
            <a:endParaRPr lang="en-US" sz="1800" dirty="0"/>
          </a:p>
        </p:txBody>
      </p:sp>
      <p:sp>
        <p:nvSpPr>
          <p:cNvPr id="33" name="t137"/>
          <p:cNvSpPr txBox="1"/>
          <p:nvPr/>
        </p:nvSpPr>
        <p:spPr>
          <a:xfrm>
            <a:off x="9509760" y="45537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TV, mobile, PC</a:t>
            </a:r>
            <a:endParaRPr lang="en-US" sz="1400" dirty="0"/>
          </a:p>
        </p:txBody>
      </p:sp>
      <p:sp>
        <p:nvSpPr>
          <p:cNvPr id="34" name="l138"/>
          <p:cNvSpPr/>
          <p:nvPr/>
        </p:nvSpPr>
        <p:spPr>
          <a:xfrm>
            <a:off x="548640" y="5532120"/>
            <a:ext cx="1109167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35" name="t139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Chaque étape ajoute une fonction :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numérisation, protection des droits (DRM), acheminement, puis décodage et affichage.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02 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composants clés</a:t>
            </a:r>
            <a:endParaRPr lang="en-US" sz="3000" dirty="0"/>
          </a:p>
        </p:txBody>
      </p:sp>
      <p:sp>
        <p:nvSpPr>
          <p:cNvPr id="4" name="r140"/>
          <p:cNvSpPr/>
          <p:nvPr/>
        </p:nvSpPr>
        <p:spPr>
          <a:xfrm>
            <a:off x="548640" y="1417320"/>
            <a:ext cx="3931920" cy="4663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141"/>
          <p:cNvSpPr txBox="1"/>
          <p:nvPr/>
        </p:nvSpPr>
        <p:spPr>
          <a:xfrm>
            <a:off x="9144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142"/>
          <p:cNvSpPr txBox="1"/>
          <p:nvPr/>
        </p:nvSpPr>
        <p:spPr>
          <a:xfrm>
            <a:off x="91440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Middleware</a:t>
            </a:r>
            <a:endParaRPr lang="en-US" sz="3000" dirty="0"/>
          </a:p>
        </p:txBody>
      </p:sp>
      <p:sp>
        <p:nvSpPr>
          <p:cNvPr id="7" name="t143"/>
          <p:cNvSpPr txBox="1"/>
          <p:nvPr/>
        </p:nvSpPr>
        <p:spPr>
          <a:xfrm>
            <a:off x="91440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Le cerveau du service</a:t>
            </a:r>
            <a:endParaRPr lang="en-US" sz="1600" dirty="0"/>
          </a:p>
        </p:txBody>
      </p:sp>
      <p:sp>
        <p:nvSpPr>
          <p:cNvPr id="8" name="t144"/>
          <p:cNvSpPr txBox="1"/>
          <p:nvPr/>
        </p:nvSpPr>
        <p:spPr>
          <a:xfrm>
            <a:off x="91440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Il relie l'abonné à tous les services de l'opérateur.</a:t>
            </a:r>
            <a:endParaRPr lang="en-US" sz="1600" dirty="0"/>
          </a:p>
        </p:txBody>
      </p:sp>
      <p:sp>
        <p:nvSpPr>
          <p:cNvPr id="9" name="l145"/>
          <p:cNvSpPr/>
          <p:nvPr/>
        </p:nvSpPr>
        <p:spPr>
          <a:xfrm>
            <a:off x="914400" y="4023360"/>
            <a:ext cx="3200400" cy="91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10" name="t146"/>
          <p:cNvSpPr txBox="1"/>
          <p:nvPr/>
        </p:nvSpPr>
        <p:spPr>
          <a:xfrm>
            <a:off x="91440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Gestion des abonnés</a:t>
            </a:r>
            <a:endParaRPr lang="en-US" sz="1500" dirty="0"/>
          </a:p>
        </p:txBody>
      </p:sp>
      <p:sp>
        <p:nvSpPr>
          <p:cNvPr id="11" name="l147"/>
          <p:cNvSpPr/>
          <p:nvPr/>
        </p:nvSpPr>
        <p:spPr>
          <a:xfrm>
            <a:off x="914400" y="4480560"/>
            <a:ext cx="3200400" cy="91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12" name="t148"/>
          <p:cNvSpPr txBox="1"/>
          <p:nvPr/>
        </p:nvSpPr>
        <p:spPr>
          <a:xfrm>
            <a:off x="914400" y="4572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Guide des programmes</a:t>
            </a:r>
            <a:endParaRPr lang="en-US" sz="1500" dirty="0"/>
          </a:p>
        </p:txBody>
      </p:sp>
      <p:sp>
        <p:nvSpPr>
          <p:cNvPr id="13" name="l149"/>
          <p:cNvSpPr/>
          <p:nvPr/>
        </p:nvSpPr>
        <p:spPr>
          <a:xfrm>
            <a:off x="914400" y="4937760"/>
            <a:ext cx="3200400" cy="91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14" name="t150"/>
          <p:cNvSpPr txBox="1"/>
          <p:nvPr/>
        </p:nvSpPr>
        <p:spPr>
          <a:xfrm>
            <a:off x="914400" y="5029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Catalogue VoD</a:t>
            </a:r>
            <a:endParaRPr lang="en-US" sz="1500" dirty="0"/>
          </a:p>
        </p:txBody>
      </p:sp>
      <p:sp>
        <p:nvSpPr>
          <p:cNvPr id="15" name="l151"/>
          <p:cNvSpPr/>
          <p:nvPr/>
        </p:nvSpPr>
        <p:spPr>
          <a:xfrm>
            <a:off x="914400" y="5394960"/>
            <a:ext cx="3200400" cy="91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16" name="t152"/>
          <p:cNvSpPr txBox="1"/>
          <p:nvPr/>
        </p:nvSpPr>
        <p:spPr>
          <a:xfrm>
            <a:off x="914400" y="5486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Facturation</a:t>
            </a:r>
            <a:endParaRPr lang="en-US" sz="1500" dirty="0"/>
          </a:p>
        </p:txBody>
      </p:sp>
      <p:pic>
        <p:nvPicPr>
          <p:cNvPr id="17" name="photo_p028_153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2194560" cy="1426464"/>
          </a:xfrm>
          <a:prstGeom prst="rect">
            <a:avLst/>
          </a:prstGeom>
        </p:spPr>
      </p:pic>
      <p:sp>
        <p:nvSpPr>
          <p:cNvPr id="18" name="t154"/>
          <p:cNvSpPr txBox="1"/>
          <p:nvPr/>
        </p:nvSpPr>
        <p:spPr>
          <a:xfrm>
            <a:off x="726948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19" name="t155"/>
          <p:cNvSpPr txBox="1"/>
          <p:nvPr/>
        </p:nvSpPr>
        <p:spPr>
          <a:xfrm>
            <a:off x="7269480" y="17099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Tête de réseau</a:t>
            </a:r>
            <a:endParaRPr lang="en-US" sz="1800" dirty="0"/>
          </a:p>
        </p:txBody>
      </p:sp>
      <p:sp>
        <p:nvSpPr>
          <p:cNvPr id="20" name="t156"/>
          <p:cNvSpPr txBox="1"/>
          <p:nvPr/>
        </p:nvSpPr>
        <p:spPr>
          <a:xfrm>
            <a:off x="7269480" y="209397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Reçoit les chaînes, les encode (H.264 / H.265) et les chiffre avant la diffusion.</a:t>
            </a:r>
            <a:endParaRPr lang="en-US" sz="1400" dirty="0"/>
          </a:p>
        </p:txBody>
      </p:sp>
      <p:pic>
        <p:nvPicPr>
          <p:cNvPr id="21" name="photo_p083_157" descr="Ph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026664"/>
            <a:ext cx="2194560" cy="1426464"/>
          </a:xfrm>
          <a:prstGeom prst="rect">
            <a:avLst/>
          </a:prstGeom>
        </p:spPr>
      </p:pic>
      <p:sp>
        <p:nvSpPr>
          <p:cNvPr id="22" name="t158"/>
          <p:cNvSpPr txBox="1"/>
          <p:nvPr/>
        </p:nvSpPr>
        <p:spPr>
          <a:xfrm>
            <a:off x="726948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159"/>
          <p:cNvSpPr txBox="1"/>
          <p:nvPr/>
        </p:nvSpPr>
        <p:spPr>
          <a:xfrm>
            <a:off x="7269480" y="3319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Réseau de transport et CDN</a:t>
            </a:r>
            <a:endParaRPr lang="en-US" sz="1800" dirty="0"/>
          </a:p>
        </p:txBody>
      </p:sp>
      <p:sp>
        <p:nvSpPr>
          <p:cNvPr id="24" name="t160"/>
          <p:cNvSpPr txBox="1"/>
          <p:nvPr/>
        </p:nvSpPr>
        <p:spPr>
          <a:xfrm>
            <a:off x="7269480" y="37033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Fibre ou ADSL managé avec QoS ; les CDN rapprochent les contenus du client.</a:t>
            </a:r>
            <a:endParaRPr lang="en-US" sz="1400" dirty="0"/>
          </a:p>
        </p:txBody>
      </p:sp>
      <p:pic>
        <p:nvPicPr>
          <p:cNvPr id="25" name="photo_p041_161" descr="Ph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636008"/>
            <a:ext cx="2194560" cy="1426464"/>
          </a:xfrm>
          <a:prstGeom prst="rect">
            <a:avLst/>
          </a:prstGeom>
        </p:spPr>
      </p:pic>
      <p:sp>
        <p:nvSpPr>
          <p:cNvPr id="26" name="t162"/>
          <p:cNvSpPr txBox="1"/>
          <p:nvPr/>
        </p:nvSpPr>
        <p:spPr>
          <a:xfrm>
            <a:off x="7269480" y="4654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163"/>
          <p:cNvSpPr txBox="1"/>
          <p:nvPr/>
        </p:nvSpPr>
        <p:spPr>
          <a:xfrm>
            <a:off x="7269480" y="49286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Terminaux</a:t>
            </a:r>
            <a:endParaRPr lang="en-US" sz="1800" dirty="0"/>
          </a:p>
        </p:txBody>
      </p:sp>
      <p:sp>
        <p:nvSpPr>
          <p:cNvPr id="28" name="t164"/>
          <p:cNvSpPr txBox="1"/>
          <p:nvPr/>
        </p:nvSpPr>
        <p:spPr>
          <a:xfrm>
            <a:off x="7269480" y="531266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Décodent le flux, affichent l'interface et appliquent les droits (DRM).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02 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Protocoles et technologies</a:t>
            </a:r>
            <a:endParaRPr lang="en-US" sz="3000" dirty="0"/>
          </a:p>
        </p:txBody>
      </p:sp>
      <p:sp>
        <p:nvSpPr>
          <p:cNvPr id="4" name="t165"/>
          <p:cNvSpPr txBox="1"/>
          <p:nvPr/>
        </p:nvSpPr>
        <p:spPr>
          <a:xfrm>
            <a:off x="548640" y="1463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</a:t>
            </a:r>
            <a:endParaRPr lang="en-US" sz="2000" dirty="0"/>
          </a:p>
        </p:txBody>
      </p:sp>
      <p:sp>
        <p:nvSpPr>
          <p:cNvPr id="5" name="l166"/>
          <p:cNvSpPr/>
          <p:nvPr/>
        </p:nvSpPr>
        <p:spPr>
          <a:xfrm>
            <a:off x="548640" y="2011680"/>
            <a:ext cx="352044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6" name="t167"/>
          <p:cNvSpPr txBox="1"/>
          <p:nvPr/>
        </p:nvSpPr>
        <p:spPr>
          <a:xfrm>
            <a:off x="548640" y="2286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IGMP / Multicast</a:t>
            </a:r>
            <a:endParaRPr lang="en-US" sz="2000" dirty="0"/>
          </a:p>
        </p:txBody>
      </p:sp>
      <p:sp>
        <p:nvSpPr>
          <p:cNvPr id="7" name="t168"/>
          <p:cNvSpPr txBox="1"/>
          <p:nvPr/>
        </p:nvSpPr>
        <p:spPr>
          <a:xfrm>
            <a:off x="548640" y="27889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seul flux partagé par tous les spectateurs d'une même chaîne</a:t>
            </a:r>
            <a:endParaRPr lang="en-US" sz="1500" dirty="0"/>
          </a:p>
        </p:txBody>
      </p:sp>
      <p:sp>
        <p:nvSpPr>
          <p:cNvPr id="8" name="l169"/>
          <p:cNvSpPr/>
          <p:nvPr/>
        </p:nvSpPr>
        <p:spPr>
          <a:xfrm>
            <a:off x="548640" y="3840480"/>
            <a:ext cx="35204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9" name="t170"/>
          <p:cNvSpPr txBox="1"/>
          <p:nvPr/>
        </p:nvSpPr>
        <p:spPr>
          <a:xfrm>
            <a:off x="548640" y="4114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RTSP / RTP</a:t>
            </a:r>
            <a:endParaRPr lang="en-US" sz="2000" dirty="0"/>
          </a:p>
        </p:txBody>
      </p:sp>
      <p:sp>
        <p:nvSpPr>
          <p:cNvPr id="10" name="t171"/>
          <p:cNvSpPr txBox="1"/>
          <p:nvPr/>
        </p:nvSpPr>
        <p:spPr>
          <a:xfrm>
            <a:off x="548640" y="46177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Contrôle et transport des flux individuels (VoD, pause, replay)</a:t>
            </a:r>
            <a:endParaRPr lang="en-US" sz="1500" dirty="0"/>
          </a:p>
        </p:txBody>
      </p:sp>
      <p:sp>
        <p:nvSpPr>
          <p:cNvPr id="11" name="t172"/>
          <p:cNvSpPr txBox="1"/>
          <p:nvPr/>
        </p:nvSpPr>
        <p:spPr>
          <a:xfrm>
            <a:off x="4315968" y="1463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et compression</a:t>
            </a:r>
            <a:endParaRPr lang="en-US" sz="2000" dirty="0"/>
          </a:p>
        </p:txBody>
      </p:sp>
      <p:sp>
        <p:nvSpPr>
          <p:cNvPr id="12" name="l173"/>
          <p:cNvSpPr/>
          <p:nvPr/>
        </p:nvSpPr>
        <p:spPr>
          <a:xfrm>
            <a:off x="4315968" y="2011680"/>
            <a:ext cx="352044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3" name="t174"/>
          <p:cNvSpPr txBox="1"/>
          <p:nvPr/>
        </p:nvSpPr>
        <p:spPr>
          <a:xfrm>
            <a:off x="4315968" y="2286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MPEG-TS</a:t>
            </a:r>
            <a:endParaRPr lang="en-US" sz="2000" dirty="0"/>
          </a:p>
        </p:txBody>
      </p:sp>
      <p:sp>
        <p:nvSpPr>
          <p:cNvPr id="14" name="t175"/>
          <p:cNvSpPr txBox="1"/>
          <p:nvPr/>
        </p:nvSpPr>
        <p:spPr>
          <a:xfrm>
            <a:off x="4315968" y="27889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Conteneur qui regroupe la vidéo, l'audio et les sous-titres en un flux</a:t>
            </a:r>
            <a:endParaRPr lang="en-US" sz="1500" dirty="0"/>
          </a:p>
        </p:txBody>
      </p:sp>
      <p:sp>
        <p:nvSpPr>
          <p:cNvPr id="15" name="l176"/>
          <p:cNvSpPr/>
          <p:nvPr/>
        </p:nvSpPr>
        <p:spPr>
          <a:xfrm>
            <a:off x="4315968" y="3840480"/>
            <a:ext cx="35204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6" name="t177"/>
          <p:cNvSpPr txBox="1"/>
          <p:nvPr/>
        </p:nvSpPr>
        <p:spPr>
          <a:xfrm>
            <a:off x="4315968" y="4114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H.264 / H.265</a:t>
            </a:r>
            <a:endParaRPr lang="en-US" sz="2000" dirty="0"/>
          </a:p>
        </p:txBody>
      </p:sp>
      <p:sp>
        <p:nvSpPr>
          <p:cNvPr id="17" name="t178"/>
          <p:cNvSpPr txBox="1"/>
          <p:nvPr/>
        </p:nvSpPr>
        <p:spPr>
          <a:xfrm>
            <a:off x="4315968" y="46177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Codecs de compression : HEVC réduit fortement le débit nécessaire</a:t>
            </a:r>
            <a:endParaRPr lang="en-US" sz="1500" dirty="0"/>
          </a:p>
        </p:txBody>
      </p:sp>
      <p:sp>
        <p:nvSpPr>
          <p:cNvPr id="18" name="t179"/>
          <p:cNvSpPr txBox="1"/>
          <p:nvPr/>
        </p:nvSpPr>
        <p:spPr>
          <a:xfrm>
            <a:off x="8083296" y="1463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 et protection</a:t>
            </a:r>
            <a:endParaRPr lang="en-US" sz="2000" dirty="0"/>
          </a:p>
        </p:txBody>
      </p:sp>
      <p:sp>
        <p:nvSpPr>
          <p:cNvPr id="19" name="l180"/>
          <p:cNvSpPr/>
          <p:nvPr/>
        </p:nvSpPr>
        <p:spPr>
          <a:xfrm>
            <a:off x="8083296" y="2011680"/>
            <a:ext cx="352044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20" name="t181"/>
          <p:cNvSpPr txBox="1"/>
          <p:nvPr/>
        </p:nvSpPr>
        <p:spPr>
          <a:xfrm>
            <a:off x="8083296" y="2286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HLS / DASH</a:t>
            </a:r>
            <a:endParaRPr lang="en-US" sz="2000" dirty="0"/>
          </a:p>
        </p:txBody>
      </p:sp>
      <p:sp>
        <p:nvSpPr>
          <p:cNvPr id="21" name="t182"/>
          <p:cNvSpPr txBox="1"/>
          <p:nvPr/>
        </p:nvSpPr>
        <p:spPr>
          <a:xfrm>
            <a:off x="8083296" y="27889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Streaming adaptatif : la qualité s'ajuste au débit disponible</a:t>
            </a:r>
            <a:endParaRPr lang="en-US" sz="1500" dirty="0"/>
          </a:p>
        </p:txBody>
      </p:sp>
      <p:sp>
        <p:nvSpPr>
          <p:cNvPr id="22" name="l183"/>
          <p:cNvSpPr/>
          <p:nvPr/>
        </p:nvSpPr>
        <p:spPr>
          <a:xfrm>
            <a:off x="8083296" y="3840480"/>
            <a:ext cx="35204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3" name="t184"/>
          <p:cNvSpPr txBox="1"/>
          <p:nvPr/>
        </p:nvSpPr>
        <p:spPr>
          <a:xfrm>
            <a:off x="8083296" y="4114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DRM / CAS</a:t>
            </a:r>
            <a:endParaRPr lang="en-US" sz="2000" dirty="0"/>
          </a:p>
        </p:txBody>
      </p:sp>
      <p:sp>
        <p:nvSpPr>
          <p:cNvPr id="24" name="t185"/>
          <p:cNvSpPr txBox="1"/>
          <p:nvPr/>
        </p:nvSpPr>
        <p:spPr>
          <a:xfrm>
            <a:off x="8083296" y="46177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Chiffrement et gestion des droits pour lutter contre le piratage</a:t>
            </a:r>
            <a:endParaRPr lang="en-US" sz="1500" dirty="0"/>
          </a:p>
        </p:txBody>
      </p:sp>
      <p:sp>
        <p:nvSpPr>
          <p:cNvPr id="25" name="t186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À retenir : des protocoles de transport, des codecs de compression et des protections contre le piratage.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02 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Multicast et unicast</a:t>
            </a:r>
            <a:endParaRPr lang="en-US" sz="3000" dirty="0"/>
          </a:p>
        </p:txBody>
      </p:sp>
      <p:sp>
        <p:nvSpPr>
          <p:cNvPr id="4" name="r187"/>
          <p:cNvSpPr/>
          <p:nvPr/>
        </p:nvSpPr>
        <p:spPr>
          <a:xfrm>
            <a:off x="548640" y="1417320"/>
            <a:ext cx="539496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l188"/>
          <p:cNvSpPr/>
          <p:nvPr/>
        </p:nvSpPr>
        <p:spPr>
          <a:xfrm>
            <a:off x="1280160" y="2304288"/>
            <a:ext cx="2011680" cy="91"/>
          </a:xfrm>
          <a:prstGeom prst="line">
            <a:avLst/>
          </a:prstGeom>
          <a:noFill/>
          <a:ln w="63500">
            <a:solidFill>
              <a:srgbClr val="E8541E"/>
            </a:solidFill>
            <a:prstDash val="solid"/>
          </a:ln>
        </p:spPr>
      </p:sp>
      <p:sp>
        <p:nvSpPr>
          <p:cNvPr id="6" name="l189"/>
          <p:cNvSpPr/>
          <p:nvPr/>
        </p:nvSpPr>
        <p:spPr>
          <a:xfrm flipV="1">
            <a:off x="3291840" y="1737360"/>
            <a:ext cx="1828800" cy="566928"/>
          </a:xfrm>
          <a:prstGeom prst="line">
            <a:avLst/>
          </a:prstGeom>
          <a:noFill/>
          <a:ln w="19050">
            <a:solidFill>
              <a:srgbClr val="E8541E"/>
            </a:solidFill>
            <a:prstDash val="solid"/>
          </a:ln>
        </p:spPr>
      </p:sp>
      <p:sp>
        <p:nvSpPr>
          <p:cNvPr id="7" name="l190"/>
          <p:cNvSpPr/>
          <p:nvPr/>
        </p:nvSpPr>
        <p:spPr>
          <a:xfrm flipV="1">
            <a:off x="3291840" y="2121408"/>
            <a:ext cx="1828800" cy="182880"/>
          </a:xfrm>
          <a:prstGeom prst="line">
            <a:avLst/>
          </a:prstGeom>
          <a:noFill/>
          <a:ln w="19050">
            <a:solidFill>
              <a:srgbClr val="E8541E"/>
            </a:solidFill>
            <a:prstDash val="solid"/>
          </a:ln>
        </p:spPr>
      </p:sp>
      <p:sp>
        <p:nvSpPr>
          <p:cNvPr id="8" name="l191"/>
          <p:cNvSpPr/>
          <p:nvPr/>
        </p:nvSpPr>
        <p:spPr>
          <a:xfrm>
            <a:off x="3291840" y="2304288"/>
            <a:ext cx="1828800" cy="192024"/>
          </a:xfrm>
          <a:prstGeom prst="line">
            <a:avLst/>
          </a:prstGeom>
          <a:noFill/>
          <a:ln w="19050">
            <a:solidFill>
              <a:srgbClr val="E8541E"/>
            </a:solidFill>
            <a:prstDash val="solid"/>
          </a:ln>
        </p:spPr>
      </p:sp>
      <p:sp>
        <p:nvSpPr>
          <p:cNvPr id="9" name="l192"/>
          <p:cNvSpPr/>
          <p:nvPr/>
        </p:nvSpPr>
        <p:spPr>
          <a:xfrm>
            <a:off x="3291840" y="2304288"/>
            <a:ext cx="1828800" cy="576072"/>
          </a:xfrm>
          <a:prstGeom prst="line">
            <a:avLst/>
          </a:prstGeom>
          <a:noFill/>
          <a:ln w="19050">
            <a:solidFill>
              <a:srgbClr val="E8541E"/>
            </a:solidFill>
            <a:prstDash val="solid"/>
          </a:ln>
        </p:spPr>
      </p:sp>
      <p:sp>
        <p:nvSpPr>
          <p:cNvPr id="10" name="r193"/>
          <p:cNvSpPr/>
          <p:nvPr/>
        </p:nvSpPr>
        <p:spPr>
          <a:xfrm>
            <a:off x="1005840" y="2029968"/>
            <a:ext cx="5486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194"/>
          <p:cNvSpPr txBox="1"/>
          <p:nvPr/>
        </p:nvSpPr>
        <p:spPr>
          <a:xfrm>
            <a:off x="731520" y="2633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Serveur</a:t>
            </a:r>
            <a:endParaRPr lang="en-US" sz="1000" dirty="0"/>
          </a:p>
        </p:txBody>
      </p:sp>
      <p:sp>
        <p:nvSpPr>
          <p:cNvPr id="12" name="d195"/>
          <p:cNvSpPr/>
          <p:nvPr/>
        </p:nvSpPr>
        <p:spPr>
          <a:xfrm>
            <a:off x="5020056" y="163677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d196"/>
          <p:cNvSpPr/>
          <p:nvPr/>
        </p:nvSpPr>
        <p:spPr>
          <a:xfrm>
            <a:off x="5020056" y="2020824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d197"/>
          <p:cNvSpPr/>
          <p:nvPr/>
        </p:nvSpPr>
        <p:spPr>
          <a:xfrm>
            <a:off x="5020056" y="2395728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d198"/>
          <p:cNvSpPr/>
          <p:nvPr/>
        </p:nvSpPr>
        <p:spPr>
          <a:xfrm>
            <a:off x="5020056" y="277977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199"/>
          <p:cNvSpPr txBox="1"/>
          <p:nvPr/>
        </p:nvSpPr>
        <p:spPr>
          <a:xfrm>
            <a:off x="5303520" y="2185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Abonnés</a:t>
            </a:r>
            <a:endParaRPr lang="en-US" sz="1000" dirty="0"/>
          </a:p>
        </p:txBody>
      </p:sp>
      <p:sp>
        <p:nvSpPr>
          <p:cNvPr id="17" name="t200"/>
          <p:cNvSpPr txBox="1"/>
          <p:nvPr/>
        </p:nvSpPr>
        <p:spPr>
          <a:xfrm>
            <a:off x="5486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Multicast</a:t>
            </a:r>
            <a:endParaRPr lang="en-US" sz="2600" dirty="0"/>
          </a:p>
        </p:txBody>
      </p:sp>
      <p:sp>
        <p:nvSpPr>
          <p:cNvPr id="18" name="t201"/>
          <p:cNvSpPr txBox="1"/>
          <p:nvPr/>
        </p:nvSpPr>
        <p:spPr>
          <a:xfrm>
            <a:off x="548640" y="3931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pour la TV en direct</a:t>
            </a:r>
            <a:endParaRPr lang="en-US" sz="1500" dirty="0"/>
          </a:p>
        </p:txBody>
      </p:sp>
      <p:sp>
        <p:nvSpPr>
          <p:cNvPr id="19" name="t202"/>
          <p:cNvSpPr txBox="1"/>
          <p:nvPr/>
        </p:nvSpPr>
        <p:spPr>
          <a:xfrm>
            <a:off x="548640" y="4297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Comme une radio : un seul émetteur pour plusieurs auditeurs.</a:t>
            </a:r>
            <a:endParaRPr lang="en-US" sz="1400" dirty="0"/>
          </a:p>
        </p:txBody>
      </p:sp>
      <p:sp>
        <p:nvSpPr>
          <p:cNvPr id="20" name="t203"/>
          <p:cNvSpPr txBox="1"/>
          <p:nvPr/>
        </p:nvSpPr>
        <p:spPr>
          <a:xfrm>
            <a:off x="548640" y="4709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flux unique par chaîne sur le réseau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Économise la bande passante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client rejoint la chaîne via IGMP</a:t>
            </a:r>
            <a:endParaRPr lang="en-US" sz="1500" dirty="0"/>
          </a:p>
        </p:txBody>
      </p:sp>
      <p:sp>
        <p:nvSpPr>
          <p:cNvPr id="21" name="r204"/>
          <p:cNvSpPr/>
          <p:nvPr/>
        </p:nvSpPr>
        <p:spPr>
          <a:xfrm>
            <a:off x="6236208" y="1417320"/>
            <a:ext cx="539496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l205"/>
          <p:cNvSpPr/>
          <p:nvPr/>
        </p:nvSpPr>
        <p:spPr>
          <a:xfrm flipV="1">
            <a:off x="6967728" y="1737360"/>
            <a:ext cx="3840480" cy="566928"/>
          </a:xfrm>
          <a:prstGeom prst="line">
            <a:avLst/>
          </a:prstGeom>
          <a:noFill/>
          <a:ln w="19050">
            <a:solidFill>
              <a:srgbClr val="111318"/>
            </a:solidFill>
            <a:prstDash val="solid"/>
          </a:ln>
        </p:spPr>
      </p:sp>
      <p:sp>
        <p:nvSpPr>
          <p:cNvPr id="23" name="l206"/>
          <p:cNvSpPr/>
          <p:nvPr/>
        </p:nvSpPr>
        <p:spPr>
          <a:xfrm flipV="1">
            <a:off x="6967728" y="2121408"/>
            <a:ext cx="3840480" cy="182880"/>
          </a:xfrm>
          <a:prstGeom prst="line">
            <a:avLst/>
          </a:prstGeom>
          <a:noFill/>
          <a:ln w="19050">
            <a:solidFill>
              <a:srgbClr val="111318"/>
            </a:solidFill>
            <a:prstDash val="solid"/>
          </a:ln>
        </p:spPr>
      </p:sp>
      <p:sp>
        <p:nvSpPr>
          <p:cNvPr id="24" name="l207"/>
          <p:cNvSpPr/>
          <p:nvPr/>
        </p:nvSpPr>
        <p:spPr>
          <a:xfrm>
            <a:off x="6967728" y="2304288"/>
            <a:ext cx="3840480" cy="192024"/>
          </a:xfrm>
          <a:prstGeom prst="line">
            <a:avLst/>
          </a:prstGeom>
          <a:noFill/>
          <a:ln w="19050">
            <a:solidFill>
              <a:srgbClr val="111318"/>
            </a:solidFill>
            <a:prstDash val="solid"/>
          </a:ln>
        </p:spPr>
      </p:sp>
      <p:sp>
        <p:nvSpPr>
          <p:cNvPr id="25" name="l208"/>
          <p:cNvSpPr/>
          <p:nvPr/>
        </p:nvSpPr>
        <p:spPr>
          <a:xfrm>
            <a:off x="6967728" y="2304288"/>
            <a:ext cx="3840480" cy="576072"/>
          </a:xfrm>
          <a:prstGeom prst="line">
            <a:avLst/>
          </a:prstGeom>
          <a:noFill/>
          <a:ln w="19050">
            <a:solidFill>
              <a:srgbClr val="111318"/>
            </a:solidFill>
            <a:prstDash val="solid"/>
          </a:ln>
        </p:spPr>
      </p:sp>
      <p:sp>
        <p:nvSpPr>
          <p:cNvPr id="26" name="r209"/>
          <p:cNvSpPr/>
          <p:nvPr/>
        </p:nvSpPr>
        <p:spPr>
          <a:xfrm>
            <a:off x="6693408" y="2029968"/>
            <a:ext cx="548640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7" name="t210"/>
          <p:cNvSpPr txBox="1"/>
          <p:nvPr/>
        </p:nvSpPr>
        <p:spPr>
          <a:xfrm>
            <a:off x="6419088" y="2633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Serveur</a:t>
            </a:r>
            <a:endParaRPr lang="en-US" sz="1000" dirty="0"/>
          </a:p>
        </p:txBody>
      </p:sp>
      <p:sp>
        <p:nvSpPr>
          <p:cNvPr id="28" name="d211"/>
          <p:cNvSpPr/>
          <p:nvPr/>
        </p:nvSpPr>
        <p:spPr>
          <a:xfrm>
            <a:off x="10707624" y="163677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9" name="d212"/>
          <p:cNvSpPr/>
          <p:nvPr/>
        </p:nvSpPr>
        <p:spPr>
          <a:xfrm>
            <a:off x="10707624" y="2020824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0" name="d213"/>
          <p:cNvSpPr/>
          <p:nvPr/>
        </p:nvSpPr>
        <p:spPr>
          <a:xfrm>
            <a:off x="10707624" y="2395728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d214"/>
          <p:cNvSpPr/>
          <p:nvPr/>
        </p:nvSpPr>
        <p:spPr>
          <a:xfrm>
            <a:off x="10707624" y="277977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t215"/>
          <p:cNvSpPr txBox="1"/>
          <p:nvPr/>
        </p:nvSpPr>
        <p:spPr>
          <a:xfrm>
            <a:off x="10991088" y="2185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Abonnés</a:t>
            </a:r>
            <a:endParaRPr lang="en-US" sz="1000" dirty="0"/>
          </a:p>
        </p:txBody>
      </p:sp>
      <p:sp>
        <p:nvSpPr>
          <p:cNvPr id="33" name="t216"/>
          <p:cNvSpPr txBox="1"/>
          <p:nvPr/>
        </p:nvSpPr>
        <p:spPr>
          <a:xfrm>
            <a:off x="6236208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Unicast</a:t>
            </a:r>
            <a:endParaRPr lang="en-US" sz="2600" dirty="0"/>
          </a:p>
        </p:txBody>
      </p:sp>
      <p:sp>
        <p:nvSpPr>
          <p:cNvPr id="34" name="t217"/>
          <p:cNvSpPr txBox="1"/>
          <p:nvPr/>
        </p:nvSpPr>
        <p:spPr>
          <a:xfrm>
            <a:off x="6236208" y="3931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pour la vidéo à la demande</a:t>
            </a:r>
            <a:endParaRPr lang="en-US" sz="1500" dirty="0"/>
          </a:p>
        </p:txBody>
      </p:sp>
      <p:sp>
        <p:nvSpPr>
          <p:cNvPr id="35" name="t218"/>
          <p:cNvSpPr txBox="1"/>
          <p:nvPr/>
        </p:nvSpPr>
        <p:spPr>
          <a:xfrm>
            <a:off x="6236208" y="4297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Comme un appel téléphonique : une ligne par personne.</a:t>
            </a:r>
            <a:endParaRPr lang="en-US" sz="1400" dirty="0"/>
          </a:p>
        </p:txBody>
      </p:sp>
      <p:sp>
        <p:nvSpPr>
          <p:cNvPr id="36" name="t219"/>
          <p:cNvSpPr txBox="1"/>
          <p:nvPr/>
        </p:nvSpPr>
        <p:spPr>
          <a:xfrm>
            <a:off x="6236208" y="4709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flux dédié par spectateur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Indispensable pour VoD, replay et pause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Consomme plus de bande passante</a:t>
            </a:r>
            <a:endParaRPr lang="en-US" sz="1500" dirty="0"/>
          </a:p>
        </p:txBody>
      </p:sp>
      <p:sp>
        <p:nvSpPr>
          <p:cNvPr id="37" name="l220"/>
          <p:cNvSpPr/>
          <p:nvPr/>
        </p:nvSpPr>
        <p:spPr>
          <a:xfrm>
            <a:off x="548640" y="5760720"/>
            <a:ext cx="11091672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38" name="t221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Les opérateurs combinent les deux :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multicast pour le direct, unicast pour tout le reste.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pratique : TV en direct</a:t>
            </a:r>
            <a:endParaRPr lang="en-US" sz="3000" dirty="0"/>
          </a:p>
        </p:txBody>
      </p:sp>
      <p:pic>
        <p:nvPicPr>
          <p:cNvPr id="3" name="photo_p038_222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4" name="r223"/>
          <p:cNvSpPr/>
          <p:nvPr/>
        </p:nvSpPr>
        <p:spPr>
          <a:xfrm>
            <a:off x="8138160" y="6172200"/>
            <a:ext cx="4053535" cy="685800"/>
          </a:xfrm>
          <a:prstGeom prst="rect">
            <a:avLst/>
          </a:prstGeom>
          <a:solidFill>
            <a:schemeClr val="tx1">
              <a:alpha val="70000"/>
            </a:schemeClr>
          </a:solidFill>
          <a:ln/>
        </p:spPr>
      </p:sp>
      <p:sp>
        <p:nvSpPr>
          <p:cNvPr id="5" name="t224"/>
          <p:cNvSpPr txBox="1"/>
          <p:nvPr/>
        </p:nvSpPr>
        <p:spPr>
          <a:xfrm>
            <a:off x="8412480" y="6172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Freebox Révolution : box IPTV de Free (France)</a:t>
            </a:r>
            <a:endParaRPr lang="en-US" sz="1100" dirty="0"/>
          </a:p>
        </p:txBody>
      </p:sp>
      <p:sp>
        <p:nvSpPr>
          <p:cNvPr id="6" name="t225"/>
          <p:cNvSpPr txBox="1"/>
          <p:nvPr/>
        </p:nvSpPr>
        <p:spPr>
          <a:xfrm>
            <a:off x="548640" y="1234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Scénario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Awa, abonnée à l'offre fibre d'un opérateur, allume sa télévision et choisit une chaîne.</a:t>
            </a:r>
            <a:endParaRPr lang="en-US" sz="1600" dirty="0"/>
          </a:p>
        </p:txBody>
      </p:sp>
      <p:sp>
        <p:nvSpPr>
          <p:cNvPr id="7" name="l226"/>
          <p:cNvSpPr/>
          <p:nvPr/>
        </p:nvSpPr>
        <p:spPr>
          <a:xfrm>
            <a:off x="548640" y="201168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8" name="t227"/>
          <p:cNvSpPr txBox="1"/>
          <p:nvPr/>
        </p:nvSpPr>
        <p:spPr>
          <a:xfrm>
            <a:off x="54864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Démarrage de la box</a:t>
            </a:r>
            <a:endParaRPr lang="en-US" sz="1600" dirty="0"/>
          </a:p>
        </p:txBody>
      </p:sp>
      <p:sp>
        <p:nvSpPr>
          <p:cNvPr id="9" name="t228"/>
          <p:cNvSpPr txBox="1"/>
          <p:nvPr/>
        </p:nvSpPr>
        <p:spPr>
          <a:xfrm>
            <a:off x="548640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La box s'allume et reçoit son adresse IP du réseau de l'opérateur</a:t>
            </a:r>
            <a:endParaRPr lang="en-US" sz="1400" dirty="0"/>
          </a:p>
        </p:txBody>
      </p:sp>
      <p:sp>
        <p:nvSpPr>
          <p:cNvPr id="10" name="t229"/>
          <p:cNvSpPr txBox="1"/>
          <p:nvPr/>
        </p:nvSpPr>
        <p:spPr>
          <a:xfrm>
            <a:off x="548640" y="29900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Box</a:t>
            </a:r>
            <a:endParaRPr lang="en-US" sz="1100" dirty="0"/>
          </a:p>
        </p:txBody>
      </p:sp>
      <p:sp>
        <p:nvSpPr>
          <p:cNvPr id="11" name="l230"/>
          <p:cNvSpPr/>
          <p:nvPr/>
        </p:nvSpPr>
        <p:spPr>
          <a:xfrm>
            <a:off x="4160520" y="201168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2" name="t231"/>
          <p:cNvSpPr txBox="1"/>
          <p:nvPr/>
        </p:nvSpPr>
        <p:spPr>
          <a:xfrm>
            <a:off x="416052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Authentification</a:t>
            </a:r>
            <a:endParaRPr lang="en-US" sz="1600" dirty="0"/>
          </a:p>
        </p:txBody>
      </p:sp>
      <p:sp>
        <p:nvSpPr>
          <p:cNvPr id="13" name="t232"/>
          <p:cNvSpPr txBox="1"/>
          <p:nvPr/>
        </p:nvSpPr>
        <p:spPr>
          <a:xfrm>
            <a:off x="4160520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 middleware vérifie l'abonnement et les droits d'Awa</a:t>
            </a:r>
            <a:endParaRPr lang="en-US" sz="1400" dirty="0"/>
          </a:p>
        </p:txBody>
      </p:sp>
      <p:sp>
        <p:nvSpPr>
          <p:cNvPr id="14" name="t233"/>
          <p:cNvSpPr txBox="1"/>
          <p:nvPr/>
        </p:nvSpPr>
        <p:spPr>
          <a:xfrm>
            <a:off x="4160520" y="29900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Middleware</a:t>
            </a:r>
            <a:endParaRPr lang="en-US" sz="1100" dirty="0"/>
          </a:p>
        </p:txBody>
      </p:sp>
      <p:sp>
        <p:nvSpPr>
          <p:cNvPr id="15" name="l234"/>
          <p:cNvSpPr/>
          <p:nvPr/>
        </p:nvSpPr>
        <p:spPr>
          <a:xfrm>
            <a:off x="548640" y="338328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6" name="t235"/>
          <p:cNvSpPr txBox="1"/>
          <p:nvPr/>
        </p:nvSpPr>
        <p:spPr>
          <a:xfrm>
            <a:off x="548640" y="3493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Guide des programmes</a:t>
            </a:r>
            <a:endParaRPr lang="en-US" sz="1600" dirty="0"/>
          </a:p>
        </p:txBody>
      </p:sp>
      <p:sp>
        <p:nvSpPr>
          <p:cNvPr id="17" name="t236"/>
          <p:cNvSpPr txBox="1"/>
          <p:nvPr/>
        </p:nvSpPr>
        <p:spPr>
          <a:xfrm>
            <a:off x="548640" y="3840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La box affiche la liste des chaînes auxquelles Awa a droit</a:t>
            </a:r>
            <a:endParaRPr lang="en-US" sz="1400" dirty="0"/>
          </a:p>
        </p:txBody>
      </p:sp>
      <p:sp>
        <p:nvSpPr>
          <p:cNvPr id="18" name="t237"/>
          <p:cNvSpPr txBox="1"/>
          <p:nvPr/>
        </p:nvSpPr>
        <p:spPr>
          <a:xfrm>
            <a:off x="548640" y="4361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Box</a:t>
            </a:r>
            <a:endParaRPr lang="en-US" sz="1100" dirty="0"/>
          </a:p>
        </p:txBody>
      </p:sp>
      <p:sp>
        <p:nvSpPr>
          <p:cNvPr id="19" name="r238"/>
          <p:cNvSpPr/>
          <p:nvPr/>
        </p:nvSpPr>
        <p:spPr>
          <a:xfrm>
            <a:off x="4023360" y="3337560"/>
            <a:ext cx="356616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l239"/>
          <p:cNvSpPr/>
          <p:nvPr/>
        </p:nvSpPr>
        <p:spPr>
          <a:xfrm>
            <a:off x="4160520" y="3383280"/>
            <a:ext cx="3291840" cy="91"/>
          </a:xfrm>
          <a:prstGeom prst="line">
            <a:avLst/>
          </a:prstGeom>
          <a:noFill/>
          <a:ln w="19050">
            <a:solidFill>
              <a:srgbClr val="E8541E"/>
            </a:solidFill>
            <a:prstDash val="solid"/>
          </a:ln>
        </p:spPr>
      </p:sp>
      <p:sp>
        <p:nvSpPr>
          <p:cNvPr id="21" name="t240"/>
          <p:cNvSpPr txBox="1"/>
          <p:nvPr/>
        </p:nvSpPr>
        <p:spPr>
          <a:xfrm>
            <a:off x="4160520" y="3493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Choix de la chaîne</a:t>
            </a:r>
            <a:endParaRPr lang="en-US" sz="1600" dirty="0"/>
          </a:p>
        </p:txBody>
      </p:sp>
      <p:sp>
        <p:nvSpPr>
          <p:cNvPr id="22" name="t241"/>
          <p:cNvSpPr txBox="1"/>
          <p:nvPr/>
        </p:nvSpPr>
        <p:spPr>
          <a:xfrm>
            <a:off x="4160520" y="3840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Awa appuie sur la télécommande : la box envoie une demande IGMP</a:t>
            </a:r>
            <a:endParaRPr lang="en-US" sz="1400" dirty="0"/>
          </a:p>
        </p:txBody>
      </p:sp>
      <p:sp>
        <p:nvSpPr>
          <p:cNvPr id="23" name="t242"/>
          <p:cNvSpPr txBox="1"/>
          <p:nvPr/>
        </p:nvSpPr>
        <p:spPr>
          <a:xfrm>
            <a:off x="4160520" y="4361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IGMP</a:t>
            </a:r>
            <a:endParaRPr lang="en-US" sz="1100" dirty="0"/>
          </a:p>
        </p:txBody>
      </p:sp>
      <p:sp>
        <p:nvSpPr>
          <p:cNvPr id="24" name="l243"/>
          <p:cNvSpPr/>
          <p:nvPr/>
        </p:nvSpPr>
        <p:spPr>
          <a:xfrm>
            <a:off x="548640" y="475488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5" name="t244"/>
          <p:cNvSpPr txBox="1"/>
          <p:nvPr/>
        </p:nvSpPr>
        <p:spPr>
          <a:xfrm>
            <a:off x="548640" y="4864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05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Réception du flux</a:t>
            </a:r>
            <a:endParaRPr lang="en-US" sz="1600" dirty="0"/>
          </a:p>
        </p:txBody>
      </p:sp>
      <p:sp>
        <p:nvSpPr>
          <p:cNvPr id="26" name="t245"/>
          <p:cNvSpPr txBox="1"/>
          <p:nvPr/>
        </p:nvSpPr>
        <p:spPr>
          <a:xfrm>
            <a:off x="548640" y="5212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 réseau livre le flux multicast de cette chaîne uniquement</a:t>
            </a:r>
            <a:endParaRPr lang="en-US" sz="1400" dirty="0"/>
          </a:p>
        </p:txBody>
      </p:sp>
      <p:sp>
        <p:nvSpPr>
          <p:cNvPr id="27" name="t246"/>
          <p:cNvSpPr txBox="1"/>
          <p:nvPr/>
        </p:nvSpPr>
        <p:spPr>
          <a:xfrm>
            <a:off x="548640" y="5733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Réseau</a:t>
            </a:r>
            <a:endParaRPr lang="en-US" sz="1100" dirty="0"/>
          </a:p>
        </p:txBody>
      </p:sp>
      <p:sp>
        <p:nvSpPr>
          <p:cNvPr id="28" name="l247"/>
          <p:cNvSpPr/>
          <p:nvPr/>
        </p:nvSpPr>
        <p:spPr>
          <a:xfrm>
            <a:off x="4160520" y="475488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9" name="t248"/>
          <p:cNvSpPr txBox="1"/>
          <p:nvPr/>
        </p:nvSpPr>
        <p:spPr>
          <a:xfrm>
            <a:off x="4160520" y="4864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06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Décodage et affichage</a:t>
            </a:r>
            <a:endParaRPr lang="en-US" sz="1600" dirty="0"/>
          </a:p>
        </p:txBody>
      </p:sp>
      <p:sp>
        <p:nvSpPr>
          <p:cNvPr id="30" name="t249"/>
          <p:cNvSpPr txBox="1"/>
          <p:nvPr/>
        </p:nvSpPr>
        <p:spPr>
          <a:xfrm>
            <a:off x="4160520" y="5212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La box décode, déchiffre (DRM) et affiche l'image sur la TV</a:t>
            </a:r>
            <a:endParaRPr lang="en-US" sz="1400" dirty="0"/>
          </a:p>
        </p:txBody>
      </p:sp>
      <p:sp>
        <p:nvSpPr>
          <p:cNvPr id="31" name="t250"/>
          <p:cNvSpPr txBox="1"/>
          <p:nvPr/>
        </p:nvSpPr>
        <p:spPr>
          <a:xfrm>
            <a:off x="4160520" y="5733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Box et DRM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02  Cas pratique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pratique : la VoD</a:t>
            </a:r>
            <a:endParaRPr lang="en-US" sz="3000" dirty="0"/>
          </a:p>
        </p:txBody>
      </p:sp>
      <p:sp>
        <p:nvSpPr>
          <p:cNvPr id="4" name="t251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Scénario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Awa choisit un film dans le catalogue et veut le regarder tout de suite.</a:t>
            </a:r>
            <a:endParaRPr lang="en-US" sz="1600" dirty="0"/>
          </a:p>
        </p:txBody>
      </p:sp>
      <p:sp>
        <p:nvSpPr>
          <p:cNvPr id="5" name="l252"/>
          <p:cNvSpPr/>
          <p:nvPr/>
        </p:nvSpPr>
        <p:spPr>
          <a:xfrm>
            <a:off x="548640" y="1828800"/>
            <a:ext cx="205740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6" name="t253"/>
          <p:cNvSpPr txBox="1"/>
          <p:nvPr/>
        </p:nvSpPr>
        <p:spPr>
          <a:xfrm>
            <a:off x="54864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254"/>
          <p:cNvSpPr txBox="1"/>
          <p:nvPr/>
        </p:nvSpPr>
        <p:spPr>
          <a:xfrm>
            <a:off x="548640" y="2377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Choix du film</a:t>
            </a:r>
            <a:endParaRPr lang="en-US" sz="1600" dirty="0"/>
          </a:p>
        </p:txBody>
      </p:sp>
      <p:sp>
        <p:nvSpPr>
          <p:cNvPr id="8" name="t255"/>
          <p:cNvSpPr txBox="1"/>
          <p:nvPr/>
        </p:nvSpPr>
        <p:spPr>
          <a:xfrm>
            <a:off x="548640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Awa sélectionne un film dans le catalogue VoD</a:t>
            </a:r>
            <a:endParaRPr lang="en-US" sz="1400" dirty="0"/>
          </a:p>
        </p:txBody>
      </p:sp>
      <p:sp>
        <p:nvSpPr>
          <p:cNvPr id="9" name="l256"/>
          <p:cNvSpPr/>
          <p:nvPr/>
        </p:nvSpPr>
        <p:spPr>
          <a:xfrm>
            <a:off x="2788920" y="1828800"/>
            <a:ext cx="205740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0" name="t257"/>
          <p:cNvSpPr txBox="1"/>
          <p:nvPr/>
        </p:nvSpPr>
        <p:spPr>
          <a:xfrm>
            <a:off x="278892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258"/>
          <p:cNvSpPr txBox="1"/>
          <p:nvPr/>
        </p:nvSpPr>
        <p:spPr>
          <a:xfrm>
            <a:off x="2788920" y="2377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Demande</a:t>
            </a:r>
            <a:endParaRPr lang="en-US" sz="1600" dirty="0"/>
          </a:p>
        </p:txBody>
      </p:sp>
      <p:sp>
        <p:nvSpPr>
          <p:cNvPr id="12" name="t259"/>
          <p:cNvSpPr txBox="1"/>
          <p:nvPr/>
        </p:nvSpPr>
        <p:spPr>
          <a:xfrm>
            <a:off x="2788920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La box contacte le middleware : droits et prix du film</a:t>
            </a:r>
            <a:endParaRPr lang="en-US" sz="1400" dirty="0"/>
          </a:p>
        </p:txBody>
      </p:sp>
      <p:sp>
        <p:nvSpPr>
          <p:cNvPr id="13" name="l260"/>
          <p:cNvSpPr/>
          <p:nvPr/>
        </p:nvSpPr>
        <p:spPr>
          <a:xfrm>
            <a:off x="5029200" y="1828800"/>
            <a:ext cx="205740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4" name="t261"/>
          <p:cNvSpPr txBox="1"/>
          <p:nvPr/>
        </p:nvSpPr>
        <p:spPr>
          <a:xfrm>
            <a:off x="502920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262"/>
          <p:cNvSpPr txBox="1"/>
          <p:nvPr/>
        </p:nvSpPr>
        <p:spPr>
          <a:xfrm>
            <a:off x="5029200" y="2377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Facturation</a:t>
            </a:r>
            <a:endParaRPr lang="en-US" sz="1600" dirty="0"/>
          </a:p>
        </p:txBody>
      </p:sp>
      <p:sp>
        <p:nvSpPr>
          <p:cNvPr id="16" name="t263"/>
          <p:cNvSpPr txBox="1"/>
          <p:nvPr/>
        </p:nvSpPr>
        <p:spPr>
          <a:xfrm>
            <a:off x="5029200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 paiement est validé et une licence DRM est délivrée</a:t>
            </a:r>
            <a:endParaRPr lang="en-US" sz="1400" dirty="0"/>
          </a:p>
        </p:txBody>
      </p:sp>
      <p:sp>
        <p:nvSpPr>
          <p:cNvPr id="17" name="l264"/>
          <p:cNvSpPr/>
          <p:nvPr/>
        </p:nvSpPr>
        <p:spPr>
          <a:xfrm>
            <a:off x="7269480" y="1828800"/>
            <a:ext cx="2057400" cy="91"/>
          </a:xfrm>
          <a:prstGeom prst="line">
            <a:avLst/>
          </a:prstGeom>
          <a:noFill/>
          <a:ln w="25400">
            <a:solidFill>
              <a:srgbClr val="E8541E"/>
            </a:solidFill>
            <a:prstDash val="solid"/>
          </a:ln>
        </p:spPr>
      </p:sp>
      <p:sp>
        <p:nvSpPr>
          <p:cNvPr id="18" name="t265"/>
          <p:cNvSpPr txBox="1"/>
          <p:nvPr/>
        </p:nvSpPr>
        <p:spPr>
          <a:xfrm>
            <a:off x="726948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266"/>
          <p:cNvSpPr txBox="1"/>
          <p:nvPr/>
        </p:nvSpPr>
        <p:spPr>
          <a:xfrm>
            <a:off x="7269480" y="2377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Flux unicast</a:t>
            </a:r>
            <a:endParaRPr lang="en-US" sz="1600" dirty="0"/>
          </a:p>
        </p:txBody>
      </p:sp>
      <p:sp>
        <p:nvSpPr>
          <p:cNvPr id="20" name="t267"/>
          <p:cNvSpPr txBox="1"/>
          <p:nvPr/>
        </p:nvSpPr>
        <p:spPr>
          <a:xfrm>
            <a:off x="7269480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 serveur ou CDN envoie un flux dédié à Awa (RTSP, HLS)</a:t>
            </a:r>
            <a:endParaRPr lang="en-US" sz="1400" dirty="0"/>
          </a:p>
        </p:txBody>
      </p:sp>
      <p:sp>
        <p:nvSpPr>
          <p:cNvPr id="21" name="l268"/>
          <p:cNvSpPr/>
          <p:nvPr/>
        </p:nvSpPr>
        <p:spPr>
          <a:xfrm>
            <a:off x="9509760" y="1828800"/>
            <a:ext cx="205740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22" name="t269"/>
          <p:cNvSpPr txBox="1"/>
          <p:nvPr/>
        </p:nvSpPr>
        <p:spPr>
          <a:xfrm>
            <a:off x="950976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270"/>
          <p:cNvSpPr txBox="1"/>
          <p:nvPr/>
        </p:nvSpPr>
        <p:spPr>
          <a:xfrm>
            <a:off x="9509760" y="2377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Lecture</a:t>
            </a:r>
            <a:endParaRPr lang="en-US" sz="1600" dirty="0"/>
          </a:p>
        </p:txBody>
      </p:sp>
      <p:sp>
        <p:nvSpPr>
          <p:cNvPr id="24" name="t271"/>
          <p:cNvSpPr txBox="1"/>
          <p:nvPr/>
        </p:nvSpPr>
        <p:spPr>
          <a:xfrm>
            <a:off x="9509760" y="27432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La box décode le film : pause et avance rapide possibles</a:t>
            </a:r>
            <a:endParaRPr lang="en-US" sz="1400" dirty="0"/>
          </a:p>
        </p:txBody>
      </p:sp>
      <p:pic>
        <p:nvPicPr>
          <p:cNvPr id="25" name="photo_p172_272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6200"/>
            <a:ext cx="11094415" cy="2240280"/>
          </a:xfrm>
          <a:prstGeom prst="rect">
            <a:avLst/>
          </a:prstGeom>
        </p:spPr>
      </p:pic>
      <p:sp>
        <p:nvSpPr>
          <p:cNvPr id="26" name="r273"/>
          <p:cNvSpPr/>
          <p:nvPr/>
        </p:nvSpPr>
        <p:spPr>
          <a:xfrm>
            <a:off x="548640" y="3886200"/>
            <a:ext cx="11094415" cy="2240280"/>
          </a:xfrm>
          <a:prstGeom prst="rect">
            <a:avLst/>
          </a:prstGeom>
          <a:solidFill>
            <a:schemeClr val="tx1">
              <a:alpha val="45000"/>
            </a:schemeClr>
          </a:solidFill>
          <a:ln/>
        </p:spPr>
      </p:sp>
      <p:sp>
        <p:nvSpPr>
          <p:cNvPr id="27" name="r274"/>
          <p:cNvSpPr/>
          <p:nvPr/>
        </p:nvSpPr>
        <p:spPr>
          <a:xfrm>
            <a:off x="6309360" y="3886200"/>
            <a:ext cx="5333695" cy="2240280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</p:sp>
      <p:sp>
        <p:nvSpPr>
          <p:cNvPr id="28" name="t275"/>
          <p:cNvSpPr txBox="1"/>
          <p:nvPr/>
        </p:nvSpPr>
        <p:spPr>
          <a:xfrm>
            <a:off x="66294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9" name="t276"/>
          <p:cNvSpPr txBox="1"/>
          <p:nvPr/>
        </p:nvSpPr>
        <p:spPr>
          <a:xfrm>
            <a:off x="662940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Direct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= multicast partagé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VoD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= unicast dédié à chaque spectateur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177_277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27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r279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5" name="t280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Partie 3 / 5</a:t>
            </a:r>
            <a:endParaRPr lang="en-US" sz="1300" dirty="0"/>
          </a:p>
        </p:txBody>
      </p:sp>
      <p:sp>
        <p:nvSpPr>
          <p:cNvPr id="6" name="t281"/>
          <p:cNvSpPr txBox="1"/>
          <p:nvPr/>
        </p:nvSpPr>
        <p:spPr>
          <a:xfrm>
            <a:off x="54864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7" name="t282"/>
          <p:cNvSpPr txBox="1"/>
          <p:nvPr/>
        </p:nvSpPr>
        <p:spPr>
          <a:xfrm>
            <a:off x="548640" y="44348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services à valeur ajoutée</a:t>
            </a:r>
            <a:endParaRPr lang="en-US" sz="4400" dirty="0"/>
          </a:p>
        </p:txBody>
      </p:sp>
      <p:sp>
        <p:nvSpPr>
          <p:cNvPr id="8" name="t283"/>
          <p:cNvSpPr txBox="1"/>
          <p:nvPr/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>
                    <a:alpha val="85000"/>
                  </a:schemeClr>
                </a:solidFill>
              </a:rPr>
              <a:t>Ce qui transforme une simple télévision en expérience interactive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03  Services à valeur ajoutée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qu'un SVA ?</a:t>
            </a:r>
            <a:endParaRPr lang="en-US" sz="3000" dirty="0"/>
          </a:p>
        </p:txBody>
      </p:sp>
      <p:sp>
        <p:nvSpPr>
          <p:cNvPr id="4" name="t284"/>
          <p:cNvSpPr txBox="1"/>
          <p:nvPr/>
        </p:nvSpPr>
        <p:spPr>
          <a:xfrm>
            <a:off x="548640" y="1463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Un service à valeur ajoutée (SVA)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est une fonctionnalité qui s'ajoute au service de base pour le rendre plus utile, plus pratique ou plus rentable.</a:t>
            </a:r>
            <a:endParaRPr lang="en-US" sz="1900" dirty="0"/>
          </a:p>
        </p:txBody>
      </p:sp>
      <p:sp>
        <p:nvSpPr>
          <p:cNvPr id="5" name="l285"/>
          <p:cNvSpPr/>
          <p:nvPr/>
        </p:nvSpPr>
        <p:spPr>
          <a:xfrm>
            <a:off x="548640" y="3108960"/>
            <a:ext cx="566928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6" name="t286"/>
          <p:cNvSpPr txBox="1"/>
          <p:nvPr/>
        </p:nvSpPr>
        <p:spPr>
          <a:xfrm>
            <a:off x="548640" y="3273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Pour l'abonné</a:t>
            </a:r>
            <a:endParaRPr lang="en-US" sz="1700" dirty="0"/>
          </a:p>
        </p:txBody>
      </p:sp>
      <p:sp>
        <p:nvSpPr>
          <p:cNvPr id="7" name="t287"/>
          <p:cNvSpPr txBox="1"/>
          <p:nvPr/>
        </p:nvSpPr>
        <p:spPr>
          <a:xfrm>
            <a:off x="54864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plus de confort et de choix</a:t>
            </a:r>
            <a:endParaRPr lang="en-US" sz="1500" dirty="0"/>
          </a:p>
        </p:txBody>
      </p:sp>
      <p:sp>
        <p:nvSpPr>
          <p:cNvPr id="8" name="l288"/>
          <p:cNvSpPr/>
          <p:nvPr/>
        </p:nvSpPr>
        <p:spPr>
          <a:xfrm>
            <a:off x="548640" y="4023360"/>
            <a:ext cx="566928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9" name="t289"/>
          <p:cNvSpPr txBox="1"/>
          <p:nvPr/>
        </p:nvSpPr>
        <p:spPr>
          <a:xfrm>
            <a:off x="548640" y="4187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Pour l'opérateur</a:t>
            </a:r>
            <a:endParaRPr lang="en-US" sz="1700" dirty="0"/>
          </a:p>
        </p:txBody>
      </p:sp>
      <p:sp>
        <p:nvSpPr>
          <p:cNvPr id="10" name="t290"/>
          <p:cNvSpPr txBox="1"/>
          <p:nvPr/>
        </p:nvSpPr>
        <p:spPr>
          <a:xfrm>
            <a:off x="548640" y="4507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fidélisation et nouveaux revenus</a:t>
            </a:r>
            <a:endParaRPr lang="en-US" sz="1500" dirty="0"/>
          </a:p>
        </p:txBody>
      </p:sp>
      <p:sp>
        <p:nvSpPr>
          <p:cNvPr id="11" name="l291"/>
          <p:cNvSpPr/>
          <p:nvPr/>
        </p:nvSpPr>
        <p:spPr>
          <a:xfrm>
            <a:off x="548640" y="4937760"/>
            <a:ext cx="566928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2" name="t292"/>
          <p:cNvSpPr txBox="1"/>
          <p:nvPr/>
        </p:nvSpPr>
        <p:spPr>
          <a:xfrm>
            <a:off x="548640" y="5102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Pour les annonceurs</a:t>
            </a:r>
            <a:endParaRPr lang="en-US" sz="1700" dirty="0"/>
          </a:p>
        </p:txBody>
      </p:sp>
      <p:sp>
        <p:nvSpPr>
          <p:cNvPr id="13" name="t293"/>
          <p:cNvSpPr txBox="1"/>
          <p:nvPr/>
        </p:nvSpPr>
        <p:spPr>
          <a:xfrm>
            <a:off x="548640" y="5422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un canal publicitaire ciblé</a:t>
            </a:r>
            <a:endParaRPr lang="en-US" sz="1500" dirty="0"/>
          </a:p>
        </p:txBody>
      </p:sp>
      <p:sp>
        <p:nvSpPr>
          <p:cNvPr id="14" name="d294"/>
          <p:cNvSpPr/>
          <p:nvPr/>
        </p:nvSpPr>
        <p:spPr>
          <a:xfrm>
            <a:off x="6858000" y="1508760"/>
            <a:ext cx="4572000" cy="457200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d295"/>
          <p:cNvSpPr/>
          <p:nvPr/>
        </p:nvSpPr>
        <p:spPr>
          <a:xfrm>
            <a:off x="8092440" y="2743200"/>
            <a:ext cx="2103120" cy="21031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296"/>
          <p:cNvSpPr txBox="1"/>
          <p:nvPr/>
        </p:nvSpPr>
        <p:spPr>
          <a:xfrm>
            <a:off x="813816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Service de base</a:t>
            </a:r>
            <a:endParaRPr lang="en-US" sz="1200" dirty="0"/>
          </a:p>
        </p:txBody>
      </p:sp>
      <p:sp>
        <p:nvSpPr>
          <p:cNvPr id="17" name="t297"/>
          <p:cNvSpPr txBox="1"/>
          <p:nvPr/>
        </p:nvSpPr>
        <p:spPr>
          <a:xfrm>
            <a:off x="8138160" y="3685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 TV</a:t>
            </a:r>
            <a:endParaRPr lang="en-US" sz="1900" dirty="0"/>
          </a:p>
        </p:txBody>
      </p:sp>
      <p:sp>
        <p:nvSpPr>
          <p:cNvPr id="18" name="t298"/>
          <p:cNvSpPr txBox="1"/>
          <p:nvPr/>
        </p:nvSpPr>
        <p:spPr>
          <a:xfrm>
            <a:off x="7315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Services à valeur ajoutée</a:t>
            </a:r>
            <a:endParaRPr lang="en-US" sz="1300" dirty="0"/>
          </a:p>
        </p:txBody>
      </p:sp>
      <p:sp>
        <p:nvSpPr>
          <p:cNvPr id="19" name="t299"/>
          <p:cNvSpPr txBox="1"/>
          <p:nvPr/>
        </p:nvSpPr>
        <p:spPr>
          <a:xfrm>
            <a:off x="6858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VoD</a:t>
            </a:r>
            <a:endParaRPr lang="en-US" sz="1400" dirty="0"/>
          </a:p>
        </p:txBody>
      </p:sp>
      <p:sp>
        <p:nvSpPr>
          <p:cNvPr id="20" name="t300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Replay</a:t>
            </a:r>
            <a:endParaRPr lang="en-US" sz="1400" dirty="0"/>
          </a:p>
        </p:txBody>
      </p:sp>
      <p:sp>
        <p:nvSpPr>
          <p:cNvPr id="21" name="t301"/>
          <p:cNvSpPr txBox="1"/>
          <p:nvPr/>
        </p:nvSpPr>
        <p:spPr>
          <a:xfrm>
            <a:off x="68580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Multi-écrans</a:t>
            </a:r>
            <a:endParaRPr lang="en-US" sz="1400" dirty="0"/>
          </a:p>
        </p:txBody>
      </p:sp>
      <p:sp>
        <p:nvSpPr>
          <p:cNvPr id="22" name="t302"/>
          <p:cNvSpPr txBox="1"/>
          <p:nvPr/>
        </p:nvSpPr>
        <p:spPr>
          <a:xfrm>
            <a:off x="100584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 ciblée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SVA : regarder autrement</a:t>
            </a:r>
            <a:endParaRPr lang="en-US" sz="3000" dirty="0"/>
          </a:p>
        </p:txBody>
      </p:sp>
      <p:pic>
        <p:nvPicPr>
          <p:cNvPr id="3" name="photo_p145_303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4" name="t304"/>
          <p:cNvSpPr txBox="1"/>
          <p:nvPr/>
        </p:nvSpPr>
        <p:spPr>
          <a:xfrm>
            <a:off x="548640" y="1234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Regarder ce que l'on veut, quand on veut, sur l'écran que l'on veut.</a:t>
            </a:r>
            <a:endParaRPr lang="en-US" sz="1600" dirty="0"/>
          </a:p>
        </p:txBody>
      </p:sp>
      <p:sp>
        <p:nvSpPr>
          <p:cNvPr id="5" name="l305"/>
          <p:cNvSpPr/>
          <p:nvPr/>
        </p:nvSpPr>
        <p:spPr>
          <a:xfrm>
            <a:off x="548640" y="192024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6" name="t306"/>
          <p:cNvSpPr txBox="1"/>
          <p:nvPr/>
        </p:nvSpPr>
        <p:spPr>
          <a:xfrm>
            <a:off x="548640" y="2057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Vidéo à la demande</a:t>
            </a:r>
            <a:endParaRPr lang="en-US" sz="1700" dirty="0"/>
          </a:p>
        </p:txBody>
      </p:sp>
      <p:sp>
        <p:nvSpPr>
          <p:cNvPr id="7" name="t307"/>
          <p:cNvSpPr txBox="1"/>
          <p:nvPr/>
        </p:nvSpPr>
        <p:spPr>
          <a:xfrm>
            <a:off x="54864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Films et séries disponibles à tout moment, à la location ou inclus</a:t>
            </a:r>
            <a:endParaRPr lang="en-US" sz="1400" dirty="0"/>
          </a:p>
        </p:txBody>
      </p:sp>
      <p:sp>
        <p:nvSpPr>
          <p:cNvPr id="8" name="l308"/>
          <p:cNvSpPr/>
          <p:nvPr/>
        </p:nvSpPr>
        <p:spPr>
          <a:xfrm>
            <a:off x="4160520" y="192024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9" name="t309"/>
          <p:cNvSpPr txBox="1"/>
          <p:nvPr/>
        </p:nvSpPr>
        <p:spPr>
          <a:xfrm>
            <a:off x="4160520" y="2057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TV de rattrapage</a:t>
            </a:r>
            <a:endParaRPr lang="en-US" sz="1700" dirty="0"/>
          </a:p>
        </p:txBody>
      </p:sp>
      <p:sp>
        <p:nvSpPr>
          <p:cNvPr id="10" name="t310"/>
          <p:cNvSpPr txBox="1"/>
          <p:nvPr/>
        </p:nvSpPr>
        <p:spPr>
          <a:xfrm>
            <a:off x="416052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Revoir un programme diffusé ces derniers jours</a:t>
            </a:r>
            <a:endParaRPr lang="en-US" sz="1400" dirty="0"/>
          </a:p>
        </p:txBody>
      </p:sp>
      <p:sp>
        <p:nvSpPr>
          <p:cNvPr id="11" name="l311"/>
          <p:cNvSpPr/>
          <p:nvPr/>
        </p:nvSpPr>
        <p:spPr>
          <a:xfrm>
            <a:off x="548640" y="329184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2" name="t312"/>
          <p:cNvSpPr txBox="1"/>
          <p:nvPr/>
        </p:nvSpPr>
        <p:spPr>
          <a:xfrm>
            <a:off x="548640" y="3429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Timeshift</a:t>
            </a:r>
            <a:endParaRPr lang="en-US" sz="1700" dirty="0"/>
          </a:p>
        </p:txBody>
      </p:sp>
      <p:sp>
        <p:nvSpPr>
          <p:cNvPr id="13" name="t313"/>
          <p:cNvSpPr txBox="1"/>
          <p:nvPr/>
        </p:nvSpPr>
        <p:spPr>
          <a:xfrm>
            <a:off x="54864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Mettre le direct en pause et le reprendre plus tard</a:t>
            </a:r>
            <a:endParaRPr lang="en-US" sz="1400" dirty="0"/>
          </a:p>
        </p:txBody>
      </p:sp>
      <p:sp>
        <p:nvSpPr>
          <p:cNvPr id="14" name="l314"/>
          <p:cNvSpPr/>
          <p:nvPr/>
        </p:nvSpPr>
        <p:spPr>
          <a:xfrm>
            <a:off x="4160520" y="329184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5" name="t315"/>
          <p:cNvSpPr txBox="1"/>
          <p:nvPr/>
        </p:nvSpPr>
        <p:spPr>
          <a:xfrm>
            <a:off x="4160520" y="3429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Enregistreur cloud</a:t>
            </a:r>
            <a:endParaRPr lang="en-US" sz="1700" dirty="0"/>
          </a:p>
        </p:txBody>
      </p:sp>
      <p:sp>
        <p:nvSpPr>
          <p:cNvPr id="16" name="t316"/>
          <p:cNvSpPr txBox="1"/>
          <p:nvPr/>
        </p:nvSpPr>
        <p:spPr>
          <a:xfrm>
            <a:off x="416052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Enregistrer ses émissions en ligne, sans disque dur</a:t>
            </a:r>
            <a:endParaRPr lang="en-US" sz="1400" dirty="0"/>
          </a:p>
        </p:txBody>
      </p:sp>
      <p:sp>
        <p:nvSpPr>
          <p:cNvPr id="17" name="l317"/>
          <p:cNvSpPr/>
          <p:nvPr/>
        </p:nvSpPr>
        <p:spPr>
          <a:xfrm>
            <a:off x="548640" y="466344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8" name="t318"/>
          <p:cNvSpPr txBox="1"/>
          <p:nvPr/>
        </p:nvSpPr>
        <p:spPr>
          <a:xfrm>
            <a:off x="548640" y="4800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Guide des programmes</a:t>
            </a:r>
            <a:endParaRPr lang="en-US" sz="1700" dirty="0"/>
          </a:p>
        </p:txBody>
      </p:sp>
      <p:sp>
        <p:nvSpPr>
          <p:cNvPr id="19" name="t319"/>
          <p:cNvSpPr txBox="1"/>
          <p:nvPr/>
        </p:nvSpPr>
        <p:spPr>
          <a:xfrm>
            <a:off x="548640" y="5166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Grille interactive avec recherche et rappels</a:t>
            </a:r>
            <a:endParaRPr lang="en-US" sz="1400" dirty="0"/>
          </a:p>
        </p:txBody>
      </p:sp>
      <p:sp>
        <p:nvSpPr>
          <p:cNvPr id="20" name="l320"/>
          <p:cNvSpPr/>
          <p:nvPr/>
        </p:nvSpPr>
        <p:spPr>
          <a:xfrm>
            <a:off x="4160520" y="4663440"/>
            <a:ext cx="329184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1" name="t321"/>
          <p:cNvSpPr txBox="1"/>
          <p:nvPr/>
        </p:nvSpPr>
        <p:spPr>
          <a:xfrm>
            <a:off x="4160520" y="4800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Multi-écrans</a:t>
            </a:r>
            <a:endParaRPr lang="en-US" sz="1700" dirty="0"/>
          </a:p>
        </p:txBody>
      </p:sp>
      <p:sp>
        <p:nvSpPr>
          <p:cNvPr id="22" name="t322"/>
          <p:cNvSpPr txBox="1"/>
          <p:nvPr/>
        </p:nvSpPr>
        <p:spPr>
          <a:xfrm>
            <a:off x="4160520" y="5166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Un abonnement sur TV, mobile, tablette et PC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03  Services à valeur ajoutée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SVA : interagir et monétiser</a:t>
            </a:r>
            <a:endParaRPr lang="en-US" sz="3000" dirty="0"/>
          </a:p>
        </p:txBody>
      </p:sp>
      <p:pic>
        <p:nvPicPr>
          <p:cNvPr id="4" name="photo_p159_323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1600200"/>
          </a:xfrm>
          <a:prstGeom prst="rect">
            <a:avLst/>
          </a:prstGeom>
        </p:spPr>
      </p:pic>
      <p:sp>
        <p:nvSpPr>
          <p:cNvPr id="5" name="t324"/>
          <p:cNvSpPr txBox="1"/>
          <p:nvPr/>
        </p:nvSpPr>
        <p:spPr>
          <a:xfrm>
            <a:off x="548640" y="3108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Interagir</a:t>
            </a:r>
            <a:endParaRPr lang="en-US" sz="2200" dirty="0"/>
          </a:p>
        </p:txBody>
      </p:sp>
      <p:sp>
        <p:nvSpPr>
          <p:cNvPr id="6" name="l325"/>
          <p:cNvSpPr/>
          <p:nvPr/>
        </p:nvSpPr>
        <p:spPr>
          <a:xfrm>
            <a:off x="548640" y="361188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7" name="t326"/>
          <p:cNvSpPr txBox="1"/>
          <p:nvPr/>
        </p:nvSpPr>
        <p:spPr>
          <a:xfrm>
            <a:off x="54864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Contrôle parental</a:t>
            </a:r>
            <a:endParaRPr lang="en-US" sz="1500" dirty="0"/>
          </a:p>
        </p:txBody>
      </p:sp>
      <p:sp>
        <p:nvSpPr>
          <p:cNvPr id="8" name="t327"/>
          <p:cNvSpPr txBox="1"/>
          <p:nvPr/>
        </p:nvSpPr>
        <p:spPr>
          <a:xfrm>
            <a:off x="265176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Filtrer les contenus selon l'âge et limiter les horaires</a:t>
            </a:r>
            <a:endParaRPr lang="en-US" sz="1400" dirty="0"/>
          </a:p>
        </p:txBody>
      </p:sp>
      <p:sp>
        <p:nvSpPr>
          <p:cNvPr id="9" name="l328"/>
          <p:cNvSpPr/>
          <p:nvPr/>
        </p:nvSpPr>
        <p:spPr>
          <a:xfrm>
            <a:off x="548640" y="44348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0" name="t329"/>
          <p:cNvSpPr txBox="1"/>
          <p:nvPr/>
        </p:nvSpPr>
        <p:spPr>
          <a:xfrm>
            <a:off x="548640" y="4526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Jeux et applications</a:t>
            </a:r>
            <a:endParaRPr lang="en-US" sz="1500" dirty="0"/>
          </a:p>
        </p:txBody>
      </p:sp>
      <p:sp>
        <p:nvSpPr>
          <p:cNvPr id="11" name="t330"/>
          <p:cNvSpPr txBox="1"/>
          <p:nvPr/>
        </p:nvSpPr>
        <p:spPr>
          <a:xfrm>
            <a:off x="2651760" y="4526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Jeux, météo et réseaux sociaux directement sur la TV</a:t>
            </a:r>
            <a:endParaRPr lang="en-US" sz="1400" dirty="0"/>
          </a:p>
        </p:txBody>
      </p:sp>
      <p:sp>
        <p:nvSpPr>
          <p:cNvPr id="12" name="l331"/>
          <p:cNvSpPr/>
          <p:nvPr/>
        </p:nvSpPr>
        <p:spPr>
          <a:xfrm>
            <a:off x="548640" y="525780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3" name="t332"/>
          <p:cNvSpPr txBox="1"/>
          <p:nvPr/>
        </p:nvSpPr>
        <p:spPr>
          <a:xfrm>
            <a:off x="548640" y="5349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Sport interactif</a:t>
            </a:r>
            <a:endParaRPr lang="en-US" sz="1500" dirty="0"/>
          </a:p>
        </p:txBody>
      </p:sp>
      <p:sp>
        <p:nvSpPr>
          <p:cNvPr id="14" name="t333"/>
          <p:cNvSpPr txBox="1"/>
          <p:nvPr/>
        </p:nvSpPr>
        <p:spPr>
          <a:xfrm>
            <a:off x="265176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Statistiques en direct, choix des caméras et votes</a:t>
            </a:r>
            <a:endParaRPr lang="en-US" sz="1400" dirty="0"/>
          </a:p>
        </p:txBody>
      </p:sp>
      <p:sp>
        <p:nvSpPr>
          <p:cNvPr id="15" name="t334"/>
          <p:cNvSpPr txBox="1"/>
          <p:nvPr/>
        </p:nvSpPr>
        <p:spPr>
          <a:xfrm>
            <a:off x="6236208" y="3108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Monétiser</a:t>
            </a:r>
            <a:endParaRPr lang="en-US" sz="2200" dirty="0"/>
          </a:p>
        </p:txBody>
      </p:sp>
      <p:sp>
        <p:nvSpPr>
          <p:cNvPr id="16" name="l335"/>
          <p:cNvSpPr/>
          <p:nvPr/>
        </p:nvSpPr>
        <p:spPr>
          <a:xfrm>
            <a:off x="6236208" y="361188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7" name="t336"/>
          <p:cNvSpPr txBox="1"/>
          <p:nvPr/>
        </p:nvSpPr>
        <p:spPr>
          <a:xfrm>
            <a:off x="6236208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Publicité ciblée</a:t>
            </a:r>
            <a:endParaRPr lang="en-US" sz="1500" dirty="0"/>
          </a:p>
        </p:txBody>
      </p:sp>
      <p:sp>
        <p:nvSpPr>
          <p:cNvPr id="18" name="t337"/>
          <p:cNvSpPr txBox="1"/>
          <p:nvPr/>
        </p:nvSpPr>
        <p:spPr>
          <a:xfrm>
            <a:off x="8339328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Annonces adaptées au profil : une nouvelle source de revenus</a:t>
            </a:r>
            <a:endParaRPr lang="en-US" sz="1400" dirty="0"/>
          </a:p>
        </p:txBody>
      </p:sp>
      <p:sp>
        <p:nvSpPr>
          <p:cNvPr id="19" name="l338"/>
          <p:cNvSpPr/>
          <p:nvPr/>
        </p:nvSpPr>
        <p:spPr>
          <a:xfrm>
            <a:off x="6236208" y="44348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0" name="t339"/>
          <p:cNvSpPr txBox="1"/>
          <p:nvPr/>
        </p:nvSpPr>
        <p:spPr>
          <a:xfrm>
            <a:off x="6236208" y="4526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Recommandations IA</a:t>
            </a:r>
            <a:endParaRPr lang="en-US" sz="1500" dirty="0"/>
          </a:p>
        </p:txBody>
      </p:sp>
      <p:sp>
        <p:nvSpPr>
          <p:cNvPr id="21" name="t340"/>
          <p:cNvSpPr txBox="1"/>
          <p:nvPr/>
        </p:nvSpPr>
        <p:spPr>
          <a:xfrm>
            <a:off x="8339328" y="4526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Suggestions personnalisées selon l'historique de visionnage</a:t>
            </a:r>
            <a:endParaRPr lang="en-US" sz="1400" dirty="0"/>
          </a:p>
        </p:txBody>
      </p:sp>
      <p:sp>
        <p:nvSpPr>
          <p:cNvPr id="22" name="l341"/>
          <p:cNvSpPr/>
          <p:nvPr/>
        </p:nvSpPr>
        <p:spPr>
          <a:xfrm>
            <a:off x="6236208" y="525780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3" name="t342"/>
          <p:cNvSpPr txBox="1"/>
          <p:nvPr/>
        </p:nvSpPr>
        <p:spPr>
          <a:xfrm>
            <a:off x="6236208" y="5349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T-commerce</a:t>
            </a:r>
            <a:endParaRPr lang="en-US" sz="1500" dirty="0"/>
          </a:p>
        </p:txBody>
      </p:sp>
      <p:sp>
        <p:nvSpPr>
          <p:cNvPr id="24" name="t343"/>
          <p:cNvSpPr txBox="1"/>
          <p:nvPr/>
        </p:nvSpPr>
        <p:spPr>
          <a:xfrm>
            <a:off x="8339328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Acheter un produit vu à l'écran avec la télécommande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03  Services à valeur ajoutée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Modèles économiques</a:t>
            </a:r>
            <a:endParaRPr lang="en-US" sz="3000" dirty="0"/>
          </a:p>
        </p:txBody>
      </p:sp>
      <p:sp>
        <p:nvSpPr>
          <p:cNvPr id="4" name="l344"/>
          <p:cNvSpPr/>
          <p:nvPr/>
        </p:nvSpPr>
        <p:spPr>
          <a:xfrm>
            <a:off x="548640" y="1463040"/>
            <a:ext cx="2606040" cy="91"/>
          </a:xfrm>
          <a:prstGeom prst="line">
            <a:avLst/>
          </a:prstGeom>
          <a:noFill/>
          <a:ln w="12700">
            <a:solidFill>
              <a:srgbClr val="E8541E"/>
            </a:solidFill>
            <a:prstDash val="solid"/>
          </a:ln>
        </p:spPr>
      </p:sp>
      <p:sp>
        <p:nvSpPr>
          <p:cNvPr id="5" name="t345"/>
          <p:cNvSpPr txBox="1"/>
          <p:nvPr/>
        </p:nvSpPr>
        <p:spPr>
          <a:xfrm>
            <a:off x="548640" y="1645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346"/>
          <p:cNvSpPr txBox="1"/>
          <p:nvPr/>
        </p:nvSpPr>
        <p:spPr>
          <a:xfrm>
            <a:off x="548640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Abonnement</a:t>
            </a:r>
            <a:endParaRPr lang="en-US" sz="2200" dirty="0"/>
          </a:p>
        </p:txBody>
      </p:sp>
      <p:sp>
        <p:nvSpPr>
          <p:cNvPr id="7" name="t347"/>
          <p:cNvSpPr txBox="1"/>
          <p:nvPr/>
        </p:nvSpPr>
        <p:spPr>
          <a:xfrm>
            <a:off x="548640" y="30175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Bouquet mensuel de chaînes, avec ou sans engagement</a:t>
            </a:r>
            <a:endParaRPr lang="en-US" sz="1500" dirty="0"/>
          </a:p>
        </p:txBody>
      </p:sp>
      <p:sp>
        <p:nvSpPr>
          <p:cNvPr id="8" name="t348"/>
          <p:cNvSpPr txBox="1"/>
          <p:nvPr/>
        </p:nvSpPr>
        <p:spPr>
          <a:xfrm>
            <a:off x="548640" y="4251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Exemples</a:t>
            </a:r>
            <a:endParaRPr lang="en-US" sz="1100" dirty="0"/>
          </a:p>
        </p:txBody>
      </p:sp>
      <p:sp>
        <p:nvSpPr>
          <p:cNvPr id="9" name="r349"/>
          <p:cNvSpPr/>
          <p:nvPr/>
        </p:nvSpPr>
        <p:spPr>
          <a:xfrm>
            <a:off x="548640" y="4526280"/>
            <a:ext cx="2606040" cy="7315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0" name="logo_netflix_350" descr="Logo netfl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672" y="4773168"/>
            <a:ext cx="879653" cy="237744"/>
          </a:xfrm>
          <a:prstGeom prst="rect">
            <a:avLst/>
          </a:prstGeom>
        </p:spPr>
      </p:pic>
      <p:pic>
        <p:nvPicPr>
          <p:cNvPr id="11" name="logo_freebox_351" descr="Logo free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645" y="4791456"/>
            <a:ext cx="1034004" cy="201168"/>
          </a:xfrm>
          <a:prstGeom prst="rect">
            <a:avLst/>
          </a:prstGeom>
        </p:spPr>
      </p:pic>
      <p:sp>
        <p:nvSpPr>
          <p:cNvPr id="12" name="l352"/>
          <p:cNvSpPr/>
          <p:nvPr/>
        </p:nvSpPr>
        <p:spPr>
          <a:xfrm>
            <a:off x="3364992" y="1463040"/>
            <a:ext cx="2606040" cy="91"/>
          </a:xfrm>
          <a:prstGeom prst="line">
            <a:avLst/>
          </a:prstGeom>
          <a:noFill/>
          <a:ln w="12700">
            <a:solidFill>
              <a:srgbClr val="3A3E48"/>
            </a:solidFill>
            <a:prstDash val="solid"/>
          </a:ln>
        </p:spPr>
      </p:sp>
      <p:sp>
        <p:nvSpPr>
          <p:cNvPr id="13" name="t353"/>
          <p:cNvSpPr txBox="1"/>
          <p:nvPr/>
        </p:nvSpPr>
        <p:spPr>
          <a:xfrm>
            <a:off x="3364992" y="1645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354"/>
          <p:cNvSpPr txBox="1"/>
          <p:nvPr/>
        </p:nvSpPr>
        <p:spPr>
          <a:xfrm>
            <a:off x="3364992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la carte</a:t>
            </a:r>
            <a:endParaRPr lang="en-US" sz="2200" dirty="0"/>
          </a:p>
        </p:txBody>
      </p:sp>
      <p:sp>
        <p:nvSpPr>
          <p:cNvPr id="15" name="t355"/>
          <p:cNvSpPr txBox="1"/>
          <p:nvPr/>
        </p:nvSpPr>
        <p:spPr>
          <a:xfrm>
            <a:off x="3364992" y="30175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Paiement à l'unité : un film, un match, un événement</a:t>
            </a:r>
            <a:endParaRPr lang="en-US" sz="1500" dirty="0"/>
          </a:p>
        </p:txBody>
      </p:sp>
      <p:sp>
        <p:nvSpPr>
          <p:cNvPr id="16" name="t356"/>
          <p:cNvSpPr txBox="1"/>
          <p:nvPr/>
        </p:nvSpPr>
        <p:spPr>
          <a:xfrm>
            <a:off x="3364992" y="4251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Exemples</a:t>
            </a:r>
            <a:endParaRPr lang="en-US" sz="1100" dirty="0"/>
          </a:p>
        </p:txBody>
      </p:sp>
      <p:sp>
        <p:nvSpPr>
          <p:cNvPr id="17" name="r357"/>
          <p:cNvSpPr/>
          <p:nvPr/>
        </p:nvSpPr>
        <p:spPr>
          <a:xfrm>
            <a:off x="3364992" y="4526280"/>
            <a:ext cx="2606040" cy="7315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8" name="logo_prime_358" descr="Logo pr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392" y="4754880"/>
            <a:ext cx="871240" cy="274320"/>
          </a:xfrm>
          <a:prstGeom prst="rect">
            <a:avLst/>
          </a:prstGeom>
        </p:spPr>
      </p:pic>
      <p:sp>
        <p:nvSpPr>
          <p:cNvPr id="19" name="l359"/>
          <p:cNvSpPr/>
          <p:nvPr/>
        </p:nvSpPr>
        <p:spPr>
          <a:xfrm>
            <a:off x="6181344" y="1463040"/>
            <a:ext cx="2606040" cy="91"/>
          </a:xfrm>
          <a:prstGeom prst="line">
            <a:avLst/>
          </a:prstGeom>
          <a:noFill/>
          <a:ln w="12700">
            <a:solidFill>
              <a:srgbClr val="3A3E48"/>
            </a:solidFill>
            <a:prstDash val="solid"/>
          </a:ln>
        </p:spPr>
      </p:sp>
      <p:sp>
        <p:nvSpPr>
          <p:cNvPr id="20" name="t360"/>
          <p:cNvSpPr txBox="1"/>
          <p:nvPr/>
        </p:nvSpPr>
        <p:spPr>
          <a:xfrm>
            <a:off x="6181344" y="1645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1" name="t361"/>
          <p:cNvSpPr txBox="1"/>
          <p:nvPr/>
        </p:nvSpPr>
        <p:spPr>
          <a:xfrm>
            <a:off x="6181344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Publicité</a:t>
            </a:r>
            <a:endParaRPr lang="en-US" sz="2200" dirty="0"/>
          </a:p>
        </p:txBody>
      </p:sp>
      <p:sp>
        <p:nvSpPr>
          <p:cNvPr id="22" name="t362"/>
          <p:cNvSpPr txBox="1"/>
          <p:nvPr/>
        </p:nvSpPr>
        <p:spPr>
          <a:xfrm>
            <a:off x="6181344" y="30175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Contenu gratuit financé par des annonces ciblées</a:t>
            </a:r>
            <a:endParaRPr lang="en-US" sz="1500" dirty="0"/>
          </a:p>
        </p:txBody>
      </p:sp>
      <p:sp>
        <p:nvSpPr>
          <p:cNvPr id="23" name="t363"/>
          <p:cNvSpPr txBox="1"/>
          <p:nvPr/>
        </p:nvSpPr>
        <p:spPr>
          <a:xfrm>
            <a:off x="6181344" y="4251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Exemples</a:t>
            </a:r>
            <a:endParaRPr lang="en-US" sz="1100" dirty="0"/>
          </a:p>
        </p:txBody>
      </p:sp>
      <p:sp>
        <p:nvSpPr>
          <p:cNvPr id="24" name="r364"/>
          <p:cNvSpPr/>
          <p:nvPr/>
        </p:nvSpPr>
        <p:spPr>
          <a:xfrm>
            <a:off x="6181344" y="4526280"/>
            <a:ext cx="2606040" cy="7315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5" name="logo_youtube_365" descr="Logo yout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293" y="4773168"/>
            <a:ext cx="1064142" cy="237744"/>
          </a:xfrm>
          <a:prstGeom prst="rect">
            <a:avLst/>
          </a:prstGeom>
        </p:spPr>
      </p:pic>
      <p:sp>
        <p:nvSpPr>
          <p:cNvPr id="26" name="l366"/>
          <p:cNvSpPr/>
          <p:nvPr/>
        </p:nvSpPr>
        <p:spPr>
          <a:xfrm>
            <a:off x="8997696" y="1463040"/>
            <a:ext cx="2606040" cy="91"/>
          </a:xfrm>
          <a:prstGeom prst="line">
            <a:avLst/>
          </a:prstGeom>
          <a:noFill/>
          <a:ln w="12700">
            <a:solidFill>
              <a:srgbClr val="3A3E48"/>
            </a:solidFill>
            <a:prstDash val="solid"/>
          </a:ln>
        </p:spPr>
      </p:sp>
      <p:sp>
        <p:nvSpPr>
          <p:cNvPr id="27" name="t367"/>
          <p:cNvSpPr txBox="1"/>
          <p:nvPr/>
        </p:nvSpPr>
        <p:spPr>
          <a:xfrm>
            <a:off x="8997696" y="1645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8" name="t368"/>
          <p:cNvSpPr txBox="1"/>
          <p:nvPr/>
        </p:nvSpPr>
        <p:spPr>
          <a:xfrm>
            <a:off x="8997696" y="2514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Offres groupées</a:t>
            </a:r>
            <a:endParaRPr lang="en-US" sz="2200" dirty="0"/>
          </a:p>
        </p:txBody>
      </p:sp>
      <p:sp>
        <p:nvSpPr>
          <p:cNvPr id="29" name="t369"/>
          <p:cNvSpPr txBox="1"/>
          <p:nvPr/>
        </p:nvSpPr>
        <p:spPr>
          <a:xfrm>
            <a:off x="8997696" y="30175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TV, Internet et téléphone dans un seul abonnement</a:t>
            </a:r>
            <a:endParaRPr lang="en-US" sz="1500" dirty="0"/>
          </a:p>
        </p:txBody>
      </p:sp>
      <p:sp>
        <p:nvSpPr>
          <p:cNvPr id="30" name="t370"/>
          <p:cNvSpPr txBox="1"/>
          <p:nvPr/>
        </p:nvSpPr>
        <p:spPr>
          <a:xfrm>
            <a:off x="8997696" y="4251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Exemples</a:t>
            </a:r>
            <a:endParaRPr lang="en-US" sz="1100" dirty="0"/>
          </a:p>
        </p:txBody>
      </p:sp>
      <p:sp>
        <p:nvSpPr>
          <p:cNvPr id="31" name="r371"/>
          <p:cNvSpPr/>
          <p:nvPr/>
        </p:nvSpPr>
        <p:spPr>
          <a:xfrm>
            <a:off x="8997696" y="4526280"/>
            <a:ext cx="2606040" cy="7315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2" name="logo_orange_372" descr="Logo oran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810" y="4654296"/>
            <a:ext cx="475488" cy="475488"/>
          </a:xfrm>
          <a:prstGeom prst="rect">
            <a:avLst/>
          </a:prstGeom>
        </p:spPr>
      </p:pic>
      <p:pic>
        <p:nvPicPr>
          <p:cNvPr id="33" name="logo_freebox_373" descr="Logo freebo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618" y="4791456"/>
            <a:ext cx="1034004" cy="201168"/>
          </a:xfrm>
          <a:prstGeom prst="rect">
            <a:avLst/>
          </a:prstGeom>
        </p:spPr>
      </p:pic>
      <p:sp>
        <p:nvSpPr>
          <p:cNvPr id="34" name="t374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Les SVA servent à monétiser le service : les opérateurs combinent souvent plusieurs modèles.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015_375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37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4" name="r377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</p:sp>
      <p:sp>
        <p:nvSpPr>
          <p:cNvPr id="5" name="t378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Partie 4 / 5</a:t>
            </a:r>
            <a:endParaRPr lang="en-US" sz="1300" dirty="0"/>
          </a:p>
        </p:txBody>
      </p:sp>
      <p:sp>
        <p:nvSpPr>
          <p:cNvPr id="6" name="t379"/>
          <p:cNvSpPr txBox="1"/>
          <p:nvPr/>
        </p:nvSpPr>
        <p:spPr>
          <a:xfrm>
            <a:off x="54864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400" dirty="0"/>
          </a:p>
        </p:txBody>
      </p:sp>
      <p:sp>
        <p:nvSpPr>
          <p:cNvPr id="7" name="t380"/>
          <p:cNvSpPr txBox="1"/>
          <p:nvPr/>
        </p:nvSpPr>
        <p:spPr>
          <a:xfrm>
            <a:off x="548640" y="44348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Marché et enjeux</a:t>
            </a:r>
            <a:endParaRPr lang="en-US" sz="4400" dirty="0"/>
          </a:p>
        </p:txBody>
      </p:sp>
      <p:sp>
        <p:nvSpPr>
          <p:cNvPr id="8" name="t381"/>
          <p:cNvSpPr txBox="1"/>
          <p:nvPr/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>
                    <a:alpha val="85000"/>
                  </a:schemeClr>
                </a:solidFill>
              </a:rPr>
              <a:t>Marché mondial, contexte sénégalais, avantages, limites et perspectives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106_382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38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04  Marché et enjeux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marché en forte croissance</a:t>
            </a:r>
            <a:endParaRPr lang="en-US" sz="3000" dirty="0"/>
          </a:p>
        </p:txBody>
      </p:sp>
      <p:sp>
        <p:nvSpPr>
          <p:cNvPr id="6" name="l384"/>
          <p:cNvSpPr/>
          <p:nvPr/>
        </p:nvSpPr>
        <p:spPr>
          <a:xfrm>
            <a:off x="548640" y="1600200"/>
            <a:ext cx="3520440" cy="91"/>
          </a:xfrm>
          <a:prstGeom prst="line">
            <a:avLst/>
          </a:prstGeom>
          <a:noFill/>
          <a:ln w="12700">
            <a:solidFill>
              <a:srgbClr val="E8541E"/>
            </a:solidFill>
            <a:prstDash val="solid"/>
          </a:ln>
        </p:spPr>
      </p:sp>
      <p:sp>
        <p:nvSpPr>
          <p:cNvPr id="7" name="t385"/>
          <p:cNvSpPr txBox="1"/>
          <p:nvPr/>
        </p:nvSpPr>
        <p:spPr>
          <a:xfrm>
            <a:off x="548640" y="1783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– 94</a:t>
            </a:r>
            <a:endParaRPr lang="en-US" sz="5400" dirty="0"/>
          </a:p>
        </p:txBody>
      </p:sp>
      <p:sp>
        <p:nvSpPr>
          <p:cNvPr id="8" name="t386"/>
          <p:cNvSpPr txBox="1"/>
          <p:nvPr/>
        </p:nvSpPr>
        <p:spPr>
          <a:xfrm>
            <a:off x="548640" y="2788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milliards de dollars</a:t>
            </a:r>
            <a:endParaRPr lang="en-US" sz="1700" dirty="0"/>
          </a:p>
        </p:txBody>
      </p:sp>
      <p:sp>
        <p:nvSpPr>
          <p:cNvPr id="9" name="t387"/>
          <p:cNvSpPr txBox="1"/>
          <p:nvPr/>
        </p:nvSpPr>
        <p:spPr>
          <a:xfrm>
            <a:off x="548640" y="3200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Taille estimée du marché mondial en 2024-2025 selon les cabinets d'études</a:t>
            </a:r>
            <a:endParaRPr lang="en-US" sz="1500" dirty="0"/>
          </a:p>
        </p:txBody>
      </p:sp>
      <p:sp>
        <p:nvSpPr>
          <p:cNvPr id="10" name="l388"/>
          <p:cNvSpPr/>
          <p:nvPr/>
        </p:nvSpPr>
        <p:spPr>
          <a:xfrm>
            <a:off x="4315968" y="1600200"/>
            <a:ext cx="3520440" cy="91"/>
          </a:xfrm>
          <a:prstGeom prst="line">
            <a:avLst/>
          </a:prstGeom>
          <a:noFill/>
          <a:ln w="12700">
            <a:solidFill>
              <a:srgbClr val="B4B8C2"/>
            </a:solidFill>
            <a:prstDash val="solid"/>
          </a:ln>
        </p:spPr>
      </p:sp>
      <p:sp>
        <p:nvSpPr>
          <p:cNvPr id="11" name="t389"/>
          <p:cNvSpPr txBox="1"/>
          <p:nvPr/>
        </p:nvSpPr>
        <p:spPr>
          <a:xfrm>
            <a:off x="4315968" y="1783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– 17 %</a:t>
            </a:r>
            <a:endParaRPr lang="en-US" sz="5400" dirty="0"/>
          </a:p>
        </p:txBody>
      </p:sp>
      <p:sp>
        <p:nvSpPr>
          <p:cNvPr id="12" name="t390"/>
          <p:cNvSpPr txBox="1"/>
          <p:nvPr/>
        </p:nvSpPr>
        <p:spPr>
          <a:xfrm>
            <a:off x="4315968" y="2788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 croissance par an</a:t>
            </a:r>
            <a:endParaRPr lang="en-US" sz="1700" dirty="0"/>
          </a:p>
        </p:txBody>
      </p:sp>
      <p:sp>
        <p:nvSpPr>
          <p:cNvPr id="13" name="t391"/>
          <p:cNvSpPr txBox="1"/>
          <p:nvPr/>
        </p:nvSpPr>
        <p:spPr>
          <a:xfrm>
            <a:off x="4315968" y="3200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Croissance annuelle moyenne prévue jusqu'en 2031-2034</a:t>
            </a:r>
            <a:endParaRPr lang="en-US" sz="1500" dirty="0"/>
          </a:p>
        </p:txBody>
      </p:sp>
      <p:sp>
        <p:nvSpPr>
          <p:cNvPr id="14" name="l392"/>
          <p:cNvSpPr/>
          <p:nvPr/>
        </p:nvSpPr>
        <p:spPr>
          <a:xfrm>
            <a:off x="8083296" y="1600200"/>
            <a:ext cx="3520440" cy="91"/>
          </a:xfrm>
          <a:prstGeom prst="line">
            <a:avLst/>
          </a:prstGeom>
          <a:noFill/>
          <a:ln w="12700">
            <a:solidFill>
              <a:srgbClr val="B4B8C2"/>
            </a:solidFill>
            <a:prstDash val="solid"/>
          </a:ln>
        </p:spPr>
      </p:sp>
      <p:sp>
        <p:nvSpPr>
          <p:cNvPr id="15" name="t393"/>
          <p:cNvSpPr txBox="1"/>
          <p:nvPr/>
        </p:nvSpPr>
        <p:spPr>
          <a:xfrm>
            <a:off x="8083296" y="1783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 M</a:t>
            </a:r>
            <a:endParaRPr lang="en-US" sz="5400" dirty="0"/>
          </a:p>
        </p:txBody>
      </p:sp>
      <p:sp>
        <p:nvSpPr>
          <p:cNvPr id="16" name="t394"/>
          <p:cNvSpPr txBox="1"/>
          <p:nvPr/>
        </p:nvSpPr>
        <p:spPr>
          <a:xfrm>
            <a:off x="8083296" y="2788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abonnés IPTV</a:t>
            </a:r>
            <a:endParaRPr lang="en-US" sz="1700" dirty="0"/>
          </a:p>
        </p:txBody>
      </p:sp>
      <p:sp>
        <p:nvSpPr>
          <p:cNvPr id="17" name="t395"/>
          <p:cNvSpPr txBox="1"/>
          <p:nvPr/>
        </p:nvSpPr>
        <p:spPr>
          <a:xfrm>
            <a:off x="8083296" y="3200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Pour le seul opérateur China Telecom, selon Mordor Intelligence</a:t>
            </a:r>
            <a:endParaRPr lang="en-US" sz="1500" dirty="0"/>
          </a:p>
        </p:txBody>
      </p:sp>
      <p:sp>
        <p:nvSpPr>
          <p:cNvPr id="18" name="r396"/>
          <p:cNvSpPr/>
          <p:nvPr/>
        </p:nvSpPr>
        <p:spPr>
          <a:xfrm>
            <a:off x="8083296" y="4069080"/>
            <a:ext cx="1737360" cy="5486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9" name="logo_chinatelecom_397" descr="Logo chinatelec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4142232"/>
            <a:ext cx="1404153" cy="402336"/>
          </a:xfrm>
          <a:prstGeom prst="rect">
            <a:avLst/>
          </a:prstGeom>
        </p:spPr>
      </p:pic>
      <p:sp>
        <p:nvSpPr>
          <p:cNvPr id="20" name="l398"/>
          <p:cNvSpPr/>
          <p:nvPr/>
        </p:nvSpPr>
        <p:spPr>
          <a:xfrm>
            <a:off x="548640" y="4983480"/>
            <a:ext cx="11091672" cy="91"/>
          </a:xfrm>
          <a:prstGeom prst="line">
            <a:avLst/>
          </a:prstGeom>
          <a:noFill/>
          <a:ln w="9525">
            <a:solidFill>
              <a:srgbClr val="B4B8C2"/>
            </a:solidFill>
            <a:prstDash val="solid"/>
          </a:ln>
        </p:spPr>
      </p:sp>
      <p:sp>
        <p:nvSpPr>
          <p:cNvPr id="21" name="t399"/>
          <p:cNvSpPr txBox="1"/>
          <p:nvPr/>
        </p:nvSpPr>
        <p:spPr>
          <a:xfrm>
            <a:off x="548640" y="5120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Moteurs 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fibre, Smart TV, VoD, 5G</a:t>
            </a:r>
            <a:endParaRPr lang="en-US" sz="1600" dirty="0"/>
          </a:p>
        </p:txBody>
      </p:sp>
      <p:sp>
        <p:nvSpPr>
          <p:cNvPr id="22" name="t400"/>
          <p:cNvSpPr txBox="1"/>
          <p:nvPr/>
        </p:nvSpPr>
        <p:spPr>
          <a:xfrm>
            <a:off x="6236208" y="5120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Freins 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piratage et droits de diffusion complexes</a:t>
            </a:r>
            <a:endParaRPr lang="en-US" sz="1600" dirty="0"/>
          </a:p>
        </p:txBody>
      </p:sp>
      <p:sp>
        <p:nvSpPr>
          <p:cNvPr id="23" name="t401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Sources : Mordor Intelligence, Fortune Business Insights, IMARC, Market Research Future (2025-2026)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L'IPTV au Sénégal</a:t>
            </a:r>
            <a:endParaRPr lang="en-US" sz="3000" dirty="0"/>
          </a:p>
        </p:txBody>
      </p:sp>
      <p:pic>
        <p:nvPicPr>
          <p:cNvPr id="3" name="photo_p059_402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4" name="r403"/>
          <p:cNvSpPr/>
          <p:nvPr/>
        </p:nvSpPr>
        <p:spPr>
          <a:xfrm>
            <a:off x="8458200" y="5486400"/>
            <a:ext cx="3413455" cy="868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404"/>
          <p:cNvSpPr txBox="1"/>
          <p:nvPr/>
        </p:nvSpPr>
        <p:spPr>
          <a:xfrm>
            <a:off x="8641080" y="5559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Acteur local</a:t>
            </a:r>
            <a:endParaRPr lang="en-US" sz="1000" dirty="0"/>
          </a:p>
        </p:txBody>
      </p:sp>
      <p:pic>
        <p:nvPicPr>
          <p:cNvPr id="6" name="logo_sonatel_405" descr="Logo sonat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5852160"/>
            <a:ext cx="1173943" cy="310896"/>
          </a:xfrm>
          <a:prstGeom prst="rect">
            <a:avLst/>
          </a:prstGeom>
        </p:spPr>
      </p:pic>
      <p:pic>
        <p:nvPicPr>
          <p:cNvPr id="7" name="logo_orange_406" descr="Logo oran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669280"/>
            <a:ext cx="548640" cy="548640"/>
          </a:xfrm>
          <a:prstGeom prst="rect">
            <a:avLst/>
          </a:prstGeom>
        </p:spPr>
      </p:pic>
      <p:sp>
        <p:nvSpPr>
          <p:cNvPr id="8" name="t407"/>
          <p:cNvSpPr txBox="1"/>
          <p:nvPr/>
        </p:nvSpPr>
        <p:spPr>
          <a:xfrm>
            <a:off x="1065276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Opérateur de l'offre Orange TV</a:t>
            </a:r>
            <a:endParaRPr lang="en-US" sz="1000" dirty="0"/>
          </a:p>
        </p:txBody>
      </p:sp>
      <p:sp>
        <p:nvSpPr>
          <p:cNvPr id="9" name="t408"/>
          <p:cNvSpPr txBox="1"/>
          <p:nvPr/>
        </p:nvSpPr>
        <p:spPr>
          <a:xfrm>
            <a:off x="548640" y="1371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57 %</a:t>
            </a:r>
            <a:endParaRPr lang="en-US" sz="3400" dirty="0"/>
          </a:p>
        </p:txBody>
      </p:sp>
      <p:sp>
        <p:nvSpPr>
          <p:cNvPr id="10" name="t409"/>
          <p:cNvSpPr txBox="1"/>
          <p:nvPr/>
        </p:nvSpPr>
        <p:spPr>
          <a:xfrm>
            <a:off x="548640" y="2057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de l'internet fixe est en fibre (décembre 2024)</a:t>
            </a:r>
            <a:endParaRPr lang="en-US" sz="1400" dirty="0"/>
          </a:p>
        </p:txBody>
      </p:sp>
      <p:sp>
        <p:nvSpPr>
          <p:cNvPr id="11" name="t410"/>
          <p:cNvSpPr txBox="1"/>
          <p:nvPr/>
        </p:nvSpPr>
        <p:spPr>
          <a:xfrm>
            <a:off x="2944368" y="1371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+321 %</a:t>
            </a:r>
            <a:endParaRPr lang="en-US" sz="3400" dirty="0"/>
          </a:p>
        </p:txBody>
      </p:sp>
      <p:sp>
        <p:nvSpPr>
          <p:cNvPr id="12" name="t411"/>
          <p:cNvSpPr txBox="1"/>
          <p:nvPr/>
        </p:nvSpPr>
        <p:spPr>
          <a:xfrm>
            <a:off x="2944368" y="2057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d'abonnés à l'internet fixe entre 2020 et 2024</a:t>
            </a:r>
            <a:endParaRPr lang="en-US" sz="1400" dirty="0"/>
          </a:p>
        </p:txBody>
      </p:sp>
      <p:sp>
        <p:nvSpPr>
          <p:cNvPr id="13" name="t412"/>
          <p:cNvSpPr txBox="1"/>
          <p:nvPr/>
        </p:nvSpPr>
        <p:spPr>
          <a:xfrm>
            <a:off x="5340096" y="1371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+</a:t>
            </a:r>
            <a:endParaRPr lang="en-US" sz="3400" dirty="0"/>
          </a:p>
        </p:txBody>
      </p:sp>
      <p:sp>
        <p:nvSpPr>
          <p:cNvPr id="14" name="t413"/>
          <p:cNvSpPr txBox="1"/>
          <p:nvPr/>
        </p:nvSpPr>
        <p:spPr>
          <a:xfrm>
            <a:off x="5340096" y="2057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revendeurs de box IPTV pirates interpellés dans plusieurs pays africains</a:t>
            </a:r>
            <a:endParaRPr lang="en-US" sz="1400" dirty="0"/>
          </a:p>
        </p:txBody>
      </p:sp>
      <p:sp>
        <p:nvSpPr>
          <p:cNvPr id="15" name="t414"/>
          <p:cNvSpPr txBox="1"/>
          <p:nvPr/>
        </p:nvSpPr>
        <p:spPr>
          <a:xfrm>
            <a:off x="548640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Opportunités</a:t>
            </a:r>
            <a:endParaRPr lang="en-US" sz="2100" dirty="0"/>
          </a:p>
        </p:txBody>
      </p:sp>
      <p:sp>
        <p:nvSpPr>
          <p:cNvPr id="16" name="l415"/>
          <p:cNvSpPr/>
          <p:nvPr/>
        </p:nvSpPr>
        <p:spPr>
          <a:xfrm>
            <a:off x="548640" y="3657600"/>
            <a:ext cx="33375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7" name="t416"/>
          <p:cNvSpPr txBox="1"/>
          <p:nvPr/>
        </p:nvSpPr>
        <p:spPr>
          <a:xfrm>
            <a:off x="548640" y="3749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Fibre en forte expansion</a:t>
            </a:r>
            <a:endParaRPr lang="en-US" sz="1500" dirty="0"/>
          </a:p>
        </p:txBody>
      </p:sp>
      <p:sp>
        <p:nvSpPr>
          <p:cNvPr id="18" name="l417"/>
          <p:cNvSpPr/>
          <p:nvPr/>
        </p:nvSpPr>
        <p:spPr>
          <a:xfrm>
            <a:off x="548640" y="4370832"/>
            <a:ext cx="33375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9" name="t418"/>
          <p:cNvSpPr txBox="1"/>
          <p:nvPr/>
        </p:nvSpPr>
        <p:spPr>
          <a:xfrm>
            <a:off x="548640" y="44622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Offres légales moins chères</a:t>
            </a:r>
            <a:endParaRPr lang="en-US" sz="1500" dirty="0"/>
          </a:p>
        </p:txBody>
      </p:sp>
      <p:sp>
        <p:nvSpPr>
          <p:cNvPr id="20" name="l419"/>
          <p:cNvSpPr/>
          <p:nvPr/>
        </p:nvSpPr>
        <p:spPr>
          <a:xfrm>
            <a:off x="548640" y="5084064"/>
            <a:ext cx="33375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1" name="t420"/>
          <p:cNvSpPr txBox="1"/>
          <p:nvPr/>
        </p:nvSpPr>
        <p:spPr>
          <a:xfrm>
            <a:off x="548640" y="517550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Alternative aux limites de la TNT</a:t>
            </a:r>
            <a:endParaRPr lang="en-US" sz="1500" dirty="0"/>
          </a:p>
        </p:txBody>
      </p:sp>
      <p:sp>
        <p:nvSpPr>
          <p:cNvPr id="22" name="t421"/>
          <p:cNvSpPr txBox="1"/>
          <p:nvPr/>
        </p:nvSpPr>
        <p:spPr>
          <a:xfrm>
            <a:off x="4160520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Menaces</a:t>
            </a:r>
            <a:endParaRPr lang="en-US" sz="2100" dirty="0"/>
          </a:p>
        </p:txBody>
      </p:sp>
      <p:sp>
        <p:nvSpPr>
          <p:cNvPr id="23" name="l422"/>
          <p:cNvSpPr/>
          <p:nvPr/>
        </p:nvSpPr>
        <p:spPr>
          <a:xfrm>
            <a:off x="4160520" y="3657600"/>
            <a:ext cx="33375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4" name="t423"/>
          <p:cNvSpPr txBox="1"/>
          <p:nvPr/>
        </p:nvSpPr>
        <p:spPr>
          <a:xfrm>
            <a:off x="4160520" y="3749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Piratage massif via des box non autorisées</a:t>
            </a:r>
            <a:endParaRPr lang="en-US" sz="1500" dirty="0"/>
          </a:p>
        </p:txBody>
      </p:sp>
      <p:sp>
        <p:nvSpPr>
          <p:cNvPr id="25" name="l424"/>
          <p:cNvSpPr/>
          <p:nvPr/>
        </p:nvSpPr>
        <p:spPr>
          <a:xfrm>
            <a:off x="4160520" y="4370832"/>
            <a:ext cx="33375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6" name="t425"/>
          <p:cNvSpPr txBox="1"/>
          <p:nvPr/>
        </p:nvSpPr>
        <p:spPr>
          <a:xfrm>
            <a:off x="4160520" y="44622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Manque à gagner pour producteurs et chaînes</a:t>
            </a:r>
            <a:endParaRPr lang="en-US" sz="1500" dirty="0"/>
          </a:p>
        </p:txBody>
      </p:sp>
      <p:sp>
        <p:nvSpPr>
          <p:cNvPr id="27" name="l426"/>
          <p:cNvSpPr/>
          <p:nvPr/>
        </p:nvSpPr>
        <p:spPr>
          <a:xfrm>
            <a:off x="4160520" y="5084064"/>
            <a:ext cx="33375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8" name="t427"/>
          <p:cNvSpPr txBox="1"/>
          <p:nvPr/>
        </p:nvSpPr>
        <p:spPr>
          <a:xfrm>
            <a:off x="4160520" y="517550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Latence souvent élevée sur l'IPTV pirate</a:t>
            </a:r>
            <a:endParaRPr lang="en-US" sz="1500" dirty="0"/>
          </a:p>
        </p:txBody>
      </p:sp>
      <p:sp>
        <p:nvSpPr>
          <p:cNvPr id="29" name="t428"/>
          <p:cNvSpPr txBox="1"/>
          <p:nvPr/>
        </p:nvSpPr>
        <p:spPr>
          <a:xfrm>
            <a:off x="548640" y="5943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Sources : OSIRIS (Sénégal numérique),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04  Marché et enjeux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 et limites</a:t>
            </a:r>
            <a:endParaRPr lang="en-US" sz="3000" dirty="0"/>
          </a:p>
        </p:txBody>
      </p:sp>
      <p:sp>
        <p:nvSpPr>
          <p:cNvPr id="4" name="t429"/>
          <p:cNvSpPr txBox="1"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</a:t>
            </a:r>
            <a:endParaRPr lang="en-US" sz="2600" dirty="0"/>
          </a:p>
        </p:txBody>
      </p:sp>
      <p:sp>
        <p:nvSpPr>
          <p:cNvPr id="5" name="l430"/>
          <p:cNvSpPr/>
          <p:nvPr/>
        </p:nvSpPr>
        <p:spPr>
          <a:xfrm>
            <a:off x="548640" y="2148840"/>
            <a:ext cx="539496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6" name="t431"/>
          <p:cNvSpPr txBox="1"/>
          <p:nvPr/>
        </p:nvSpPr>
        <p:spPr>
          <a:xfrm>
            <a:off x="548640" y="23500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t432"/>
          <p:cNvSpPr txBox="1"/>
          <p:nvPr/>
        </p:nvSpPr>
        <p:spPr>
          <a:xfrm>
            <a:off x="1051560" y="2350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Image HD/4K et qualité de service garantie</a:t>
            </a:r>
            <a:endParaRPr lang="en-US" sz="1700" dirty="0"/>
          </a:p>
        </p:txBody>
      </p:sp>
      <p:sp>
        <p:nvSpPr>
          <p:cNvPr id="8" name="l433"/>
          <p:cNvSpPr/>
          <p:nvPr/>
        </p:nvSpPr>
        <p:spPr>
          <a:xfrm>
            <a:off x="548640" y="30632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9" name="t434"/>
          <p:cNvSpPr txBox="1"/>
          <p:nvPr/>
        </p:nvSpPr>
        <p:spPr>
          <a:xfrm>
            <a:off x="548640" y="3264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t435"/>
          <p:cNvSpPr txBox="1"/>
          <p:nvPr/>
        </p:nvSpPr>
        <p:spPr>
          <a:xfrm>
            <a:off x="1051560" y="32644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Interactivité et services à la carte</a:t>
            </a:r>
            <a:endParaRPr lang="en-US" sz="1700" dirty="0"/>
          </a:p>
        </p:txBody>
      </p:sp>
      <p:sp>
        <p:nvSpPr>
          <p:cNvPr id="11" name="l436"/>
          <p:cNvSpPr/>
          <p:nvPr/>
        </p:nvSpPr>
        <p:spPr>
          <a:xfrm>
            <a:off x="548640" y="39776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2" name="t437"/>
          <p:cNvSpPr txBox="1"/>
          <p:nvPr/>
        </p:nvSpPr>
        <p:spPr>
          <a:xfrm>
            <a:off x="548640" y="4178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13" name="t438"/>
          <p:cNvSpPr txBox="1"/>
          <p:nvPr/>
        </p:nvSpPr>
        <p:spPr>
          <a:xfrm>
            <a:off x="1051560" y="41788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seul réseau pour TV, Internet et téléphone</a:t>
            </a:r>
            <a:endParaRPr lang="en-US" sz="1700" dirty="0"/>
          </a:p>
        </p:txBody>
      </p:sp>
      <p:sp>
        <p:nvSpPr>
          <p:cNvPr id="14" name="l439"/>
          <p:cNvSpPr/>
          <p:nvPr/>
        </p:nvSpPr>
        <p:spPr>
          <a:xfrm>
            <a:off x="548640" y="48920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15" name="t440"/>
          <p:cNvSpPr txBox="1"/>
          <p:nvPr/>
        </p:nvSpPr>
        <p:spPr>
          <a:xfrm>
            <a:off x="548640" y="5093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16" name="t441"/>
          <p:cNvSpPr txBox="1"/>
          <p:nvPr/>
        </p:nvSpPr>
        <p:spPr>
          <a:xfrm>
            <a:off x="105156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Multi-écrans : TV, mobile et PC</a:t>
            </a:r>
            <a:endParaRPr lang="en-US" sz="1700" dirty="0"/>
          </a:p>
        </p:txBody>
      </p:sp>
      <p:sp>
        <p:nvSpPr>
          <p:cNvPr id="17" name="t442"/>
          <p:cNvSpPr txBox="1"/>
          <p:nvPr/>
        </p:nvSpPr>
        <p:spPr>
          <a:xfrm>
            <a:off x="6236208" y="1463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</a:t>
            </a:r>
            <a:endParaRPr lang="en-US" sz="2600" dirty="0"/>
          </a:p>
        </p:txBody>
      </p:sp>
      <p:sp>
        <p:nvSpPr>
          <p:cNvPr id="18" name="l443"/>
          <p:cNvSpPr/>
          <p:nvPr/>
        </p:nvSpPr>
        <p:spPr>
          <a:xfrm>
            <a:off x="6236208" y="2148840"/>
            <a:ext cx="539496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9" name="t444"/>
          <p:cNvSpPr txBox="1"/>
          <p:nvPr/>
        </p:nvSpPr>
        <p:spPr>
          <a:xfrm>
            <a:off x="6236208" y="23500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2400" dirty="0"/>
          </a:p>
        </p:txBody>
      </p:sp>
      <p:sp>
        <p:nvSpPr>
          <p:cNvPr id="20" name="t445"/>
          <p:cNvSpPr txBox="1"/>
          <p:nvPr/>
        </p:nvSpPr>
        <p:spPr>
          <a:xfrm>
            <a:off x="6739128" y="2350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Nécessite un haut débit stable, surtout en HD et 4K</a:t>
            </a:r>
            <a:endParaRPr lang="en-US" sz="1700" dirty="0"/>
          </a:p>
        </p:txBody>
      </p:sp>
      <p:sp>
        <p:nvSpPr>
          <p:cNvPr id="21" name="l446"/>
          <p:cNvSpPr/>
          <p:nvPr/>
        </p:nvSpPr>
        <p:spPr>
          <a:xfrm>
            <a:off x="6236208" y="30632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2" name="t447"/>
          <p:cNvSpPr txBox="1"/>
          <p:nvPr/>
        </p:nvSpPr>
        <p:spPr>
          <a:xfrm>
            <a:off x="6236208" y="3264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2400" dirty="0"/>
          </a:p>
        </p:txBody>
      </p:sp>
      <p:sp>
        <p:nvSpPr>
          <p:cNvPr id="23" name="t448"/>
          <p:cNvSpPr txBox="1"/>
          <p:nvPr/>
        </p:nvSpPr>
        <p:spPr>
          <a:xfrm>
            <a:off x="6739128" y="32644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Investissement initial élevé pour l'opérateur</a:t>
            </a:r>
            <a:endParaRPr lang="en-US" sz="1700" dirty="0"/>
          </a:p>
        </p:txBody>
      </p:sp>
      <p:sp>
        <p:nvSpPr>
          <p:cNvPr id="24" name="l449"/>
          <p:cNvSpPr/>
          <p:nvPr/>
        </p:nvSpPr>
        <p:spPr>
          <a:xfrm>
            <a:off x="6236208" y="39776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5" name="t450"/>
          <p:cNvSpPr txBox="1"/>
          <p:nvPr/>
        </p:nvSpPr>
        <p:spPr>
          <a:xfrm>
            <a:off x="6236208" y="4178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2400" dirty="0"/>
          </a:p>
        </p:txBody>
      </p:sp>
      <p:sp>
        <p:nvSpPr>
          <p:cNvPr id="26" name="t451"/>
          <p:cNvSpPr txBox="1"/>
          <p:nvPr/>
        </p:nvSpPr>
        <p:spPr>
          <a:xfrm>
            <a:off x="6739128" y="41788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Latence plus élevée que la TNT ou le satellite</a:t>
            </a:r>
            <a:endParaRPr lang="en-US" sz="1700" dirty="0"/>
          </a:p>
        </p:txBody>
      </p:sp>
      <p:sp>
        <p:nvSpPr>
          <p:cNvPr id="27" name="l452"/>
          <p:cNvSpPr/>
          <p:nvPr/>
        </p:nvSpPr>
        <p:spPr>
          <a:xfrm>
            <a:off x="6236208" y="4892040"/>
            <a:ext cx="5394960" cy="91"/>
          </a:xfrm>
          <a:prstGeom prst="line">
            <a:avLst/>
          </a:prstGeom>
          <a:noFill/>
          <a:ln w="9525">
            <a:solidFill>
              <a:srgbClr val="D9DAD6"/>
            </a:solidFill>
            <a:prstDash val="solid"/>
          </a:ln>
        </p:spPr>
      </p:sp>
      <p:sp>
        <p:nvSpPr>
          <p:cNvPr id="28" name="t453"/>
          <p:cNvSpPr txBox="1"/>
          <p:nvPr/>
        </p:nvSpPr>
        <p:spPr>
          <a:xfrm>
            <a:off x="6236208" y="5093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2400" dirty="0"/>
          </a:p>
        </p:txBody>
      </p:sp>
      <p:sp>
        <p:nvSpPr>
          <p:cNvPr id="29" name="t454"/>
          <p:cNvSpPr txBox="1"/>
          <p:nvPr/>
        </p:nvSpPr>
        <p:spPr>
          <a:xfrm>
            <a:off x="6739128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Piratage et licences de droits complexes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04  Marché et enjeux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Tendances et perspectives</a:t>
            </a:r>
            <a:endParaRPr lang="en-US" sz="3000" dirty="0"/>
          </a:p>
        </p:txBody>
      </p:sp>
      <p:pic>
        <p:nvPicPr>
          <p:cNvPr id="4" name="photo_p172_455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931920" cy="4663440"/>
          </a:xfrm>
          <a:prstGeom prst="rect">
            <a:avLst/>
          </a:prstGeom>
        </p:spPr>
      </p:pic>
      <p:sp>
        <p:nvSpPr>
          <p:cNvPr id="5" name="l456"/>
          <p:cNvSpPr/>
          <p:nvPr/>
        </p:nvSpPr>
        <p:spPr>
          <a:xfrm>
            <a:off x="4937760" y="1417320"/>
            <a:ext cx="31546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6" name="t457"/>
          <p:cNvSpPr txBox="1"/>
          <p:nvPr/>
        </p:nvSpPr>
        <p:spPr>
          <a:xfrm>
            <a:off x="4937760" y="1581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  Meilleure image</a:t>
            </a:r>
            <a:endParaRPr lang="en-US" sz="1300" dirty="0"/>
          </a:p>
        </p:txBody>
      </p:sp>
      <p:sp>
        <p:nvSpPr>
          <p:cNvPr id="7" name="t458"/>
          <p:cNvSpPr txBox="1"/>
          <p:nvPr/>
        </p:nvSpPr>
        <p:spPr>
          <a:xfrm>
            <a:off x="493776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4K, 8K et HDR</a:t>
            </a:r>
            <a:endParaRPr lang="en-US" sz="2100" dirty="0"/>
          </a:p>
        </p:txBody>
      </p:sp>
      <p:sp>
        <p:nvSpPr>
          <p:cNvPr id="8" name="t459"/>
          <p:cNvSpPr txBox="1"/>
          <p:nvPr/>
        </p:nvSpPr>
        <p:spPr>
          <a:xfrm>
            <a:off x="4937760" y="24414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Image toujours plus fine grâce aux codecs HEVC et AV1</a:t>
            </a:r>
            <a:endParaRPr lang="en-US" sz="1500" dirty="0"/>
          </a:p>
        </p:txBody>
      </p:sp>
      <p:sp>
        <p:nvSpPr>
          <p:cNvPr id="9" name="l460"/>
          <p:cNvSpPr/>
          <p:nvPr/>
        </p:nvSpPr>
        <p:spPr>
          <a:xfrm>
            <a:off x="8366760" y="1417320"/>
            <a:ext cx="31546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0" name="t461"/>
          <p:cNvSpPr txBox="1"/>
          <p:nvPr/>
        </p:nvSpPr>
        <p:spPr>
          <a:xfrm>
            <a:off x="8366760" y="1581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  Meilleurs réseaux</a:t>
            </a:r>
            <a:endParaRPr lang="en-US" sz="1300" dirty="0"/>
          </a:p>
        </p:txBody>
      </p:sp>
      <p:sp>
        <p:nvSpPr>
          <p:cNvPr id="11" name="t462"/>
          <p:cNvSpPr txBox="1"/>
          <p:nvPr/>
        </p:nvSpPr>
        <p:spPr>
          <a:xfrm>
            <a:off x="836676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5G et fibre</a:t>
            </a:r>
            <a:endParaRPr lang="en-US" sz="2100" dirty="0"/>
          </a:p>
        </p:txBody>
      </p:sp>
      <p:sp>
        <p:nvSpPr>
          <p:cNvPr id="12" name="t463"/>
          <p:cNvSpPr txBox="1"/>
          <p:nvPr/>
        </p:nvSpPr>
        <p:spPr>
          <a:xfrm>
            <a:off x="8366760" y="24414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Des débits élevés pour regarder partout, sur tous les écrans</a:t>
            </a:r>
            <a:endParaRPr lang="en-US" sz="1500" dirty="0"/>
          </a:p>
        </p:txBody>
      </p:sp>
      <p:sp>
        <p:nvSpPr>
          <p:cNvPr id="13" name="l464"/>
          <p:cNvSpPr/>
          <p:nvPr/>
        </p:nvSpPr>
        <p:spPr>
          <a:xfrm>
            <a:off x="4937760" y="3794760"/>
            <a:ext cx="31546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4" name="t465"/>
          <p:cNvSpPr txBox="1"/>
          <p:nvPr/>
        </p:nvSpPr>
        <p:spPr>
          <a:xfrm>
            <a:off x="4937760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  Plus d'intelligence</a:t>
            </a:r>
            <a:endParaRPr lang="en-US" sz="1300" dirty="0"/>
          </a:p>
        </p:txBody>
      </p:sp>
      <p:sp>
        <p:nvSpPr>
          <p:cNvPr id="15" name="t466"/>
          <p:cNvSpPr txBox="1"/>
          <p:nvPr/>
        </p:nvSpPr>
        <p:spPr>
          <a:xfrm>
            <a:off x="4937760" y="4297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artificielle</a:t>
            </a:r>
            <a:endParaRPr lang="en-US" sz="2100" dirty="0"/>
          </a:p>
        </p:txBody>
      </p:sp>
      <p:sp>
        <p:nvSpPr>
          <p:cNvPr id="16" name="t467"/>
          <p:cNvSpPr txBox="1"/>
          <p:nvPr/>
        </p:nvSpPr>
        <p:spPr>
          <a:xfrm>
            <a:off x="4937760" y="4818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Recommandations, sous-titres automatiques, détection du piratage</a:t>
            </a:r>
            <a:endParaRPr lang="en-US" sz="1500" dirty="0"/>
          </a:p>
        </p:txBody>
      </p:sp>
      <p:sp>
        <p:nvSpPr>
          <p:cNvPr id="17" name="l468"/>
          <p:cNvSpPr/>
          <p:nvPr/>
        </p:nvSpPr>
        <p:spPr>
          <a:xfrm>
            <a:off x="8366760" y="3794760"/>
            <a:ext cx="3154680" cy="91"/>
          </a:xfrm>
          <a:prstGeom prst="line">
            <a:avLst/>
          </a:prstGeom>
          <a:noFill/>
          <a:ln w="12700">
            <a:solidFill>
              <a:srgbClr val="111318"/>
            </a:solidFill>
            <a:prstDash val="solid"/>
          </a:ln>
        </p:spPr>
      </p:sp>
      <p:sp>
        <p:nvSpPr>
          <p:cNvPr id="18" name="t469"/>
          <p:cNvSpPr txBox="1"/>
          <p:nvPr/>
        </p:nvSpPr>
        <p:spPr>
          <a:xfrm>
            <a:off x="8366760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 Infrastructure</a:t>
            </a:r>
            <a:endParaRPr lang="en-US" sz="1300" dirty="0"/>
          </a:p>
        </p:txBody>
      </p:sp>
      <p:sp>
        <p:nvSpPr>
          <p:cNvPr id="19" name="t470"/>
          <p:cNvSpPr txBox="1"/>
          <p:nvPr/>
        </p:nvSpPr>
        <p:spPr>
          <a:xfrm>
            <a:off x="8366760" y="4297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et edge</a:t>
            </a:r>
            <a:endParaRPr lang="en-US" sz="2100" dirty="0"/>
          </a:p>
        </p:txBody>
      </p:sp>
      <p:sp>
        <p:nvSpPr>
          <p:cNvPr id="20" name="t471"/>
          <p:cNvSpPr txBox="1"/>
          <p:nvPr/>
        </p:nvSpPr>
        <p:spPr>
          <a:xfrm>
            <a:off x="8366760" y="4818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Middleware dans le cloud, contenus rapprochés de l'utilisateur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05  Conclusion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4" name="l472"/>
          <p:cNvSpPr/>
          <p:nvPr/>
        </p:nvSpPr>
        <p:spPr>
          <a:xfrm>
            <a:off x="548640" y="1737360"/>
            <a:ext cx="3520440" cy="91"/>
          </a:xfrm>
          <a:prstGeom prst="line">
            <a:avLst/>
          </a:prstGeom>
          <a:noFill/>
          <a:ln w="12700">
            <a:solidFill>
              <a:srgbClr val="E8541E"/>
            </a:solidFill>
            <a:prstDash val="solid"/>
          </a:ln>
        </p:spPr>
      </p:sp>
      <p:sp>
        <p:nvSpPr>
          <p:cNvPr id="5" name="t473"/>
          <p:cNvSpPr txBox="1"/>
          <p:nvPr/>
        </p:nvSpPr>
        <p:spPr>
          <a:xfrm>
            <a:off x="548640" y="1965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t474"/>
          <p:cNvSpPr txBox="1"/>
          <p:nvPr/>
        </p:nvSpPr>
        <p:spPr>
          <a:xfrm>
            <a:off x="548640" y="3383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TV transmise en IP</a:t>
            </a:r>
            <a:endParaRPr lang="en-US" sz="2400" dirty="0"/>
          </a:p>
        </p:txBody>
      </p:sp>
      <p:sp>
        <p:nvSpPr>
          <p:cNvPr id="7" name="t475"/>
          <p:cNvSpPr txBox="1"/>
          <p:nvPr/>
        </p:nvSpPr>
        <p:spPr>
          <a:xfrm>
            <a:off x="548640" y="43434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Réseau managé, qualité garantie et interactivité.</a:t>
            </a:r>
            <a:endParaRPr lang="en-US" sz="1700" dirty="0"/>
          </a:p>
        </p:txBody>
      </p:sp>
      <p:sp>
        <p:nvSpPr>
          <p:cNvPr id="8" name="l476"/>
          <p:cNvSpPr/>
          <p:nvPr/>
        </p:nvSpPr>
        <p:spPr>
          <a:xfrm>
            <a:off x="4315968" y="1737360"/>
            <a:ext cx="3520440" cy="91"/>
          </a:xfrm>
          <a:prstGeom prst="line">
            <a:avLst/>
          </a:prstGeom>
          <a:noFill/>
          <a:ln w="12700">
            <a:solidFill>
              <a:srgbClr val="3A3E48"/>
            </a:solidFill>
            <a:prstDash val="solid"/>
          </a:ln>
        </p:spPr>
      </p:sp>
      <p:sp>
        <p:nvSpPr>
          <p:cNvPr id="9" name="t477"/>
          <p:cNvSpPr txBox="1"/>
          <p:nvPr/>
        </p:nvSpPr>
        <p:spPr>
          <a:xfrm>
            <a:off x="4315968" y="1965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10" name="t478"/>
          <p:cNvSpPr txBox="1"/>
          <p:nvPr/>
        </p:nvSpPr>
        <p:spPr>
          <a:xfrm>
            <a:off x="4315968" y="3383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SVA font la différence</a:t>
            </a:r>
            <a:endParaRPr lang="en-US" sz="2400" dirty="0"/>
          </a:p>
        </p:txBody>
      </p:sp>
      <p:sp>
        <p:nvSpPr>
          <p:cNvPr id="11" name="t479"/>
          <p:cNvSpPr txBox="1"/>
          <p:nvPr/>
        </p:nvSpPr>
        <p:spPr>
          <a:xfrm>
            <a:off x="4315968" y="43434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VoD, replay, multi-écrans et publicité ciblée fidélisent et rapportent.</a:t>
            </a:r>
            <a:endParaRPr lang="en-US" sz="1700" dirty="0"/>
          </a:p>
        </p:txBody>
      </p:sp>
      <p:sp>
        <p:nvSpPr>
          <p:cNvPr id="12" name="l480"/>
          <p:cNvSpPr/>
          <p:nvPr/>
        </p:nvSpPr>
        <p:spPr>
          <a:xfrm>
            <a:off x="8083296" y="1737360"/>
            <a:ext cx="3520440" cy="91"/>
          </a:xfrm>
          <a:prstGeom prst="line">
            <a:avLst/>
          </a:prstGeom>
          <a:noFill/>
          <a:ln w="12700">
            <a:solidFill>
              <a:srgbClr val="3A3E48"/>
            </a:solidFill>
            <a:prstDash val="solid"/>
          </a:ln>
        </p:spPr>
      </p:sp>
      <p:sp>
        <p:nvSpPr>
          <p:cNvPr id="13" name="t481"/>
          <p:cNvSpPr txBox="1"/>
          <p:nvPr/>
        </p:nvSpPr>
        <p:spPr>
          <a:xfrm>
            <a:off x="8083296" y="1965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14" name="t482"/>
          <p:cNvSpPr txBox="1"/>
          <p:nvPr/>
        </p:nvSpPr>
        <p:spPr>
          <a:xfrm>
            <a:off x="8083296" y="3383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enjeu local fort</a:t>
            </a:r>
            <a:endParaRPr lang="en-US" sz="2400" dirty="0"/>
          </a:p>
        </p:txBody>
      </p:sp>
      <p:sp>
        <p:nvSpPr>
          <p:cNvPr id="15" name="t483"/>
          <p:cNvSpPr txBox="1"/>
          <p:nvPr/>
        </p:nvSpPr>
        <p:spPr>
          <a:xfrm>
            <a:off x="8083296" y="43434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</a:rPr>
              <a:t>La fibre progresse au Sénégal : il faut encourager l'IPTV légale face au piratage.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_p055_484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48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/>
        </p:spPr>
      </p:sp>
      <p:sp>
        <p:nvSpPr>
          <p:cNvPr id="4" name="t486"/>
          <p:cNvSpPr txBox="1"/>
          <p:nvPr/>
        </p:nvSpPr>
        <p:spPr>
          <a:xfrm>
            <a:off x="54864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5400" dirty="0"/>
          </a:p>
        </p:txBody>
      </p:sp>
      <p:sp>
        <p:nvSpPr>
          <p:cNvPr id="5" name="t487"/>
          <p:cNvSpPr txBox="1"/>
          <p:nvPr/>
        </p:nvSpPr>
        <p:spPr>
          <a:xfrm>
            <a:off x="54864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questions ?</a:t>
            </a:r>
            <a:endParaRPr lang="en-US" sz="3000" dirty="0"/>
          </a:p>
        </p:txBody>
      </p:sp>
      <p:sp>
        <p:nvSpPr>
          <p:cNvPr id="6" name="l488"/>
          <p:cNvSpPr/>
          <p:nvPr/>
        </p:nvSpPr>
        <p:spPr>
          <a:xfrm>
            <a:off x="548640" y="4160520"/>
            <a:ext cx="5852160" cy="91"/>
          </a:xfrm>
          <a:prstGeom prst="line">
            <a:avLst/>
          </a:prstGeom>
          <a:noFill/>
          <a:ln w="9525">
            <a:solidFill>
              <a:srgbClr val="B4B8C2"/>
            </a:solidFill>
            <a:prstDash val="solid"/>
          </a:ln>
        </p:spPr>
      </p:sp>
      <p:sp>
        <p:nvSpPr>
          <p:cNvPr id="7" name="t489"/>
          <p:cNvSpPr txBox="1"/>
          <p:nvPr/>
        </p:nvSpPr>
        <p:spPr>
          <a:xfrm>
            <a:off x="54864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Khadim DIOP  ·  Bineta DIENG  ·  Mamadou S. DIALLO  ·  Arona NDAW  ·  Mama Dansira DEMBELÉ</a:t>
            </a:r>
            <a:endParaRPr lang="en-US" sz="1500" dirty="0"/>
          </a:p>
        </p:txBody>
      </p:sp>
      <p:sp>
        <p:nvSpPr>
          <p:cNvPr id="8" name="t490"/>
          <p:cNvSpPr txBox="1"/>
          <p:nvPr/>
        </p:nvSpPr>
        <p:spPr>
          <a:xfrm>
            <a:off x="54864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Module SVA  ·  Sous la direction de M. Hadji FAYE</a:t>
            </a:r>
            <a:endParaRPr lang="en-US" sz="1300" dirty="0"/>
          </a:p>
        </p:txBody>
      </p:sp>
      <p:sp>
        <p:nvSpPr>
          <p:cNvPr id="9" name="t491"/>
          <p:cNvSpPr txBox="1"/>
          <p:nvPr/>
        </p:nvSpPr>
        <p:spPr>
          <a:xfrm>
            <a:off x="54864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Dakar vu de l'île de Gorée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Crédits photos et logos</a:t>
            </a:r>
            <a:endParaRPr lang="en-US" sz="3000" dirty="0"/>
          </a:p>
        </p:txBody>
      </p:sp>
      <p:sp>
        <p:nvSpPr>
          <p:cNvPr id="3" name="t492"/>
          <p:cNvSpPr txBox="1"/>
          <p:nvPr/>
        </p:nvSpPr>
        <p:spPr>
          <a:xfrm>
            <a:off x="548640" y="1371600"/>
            <a:ext cx="5440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TV Setup at home (Unsplash) — Julian O'hayon anckor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Living Room in Henderson House — Noah Wulf (CC BY-SA 4.0)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DSC 8584 Cozy living room with plush gray sofa facing a TV o — PattayaPatrol (CC BY-SA 4.0)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China Telecom IPTV set-top box in Jiangmen, Guangdong — Wahsaw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A view of the server room at The National Archives — The National Archives (UK) (CC BY 3.0)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Erdfunkstelle Raisting 2 — Richard Bartz, Munich aka Makro Freak (CC BY-SA 2.5)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Virginia Tech - data center — Christopher Bowns (CC BY-SA 2.0)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Fujikura optic fiber at Science Museum — Syced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LG smart TV — LG전자 (CC BY 2.0)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Microsoft Bing Maps' datacenter - Flickr - Robert Scoble — Robert Scoble from Half Moon Bay, USA (CC BY 2.0)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Network cables and switch — ProjectManhattan (CC BY-SA 3.0)</a:t>
            </a:r>
            <a:endParaRPr lang="en-US" sz="1000" dirty="0"/>
          </a:p>
        </p:txBody>
      </p:sp>
      <p:sp>
        <p:nvSpPr>
          <p:cNvPr id="4" name="t493"/>
          <p:cNvSpPr txBox="1"/>
          <p:nvPr/>
        </p:nvSpPr>
        <p:spPr>
          <a:xfrm>
            <a:off x="6236208" y="1371600"/>
            <a:ext cx="5440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Freebox v6 -1010633 — weweje (CC BY-SA 4.0)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Freebox pop et Freebox pop player — Exilexi (CC BY 4.0)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Movie theater seats (Unsplash) — Elijah Flores baesik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Vietnam woman on smartphone (Unsplash) — Tony Lam Hoang tonylamhoang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Well lit soccer stadium (Unsplash) — Mario Klassen marioklassen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Dakar Senegal - Looking North (5274051599) — Jeff Attaway from Abuja, Nigeria (CC BY 2.0)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Pointe des Almadies - Senegal — Jeff Attaway (CC BY 2.0)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Downtown with rays of light (Unsplash) — Riku Lu riku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Jimbo (Unsplash) — Clem Onojeghuo clemono2 (CC0)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2"/>
                </a:solidFill>
              </a:rPr>
              <a:t>Dakar skyline da gorè — Vincenzo Fotoguru Iaconianni (CC BY-SA 2.5)</a:t>
            </a:r>
            <a:endParaRPr lang="en-US" sz="1000" dirty="0"/>
          </a:p>
        </p:txBody>
      </p:sp>
      <p:sp>
        <p:nvSpPr>
          <p:cNvPr id="5" name="t494"/>
          <p:cNvSpPr txBox="1"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Photographies : Wikimedia Commons, sous les licences indiquées. Logos : propriété de leurs détenteurs respectifs (Netflix, YouTube, Prime Video, Orange, Free, China Telecom, Sonatel), utilisés à titre d'illustration.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9827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TV Editorial">
  <a:themeElements>
    <a:clrScheme name="IPTV Editorial">
      <a:dk1>
        <a:srgbClr val="111318"/>
      </a:dk1>
      <a:lt1>
        <a:srgbClr val="FFFFFF"/>
      </a:lt1>
      <a:dk2>
        <a:srgbClr val="1C1F26"/>
      </a:dk2>
      <a:lt2>
        <a:srgbClr val="F3F3F1"/>
      </a:lt2>
      <a:accent1>
        <a:srgbClr val="E8541E"/>
      </a:accent1>
      <a:accent2>
        <a:srgbClr val="5C606B"/>
      </a:accent2>
      <a:accent3>
        <a:srgbClr val="B4B8C2"/>
      </a:accent3>
      <a:accent4>
        <a:srgbClr val="D9DAD6"/>
      </a:accent4>
      <a:accent5>
        <a:srgbClr val="3A3E48"/>
      </a:accent5>
      <a:accent6>
        <a:srgbClr val="8A8F99"/>
      </a:accent6>
      <a:hlink>
        <a:srgbClr val="E8541E"/>
      </a:hlink>
      <a:folHlink>
        <a:srgbClr val="5C606B"/>
      </a:folHlink>
    </a:clrScheme>
    <a:fontScheme name="IPTV Editori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IPTV — Services à Valeur Ajoutée</dc:title>
  <dc:subject>PptxGenJS Presentation</dc:subject>
  <dc:creator>Khadim DIOP, Bineta DIENG, Mamadou S. DIALLO, Arona NDAW, Mama Dansira DEMBELÉ</dc:creator>
  <cp:lastModifiedBy>Khadim DIOP, Bineta DIENG, Mamadou S. DIALLO, Arona NDAW, Mama Dansira DEMBELÉ</cp:lastModifiedBy>
  <cp:revision>1</cp:revision>
  <dcterms:created xsi:type="dcterms:W3CDTF">2026-10-20T23:02:45Z</dcterms:created>
  <dcterms:modified xsi:type="dcterms:W3CDTF">2026-10-20T23:02:45Z</dcterms:modified>
</cp:coreProperties>
</file>